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987" r:id="rId1"/>
  </p:sldMasterIdLst>
  <p:notesMasterIdLst>
    <p:notesMasterId r:id="rId57"/>
  </p:notesMasterIdLst>
  <p:handoutMasterIdLst>
    <p:handoutMasterId r:id="rId58"/>
  </p:handoutMasterIdLst>
  <p:sldIdLst>
    <p:sldId id="439" r:id="rId2"/>
    <p:sldId id="405" r:id="rId3"/>
    <p:sldId id="406" r:id="rId4"/>
    <p:sldId id="463" r:id="rId5"/>
    <p:sldId id="464" r:id="rId6"/>
    <p:sldId id="407" r:id="rId7"/>
    <p:sldId id="440" r:id="rId8"/>
    <p:sldId id="408" r:id="rId9"/>
    <p:sldId id="409" r:id="rId10"/>
    <p:sldId id="410" r:id="rId11"/>
    <p:sldId id="411" r:id="rId12"/>
    <p:sldId id="441" r:id="rId13"/>
    <p:sldId id="442" r:id="rId14"/>
    <p:sldId id="412" r:id="rId15"/>
    <p:sldId id="413" r:id="rId16"/>
    <p:sldId id="414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  <p:sldId id="423" r:id="rId26"/>
    <p:sldId id="424" r:id="rId27"/>
    <p:sldId id="425" r:id="rId28"/>
    <p:sldId id="426" r:id="rId29"/>
    <p:sldId id="427" r:id="rId30"/>
    <p:sldId id="428" r:id="rId31"/>
    <p:sldId id="429" r:id="rId32"/>
    <p:sldId id="430" r:id="rId33"/>
    <p:sldId id="431" r:id="rId34"/>
    <p:sldId id="432" r:id="rId35"/>
    <p:sldId id="445" r:id="rId36"/>
    <p:sldId id="446" r:id="rId37"/>
    <p:sldId id="434" r:id="rId38"/>
    <p:sldId id="435" r:id="rId39"/>
    <p:sldId id="436" r:id="rId40"/>
    <p:sldId id="437" r:id="rId41"/>
    <p:sldId id="438" r:id="rId42"/>
    <p:sldId id="447" r:id="rId43"/>
    <p:sldId id="461" r:id="rId44"/>
    <p:sldId id="449" r:id="rId45"/>
    <p:sldId id="450" r:id="rId46"/>
    <p:sldId id="451" r:id="rId47"/>
    <p:sldId id="452" r:id="rId48"/>
    <p:sldId id="453" r:id="rId49"/>
    <p:sldId id="462" r:id="rId50"/>
    <p:sldId id="455" r:id="rId51"/>
    <p:sldId id="465" r:id="rId52"/>
    <p:sldId id="456" r:id="rId53"/>
    <p:sldId id="457" r:id="rId54"/>
    <p:sldId id="458" r:id="rId55"/>
    <p:sldId id="459" r:id="rId56"/>
  </p:sldIdLst>
  <p:sldSz cx="9144000" cy="6858000" type="screen4x3"/>
  <p:notesSz cx="6858000" cy="9144000"/>
  <p:defaultTextStyle>
    <a:defPPr>
      <a:defRPr lang="en-AU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FF00"/>
    <a:srgbClr val="0033CC"/>
    <a:srgbClr val="66CCFF"/>
    <a:srgbClr val="008000"/>
    <a:srgbClr val="CCFFFF"/>
    <a:srgbClr val="0066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656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18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blackWhite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hangingPunct="0">
              <a:defRPr sz="1200" b="1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blackWhite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rtl="0" eaLnBrk="0" hangingPunct="0">
              <a:defRPr sz="1200" b="1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blackWhite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hangingPunct="0">
              <a:defRPr sz="1200" b="1" i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he-IL" altLang="en-US"/>
              <a:t>Bilu.S.Shay</a:t>
            </a:r>
            <a:endParaRPr lang="en-US" alt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blackWhite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0" eaLnBrk="0" hangingPunct="0">
              <a:defRPr sz="1200" b="1" i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5B86CB05-75B0-4FE8-A89B-9BE71654935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155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919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3854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B3794153-B48C-404C-8F42-7EF8A200BCE3}" type="slidenum">
              <a:rPr lang="he-IL"/>
              <a:pPr eaLnBrk="1" hangingPunct="1"/>
              <a:t>4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2875372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B3794153-B48C-404C-8F42-7EF8A200BCE3}" type="slidenum">
              <a:rPr lang="he-IL"/>
              <a:pPr eaLnBrk="1" hangingPunct="1"/>
              <a:t>5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477723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AF8946C5-5148-44F9-817B-A5E7FD2B6474}" type="slidenum">
              <a:rPr lang="he-IL"/>
              <a:pPr eaLnBrk="1" hangingPunct="1"/>
              <a:t>20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105401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69814FFC-E92C-42FB-BA85-E55FB222A3A2}" type="slidenum">
              <a:rPr lang="he-IL"/>
              <a:pPr eaLnBrk="1" hangingPunct="1"/>
              <a:t>21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אחר-כך, נחזור לדוגמא הזו בפירוט רב יותר.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4034413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7A4226AD-B78A-4ED3-B608-E5C961FC6B81}" type="slidenum">
              <a:rPr lang="he-IL"/>
              <a:pPr eaLnBrk="1" hangingPunct="1"/>
              <a:t>22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1016589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E1A6CDB3-7963-447F-A9FE-EC797BCA3D6D}" type="slidenum">
              <a:rPr lang="he-IL"/>
              <a:pPr eaLnBrk="1" hangingPunct="1"/>
              <a:t>23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תהליכים קלאסיים:</a:t>
            </a:r>
            <a:r>
              <a:rPr lang="en-GB" smtClean="0"/>
              <a:t> </a:t>
            </a:r>
            <a:r>
              <a:rPr lang="he-IL" smtClean="0"/>
              <a:t>חוט יחיד בכל תהליך</a:t>
            </a:r>
          </a:p>
          <a:p>
            <a:r>
              <a:rPr lang="he-IL" smtClean="0"/>
              <a:t>לכל חוט יש </a:t>
            </a:r>
            <a:r>
              <a:rPr lang="en-US" smtClean="0"/>
              <a:t>thread control block</a:t>
            </a:r>
            <a:r>
              <a:rPr lang="he-IL" smtClean="0"/>
              <a:t> (</a:t>
            </a:r>
            <a:r>
              <a:rPr lang="en-US" smtClean="0"/>
              <a:t>TCB</a:t>
            </a:r>
            <a:r>
              <a:rPr lang="he-IL" smtClean="0"/>
              <a:t>)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546174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B565DEE7-4677-40F9-B77F-0D96ABBE7423}" type="slidenum">
              <a:rPr lang="he-IL"/>
              <a:pPr eaLnBrk="1" hangingPunct="1"/>
              <a:t>24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355294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069C85C6-96C0-447E-A2C5-FFEDB00ED7E5}" type="slidenum">
              <a:rPr lang="he-IL"/>
              <a:pPr eaLnBrk="1" hangingPunct="1"/>
              <a:t>25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1860112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B3794153-B48C-404C-8F42-7EF8A200BCE3}" type="slidenum">
              <a:rPr lang="he-IL"/>
              <a:pPr eaLnBrk="1" hangingPunct="1"/>
              <a:t>26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925610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EA62F28F-3BF4-4A36-A173-F20127078BE6}" type="slidenum">
              <a:rPr lang="he-IL"/>
              <a:pPr eaLnBrk="1" hangingPunct="1"/>
              <a:t>27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289731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7D35F7F6-C712-4DCD-8B11-F6A6C72FE943}" type="slidenum">
              <a:rPr lang="he-IL"/>
              <a:pPr eaLnBrk="1" hangingPunct="1"/>
              <a:t>28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1864579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E21ED587-3D45-40F9-A7CC-8B0ED5B6B3C7}" type="slidenum">
              <a:rPr lang="he-IL"/>
              <a:pPr eaLnBrk="1" hangingPunct="1"/>
              <a:t>29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1238580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6ED42015-65F3-4535-8CEE-EF78FAD6A091}" type="slidenum">
              <a:rPr lang="he-IL"/>
              <a:pPr eaLnBrk="1" hangingPunct="1"/>
              <a:t>30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אפשר גם לשמור קבוצת חוטים "קבועה", על-מנת לחסוך ייצור / השמדה של חוטים.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4128635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D3119A1B-0860-4016-B07C-720335EDCF7B}" type="slidenum">
              <a:rPr lang="he-IL"/>
              <a:pPr eaLnBrk="1" hangingPunct="1"/>
              <a:t>31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החלפת הקשר בין חוטים של אותו תהליך מהירה יותר</a:t>
            </a:r>
          </a:p>
          <a:p>
            <a:r>
              <a:rPr lang="he-IL" smtClean="0"/>
              <a:t>ניצול משאבים: חוט אחד נחסם, חוטים אחרים של אותו תהליך ממשיכים לרוץ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6023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A85CFCD3-920B-4129-B6E4-52BF0A124AC7}" type="slidenum">
              <a:rPr lang="he-IL"/>
              <a:pPr eaLnBrk="1" hangingPunct="1"/>
              <a:t>32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(לא מוכרים ע"י מערכת ההפעלה)</a:t>
            </a:r>
          </a:p>
          <a:p>
            <a:r>
              <a:rPr lang="he-IL" smtClean="0"/>
              <a:t>בד"כ מדיניות הזימון בין חוטי משתמש מבוססת על שיתוף פעולה (</a:t>
            </a:r>
            <a:r>
              <a:rPr lang="en-US" smtClean="0"/>
              <a:t>non-preemptive</a:t>
            </a:r>
            <a:r>
              <a:rPr lang="he-IL" smtClean="0"/>
              <a:t>)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934918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3D3D1388-603F-4220-B31C-A2881B76F91C}" type="slidenum">
              <a:rPr lang="he-IL"/>
              <a:pPr eaLnBrk="1" hangingPunct="1"/>
              <a:t>33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r>
              <a:rPr lang="he-IL" smtClean="0"/>
              <a:t>תיאום בין חוטים ותהליכים הוא הנושא המרכזי הבא בקורס!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295595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0D30818A-71E9-42D2-A6F4-2E231BD86B03}" type="slidenum">
              <a:rPr lang="he-IL"/>
              <a:pPr eaLnBrk="1" hangingPunct="1"/>
              <a:t>34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4122724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371ED6ED-B47C-4078-B95D-646EBE83C392}" type="slidenum">
              <a:rPr lang="he-IL"/>
              <a:pPr eaLnBrk="1" hangingPunct="1"/>
              <a:t>35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757613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371ED6ED-B47C-4078-B95D-646EBE83C392}" type="slidenum">
              <a:rPr lang="he-IL"/>
              <a:pPr eaLnBrk="1" hangingPunct="1"/>
              <a:t>36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721331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909D3550-AD48-444D-8810-38E1B13065AE}" type="slidenum">
              <a:rPr lang="he-IL"/>
              <a:pPr eaLnBrk="1" hangingPunct="1"/>
              <a:t>37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410372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581CE90F-F0C5-43C4-A609-10A05D8F65CE}" type="slidenum">
              <a:rPr lang="he-IL"/>
              <a:pPr eaLnBrk="1" hangingPunct="1"/>
              <a:t>38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22551103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371ED6ED-B47C-4078-B95D-646EBE83C392}" type="slidenum">
              <a:rPr lang="he-IL"/>
              <a:pPr eaLnBrk="1" hangingPunct="1"/>
              <a:t>41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36428269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559BC771-4E09-4CCD-A825-C7B945935F66}" type="slidenum">
              <a:rPr lang="he-IL" smtClean="0"/>
              <a:pPr/>
              <a:t>42</a:t>
            </a:fld>
            <a:endParaRPr lang="en-US" smtClean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72470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371ED6ED-B47C-4078-B95D-646EBE83C392}" type="slidenum">
              <a:rPr lang="he-IL"/>
              <a:pPr eaLnBrk="1" hangingPunct="1"/>
              <a:t>43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9350" y="684213"/>
            <a:ext cx="4576763" cy="3432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8" tIns="42204" rIns="84408" bIns="42204"/>
          <a:lstStyle/>
          <a:p>
            <a:endParaRPr lang="he-IL" smtClean="0"/>
          </a:p>
        </p:txBody>
      </p:sp>
    </p:spTree>
    <p:extLst>
      <p:ext uri="{BB962C8B-B14F-4D97-AF65-F5344CB8AC3E}">
        <p14:creationId xmlns:p14="http://schemas.microsoft.com/office/powerpoint/2010/main" val="2452034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B95FAC0F-C35C-4577-A8E2-E22C3EC79208}" type="slidenum">
              <a:rPr lang="he-IL" smtClean="0"/>
              <a:pPr/>
              <a:t>44</a:t>
            </a:fld>
            <a:endParaRPr lang="en-US" smtClean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287228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5959F67C-6E54-4EF8-A978-5F1B0C2ED655}" type="slidenum">
              <a:rPr lang="he-IL" smtClean="0"/>
              <a:pPr/>
              <a:t>45</a:t>
            </a:fld>
            <a:endParaRPr lang="en-US" smtClean="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16426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6C579547-EDAE-487A-8742-144B39E48F37}" type="slidenum">
              <a:rPr lang="he-IL" smtClean="0"/>
              <a:pPr/>
              <a:t>46</a:t>
            </a:fld>
            <a:endParaRPr lang="en-US" smtClean="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84600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861EE2E2-DC00-41C2-B651-CFDF6EE68EB3}" type="slidenum">
              <a:rPr lang="he-IL" smtClean="0"/>
              <a:pPr/>
              <a:t>47</a:t>
            </a:fld>
            <a:endParaRPr lang="en-US" smtClean="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Run-time system: </a:t>
            </a:r>
            <a:r>
              <a:rPr lang="en-US" sz="1200" dirty="0" smtClean="0"/>
              <a:t>scheduler, context-switch, etc.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70142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A0DCEF9C-54B7-465E-B382-BB142E7654C7}" type="slidenum">
              <a:rPr lang="he-IL" smtClean="0"/>
              <a:pPr/>
              <a:t>48</a:t>
            </a:fld>
            <a:endParaRPr lang="en-US" smtClean="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82150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A0DCEF9C-54B7-465E-B382-BB142E7654C7}" type="slidenum">
              <a:rPr lang="he-IL" smtClean="0"/>
              <a:pPr/>
              <a:t>49</a:t>
            </a:fld>
            <a:endParaRPr lang="en-US" smtClean="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163260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5848ABA6-9D6D-487D-954D-4D9DBE20B81C}" type="slidenum">
              <a:rPr lang="he-IL" smtClean="0"/>
              <a:pPr/>
              <a:t>50</a:t>
            </a:fld>
            <a:endParaRPr lang="en-US" smtClean="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328305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50202F33-4569-4703-A252-DD96AAFB788E}" type="slidenum">
              <a:rPr lang="he-IL" smtClean="0"/>
              <a:pPr/>
              <a:t>51</a:t>
            </a:fld>
            <a:endParaRPr lang="en-US" smtClean="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214447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50202F33-4569-4703-A252-DD96AAFB788E}" type="slidenum">
              <a:rPr lang="he-IL" smtClean="0"/>
              <a:pPr/>
              <a:t>52</a:t>
            </a:fld>
            <a:endParaRPr lang="en-US" smtClean="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810039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3F2901C5-5570-4144-9E61-EF50523754E0}" type="slidenum">
              <a:rPr lang="he-IL" smtClean="0"/>
              <a:pPr/>
              <a:t>53</a:t>
            </a:fld>
            <a:endParaRPr lang="en-US" smtClean="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3869"/>
            <a:ext cx="5487022" cy="41141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214846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15D175BF-7902-4216-9BA3-1C6B1A9E22D3}" type="slidenum">
              <a:rPr lang="he-IL" smtClean="0"/>
              <a:pPr/>
              <a:t>54</a:t>
            </a:fld>
            <a:endParaRPr lang="en-US" smtClean="0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864326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A762A8E9-C111-4996-945F-3708878979F3}" type="slidenum">
              <a:rPr lang="he-IL" smtClean="0"/>
              <a:pPr/>
              <a:t>55</a:t>
            </a:fld>
            <a:endParaRPr lang="en-US" smtClean="0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28563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7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/>
          <a:lstStyle>
            <a:lvl1pPr marL="0" algn="r">
              <a:defRPr sz="480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F74160A0-B61A-49C9-A6B3-53F02FCAABB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4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D777CEF-8271-4124-B7B5-C9CCA974500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5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1000125" y="3267075"/>
            <a:ext cx="74072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D0BD9BFD-1A90-4D5A-9914-AC7177E6830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5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87AC780-98F2-48EA-A2FE-71AF308FF9D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1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/>
        </p:nvSpPr>
        <p:spPr>
          <a:xfrm>
            <a:off x="617538" y="2165350"/>
            <a:ext cx="3748087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8"/>
          <p:cNvSpPr/>
          <p:nvPr/>
        </p:nvSpPr>
        <p:spPr>
          <a:xfrm>
            <a:off x="4800600" y="2165350"/>
            <a:ext cx="37496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0109682-2D9A-4217-B5D7-4FD887323D3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7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931F53B-107B-4EBB-86CF-50A4B147495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D64FC-2222-449C-8EC1-69CB9927C76E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5057775" y="1057275"/>
            <a:ext cx="3748088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7A544F49-5399-43B1-9A70-033BD38EF88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765CC38E-28F4-4A9B-91EC-AC977C2EB80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76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D4D53-3859-45D4-B933-B9AFA4F1691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2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8386E-900C-4E30-934C-FD4DF7FF63A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77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1638" cy="274638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1963" cy="274638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9175" y="6515100"/>
            <a:ext cx="463550" cy="27305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B24EEA55-D2A2-4AC8-97C6-1123F15C9F9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462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212" r:id="rId1"/>
    <p:sldLayoutId id="2147484213" r:id="rId2"/>
    <p:sldLayoutId id="2147484214" r:id="rId3"/>
    <p:sldLayoutId id="2147484215" r:id="rId4"/>
    <p:sldLayoutId id="2147484216" r:id="rId5"/>
    <p:sldLayoutId id="2147484217" r:id="rId6"/>
    <p:sldLayoutId id="2147484209" r:id="rId7"/>
    <p:sldLayoutId id="2147484218" r:id="rId8"/>
    <p:sldLayoutId id="2147484219" r:id="rId9"/>
    <p:sldLayoutId id="2147484210" r:id="rId10"/>
    <p:sldLayoutId id="2147484211" r:id="rId11"/>
  </p:sldLayoutIdLst>
  <p:hf sldNum="0" hdr="0"/>
  <p:txStyles>
    <p:titleStyle>
      <a:lvl1pPr marL="53975" indent="-53975" algn="r" rtl="1" eaLnBrk="0" fontAlgn="base" hangingPunct="0">
        <a:spcBef>
          <a:spcPct val="0"/>
        </a:spcBef>
        <a:spcAft>
          <a:spcPct val="0"/>
        </a:spcAft>
        <a:defRPr sz="4600" kern="1200">
          <a:solidFill>
            <a:srgbClr val="E7EACB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2pPr>
      <a:lvl3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3pPr>
      <a:lvl4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4pPr>
      <a:lvl5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5pPr>
      <a:lvl6pPr marL="5111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6pPr>
      <a:lvl7pPr marL="9683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7pPr>
      <a:lvl8pPr marL="14255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8pPr>
      <a:lvl9pPr marL="18827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9pPr>
      <a:extLst/>
    </p:titleStyle>
    <p:bodyStyle>
      <a:lvl1pPr marL="292100" indent="-292100" algn="r" rtl="1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r" rtl="1" eaLnBrk="0" fontAlgn="base" hangingPunct="0">
        <a:spcBef>
          <a:spcPts val="400"/>
        </a:spcBef>
        <a:spcAft>
          <a:spcPct val="0"/>
        </a:spcAft>
        <a:buClr>
          <a:schemeClr val="accent2"/>
        </a:buClr>
        <a:buSzPct val="9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751855"/>
          </a:xfrm>
        </p:spPr>
        <p:txBody>
          <a:bodyPr>
            <a:normAutofit/>
          </a:bodyPr>
          <a:lstStyle/>
          <a:p>
            <a:pPr algn="ctr"/>
            <a:r>
              <a:rPr lang="he-IL" b="1" dirty="0" smtClean="0">
                <a:solidFill>
                  <a:srgbClr val="FFFF00"/>
                </a:solidFill>
              </a:rPr>
              <a:t>פרק 3 -תהליכים קלי משקל</a:t>
            </a:r>
            <a:br>
              <a:rPr lang="he-IL" b="1" dirty="0" smtClean="0">
                <a:solidFill>
                  <a:srgbClr val="FFFF00"/>
                </a:solidFill>
              </a:rPr>
            </a:br>
            <a:r>
              <a:rPr lang="en-US" b="1" dirty="0" smtClean="0">
                <a:solidFill>
                  <a:srgbClr val="FFFF00"/>
                </a:solidFill>
              </a:rPr>
              <a:t>Threads</a:t>
            </a:r>
            <a:endParaRPr lang="he-IL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18864" y="2791470"/>
            <a:ext cx="8517632" cy="3877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246888" bIns="45720" num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None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מהו תהליך קל משקל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מקביליות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היענות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תקשורת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השוואה בין חוטים לתהליכים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חוטי משתמש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חוטי מערכת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he-IL" b="1" dirty="0" smtClean="0"/>
              <a:t>מימוש באמצעות חוטים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he-IL" b="1" dirty="0" smtClean="0"/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b="1" dirty="0"/>
          </a:p>
        </p:txBody>
      </p:sp>
      <p:pic>
        <p:nvPicPr>
          <p:cNvPr id="1026" name="Picture 2" descr="תוצאת תמונה עבור ‪threads‬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56" y="2910673"/>
            <a:ext cx="3552329" cy="37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88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0256"/>
            <a:ext cx="8229600" cy="1396536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he-IL" sz="4800" b="1" dirty="0" smtClean="0">
                <a:solidFill>
                  <a:srgbClr val="FFFF00"/>
                </a:solidFill>
              </a:rPr>
              <a:t>תהליכים רגילים </a:t>
            </a:r>
            <a:br>
              <a:rPr lang="he-IL" altLang="he-IL" sz="4800" b="1" dirty="0" smtClean="0">
                <a:solidFill>
                  <a:srgbClr val="FFFF00"/>
                </a:solidFill>
              </a:rPr>
            </a:br>
            <a:r>
              <a:rPr lang="he-IL" altLang="he-IL" sz="4800" b="1" dirty="0" smtClean="0">
                <a:solidFill>
                  <a:srgbClr val="FFFF00"/>
                </a:solidFill>
              </a:rPr>
              <a:t>ותהליכים קלי משקל</a:t>
            </a:r>
            <a:endParaRPr lang="en-GB" altLang="he-IL" sz="4800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305800" cy="4412704"/>
          </a:xfrm>
        </p:spPr>
        <p:txBody>
          <a:bodyPr/>
          <a:lstStyle/>
          <a:p>
            <a:pPr algn="just" eaLnBrk="1" hangingPunct="1"/>
            <a:r>
              <a:rPr lang="he-IL" altLang="en-GB" b="1" dirty="0" smtClean="0"/>
              <a:t> תהליכים רגילים ותהליכים קלי משקל הם בעלי תפיסה ויחסי קירבה דומים מאד</a:t>
            </a:r>
            <a:endParaRPr lang="en-US" altLang="en-GB" b="1" dirty="0" smtClean="0"/>
          </a:p>
          <a:p>
            <a:pPr eaLnBrk="1" hangingPunct="1"/>
            <a:r>
              <a:rPr lang="he-IL" altLang="en-GB" b="1" dirty="0" smtClean="0"/>
              <a:t> תהליך מוגדר כישות הקיימת רק ברמת הגרעין </a:t>
            </a:r>
          </a:p>
          <a:p>
            <a:pPr marL="0" indent="0" algn="ctr" eaLnBrk="1" hangingPunct="1">
              <a:buNone/>
            </a:pPr>
            <a:r>
              <a:rPr lang="en-US" altLang="en-GB" sz="4000" b="1" dirty="0" smtClean="0"/>
              <a:t>(</a:t>
            </a:r>
            <a:r>
              <a:rPr lang="en-GB" altLang="he-IL" sz="4000" b="1" dirty="0" smtClean="0">
                <a:solidFill>
                  <a:srgbClr val="FFFF00"/>
                </a:solidFill>
              </a:rPr>
              <a:t>Kernel-Level Entity</a:t>
            </a:r>
            <a:r>
              <a:rPr lang="en-GB" altLang="he-IL" sz="4000" b="1" dirty="0" smtClean="0"/>
              <a:t>)</a:t>
            </a:r>
          </a:p>
          <a:p>
            <a:pPr algn="just" eaLnBrk="1" hangingPunct="1"/>
            <a:r>
              <a:rPr lang="he-IL" altLang="en-GB" b="1" dirty="0" smtClean="0"/>
              <a:t> ניתן להגיע למבנה התהליך רק דרך קריאות /פקודות מערכת ההפעלה</a:t>
            </a:r>
            <a:endParaRPr lang="en-US" altLang="en-GB" b="1" dirty="0" smtClean="0"/>
          </a:p>
        </p:txBody>
      </p:sp>
      <p:sp>
        <p:nvSpPr>
          <p:cNvPr id="14438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737320"/>
            <a:ext cx="8176964" cy="4572000"/>
          </a:xfrm>
        </p:spPr>
        <p:txBody>
          <a:bodyPr/>
          <a:lstStyle/>
          <a:p>
            <a:pPr algn="just" eaLnBrk="1" hangingPunct="1"/>
            <a:r>
              <a:rPr lang="he-IL" altLang="en-GB" b="1" dirty="0" smtClean="0"/>
              <a:t> תהליך קל משקל מוגדר כישות ברמת המשתמש</a:t>
            </a:r>
            <a:endParaRPr lang="en-US" altLang="en-GB" b="1" dirty="0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GB" sz="4000" b="1" dirty="0" smtClean="0"/>
              <a:t>    (</a:t>
            </a:r>
            <a:r>
              <a:rPr lang="en-US" altLang="he-IL" sz="4000" b="1" dirty="0" smtClean="0">
                <a:solidFill>
                  <a:srgbClr val="FFFF00"/>
                </a:solidFill>
              </a:rPr>
              <a:t>User-Level Entity</a:t>
            </a:r>
            <a:r>
              <a:rPr lang="en-US" altLang="he-IL" sz="4000" b="1" dirty="0" smtClean="0"/>
              <a:t>)</a:t>
            </a:r>
            <a:r>
              <a:rPr lang="he-IL" altLang="he-IL" sz="4000" b="1" dirty="0" smtClean="0"/>
              <a:t> </a:t>
            </a:r>
            <a:endParaRPr lang="en-US" altLang="he-IL" sz="4000" b="1" dirty="0" smtClean="0"/>
          </a:p>
          <a:p>
            <a:pPr algn="just" eaLnBrk="1" hangingPunct="1"/>
            <a:r>
              <a:rPr lang="he-IL" altLang="he-IL" b="1" dirty="0" smtClean="0"/>
              <a:t> </a:t>
            </a:r>
            <a:r>
              <a:rPr lang="he-IL" altLang="en-GB" b="1" dirty="0" smtClean="0"/>
              <a:t>מבנה תהליך קל משקל קיים בתוך המקום החופשי שהוגדר עבור המשתמש בלבד</a:t>
            </a:r>
            <a:endParaRPr lang="en-US" altLang="en-GB" b="1" dirty="0" smtClean="0"/>
          </a:p>
          <a:p>
            <a:pPr algn="just" eaLnBrk="1" hangingPunct="1"/>
            <a:r>
              <a:rPr lang="he-IL" altLang="en-GB" b="1" dirty="0" smtClean="0"/>
              <a:t> ניתן להגיע לתהליך קל משקל באופן ישיר דרך ספריית הקריאות של התהליכים קלי המשקל, אשר הם פונקציות ברמת המשתמש, תהליכים קלי משקל אינם משתמשים בקריאות/פקודות מערכת ההפעלה.</a:t>
            </a:r>
            <a:endParaRPr lang="en-GB" altLang="he-IL" b="1" dirty="0" smtClean="0"/>
          </a:p>
        </p:txBody>
      </p:sp>
      <p:sp>
        <p:nvSpPr>
          <p:cNvPr id="145413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0256"/>
            <a:ext cx="8229600" cy="1396536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he-IL" sz="4800" b="1" dirty="0" smtClean="0">
                <a:solidFill>
                  <a:srgbClr val="FFFF00"/>
                </a:solidFill>
              </a:rPr>
              <a:t>תהליכים רגילים </a:t>
            </a:r>
            <a:br>
              <a:rPr lang="he-IL" altLang="he-IL" sz="4800" b="1" dirty="0" smtClean="0">
                <a:solidFill>
                  <a:srgbClr val="FFFF00"/>
                </a:solidFill>
              </a:rPr>
            </a:br>
            <a:r>
              <a:rPr lang="he-IL" altLang="he-IL" sz="4800" b="1" dirty="0" smtClean="0">
                <a:solidFill>
                  <a:srgbClr val="FFFF00"/>
                </a:solidFill>
              </a:rPr>
              <a:t>ותהליכים קלי משקל</a:t>
            </a:r>
            <a:endParaRPr lang="en-GB" altLang="he-IL" sz="4800" dirty="0" smtClean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rtl="0">
              <a:buFont typeface="Wingdings" pitchFamily="2" charset="2"/>
              <a:buNone/>
            </a:pPr>
            <a:r>
              <a:rPr lang="en-US" b="1" dirty="0" smtClean="0"/>
              <a:t>	Thread </a:t>
            </a:r>
            <a:r>
              <a:rPr lang="en-US" b="1" dirty="0"/>
              <a:t>Control Block (TCB) is a data structure in the operating system kernel which contains thread-specific information needed to manage it. The TCB is "the manifestation of a thread in an operating system". </a:t>
            </a:r>
            <a:endParaRPr lang="en-US" b="1" dirty="0" smtClean="0"/>
          </a:p>
          <a:p>
            <a:pPr algn="just" rtl="0">
              <a:buFont typeface="Wingdings" pitchFamily="2" charset="2"/>
              <a:buNone/>
            </a:pPr>
            <a:r>
              <a:rPr lang="en-US" b="1" dirty="0"/>
              <a:t>	</a:t>
            </a:r>
            <a:r>
              <a:rPr lang="en-US" b="1" dirty="0" smtClean="0"/>
              <a:t>An </a:t>
            </a:r>
            <a:r>
              <a:rPr lang="en-US" b="1" dirty="0"/>
              <a:t>example of information contained within a TCB is: Stack pointer: Points to thread's stack in the process.</a:t>
            </a:r>
            <a:r>
              <a:rPr lang="en-US" b="1" dirty="0" smtClean="0"/>
              <a:t>	</a:t>
            </a:r>
          </a:p>
        </p:txBody>
      </p:sp>
      <p:sp>
        <p:nvSpPr>
          <p:cNvPr id="105472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400" b="1" dirty="0" smtClean="0">
                <a:solidFill>
                  <a:srgbClr val="FFFF00"/>
                </a:solidFill>
              </a:rPr>
              <a:t>טבלת החוטים קלי המשקל</a:t>
            </a:r>
            <a:endParaRPr lang="en-GB" sz="4400" b="1" dirty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938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rtl="0">
              <a:buFont typeface="Wingdings" pitchFamily="2" charset="2"/>
              <a:buNone/>
            </a:pPr>
            <a:r>
              <a:rPr lang="en-US" b="1" dirty="0" smtClean="0"/>
              <a:t>	Process </a:t>
            </a:r>
            <a:r>
              <a:rPr lang="en-US" b="1" dirty="0"/>
              <a:t>Control Block (PCB, also called Task Controlling Block, process table, </a:t>
            </a:r>
            <a:r>
              <a:rPr lang="en-US" b="1" dirty="0" err="1" smtClean="0"/>
              <a:t>TaskStruct</a:t>
            </a:r>
            <a:r>
              <a:rPr lang="en-US" b="1" dirty="0"/>
              <a:t>, or </a:t>
            </a:r>
            <a:r>
              <a:rPr lang="en-US" b="1" dirty="0" smtClean="0"/>
              <a:t>Switch frame</a:t>
            </a:r>
            <a:r>
              <a:rPr lang="en-US" b="1" dirty="0"/>
              <a:t>) is a data structure in the operating system kernel containing the information needed to manage a particular process. </a:t>
            </a:r>
            <a:endParaRPr lang="en-US" b="1" dirty="0" smtClean="0"/>
          </a:p>
          <a:p>
            <a:pPr algn="just" rtl="0">
              <a:buFont typeface="Wingdings" pitchFamily="2" charset="2"/>
              <a:buNone/>
            </a:pPr>
            <a:r>
              <a:rPr lang="en-US" b="1" dirty="0"/>
              <a:t>	</a:t>
            </a:r>
            <a:r>
              <a:rPr lang="en-US" b="1" dirty="0" smtClean="0"/>
              <a:t>The </a:t>
            </a:r>
            <a:r>
              <a:rPr lang="en-US" b="1" dirty="0"/>
              <a:t>PCB is "the manifestation of a process in an operating system".</a:t>
            </a:r>
            <a:r>
              <a:rPr lang="en-US" b="1" dirty="0" smtClean="0"/>
              <a:t>	</a:t>
            </a:r>
          </a:p>
        </p:txBody>
      </p:sp>
      <p:sp>
        <p:nvSpPr>
          <p:cNvPr id="105472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400" b="1" dirty="0" smtClean="0">
                <a:solidFill>
                  <a:srgbClr val="FFFF00"/>
                </a:solidFill>
              </a:rPr>
              <a:t>טבלת התהליכים</a:t>
            </a:r>
            <a:endParaRPr lang="en-GB" sz="4400" b="1" dirty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44008" y="2132856"/>
            <a:ext cx="2808312" cy="14401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482932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381000"/>
            <a:ext cx="8191528" cy="1143000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GB" sz="4800" b="1" dirty="0" smtClean="0">
                <a:solidFill>
                  <a:srgbClr val="FFFF00"/>
                </a:solidFill>
              </a:rPr>
              <a:t>מבנה הנתונים בתהליכים</a:t>
            </a:r>
            <a:br>
              <a:rPr lang="he-IL" altLang="en-GB" sz="4800" b="1" dirty="0" smtClean="0">
                <a:solidFill>
                  <a:srgbClr val="FFFF00"/>
                </a:solidFill>
              </a:rPr>
            </a:br>
            <a:r>
              <a:rPr lang="he-IL" altLang="en-GB" sz="4800" b="1" dirty="0" smtClean="0">
                <a:solidFill>
                  <a:srgbClr val="FFFF00"/>
                </a:solidFill>
              </a:rPr>
              <a:t>ובתהליכים קלי משקל</a:t>
            </a:r>
            <a:endParaRPr lang="en-US" altLang="en-GB" sz="4800" b="1" dirty="0" smtClean="0">
              <a:solidFill>
                <a:srgbClr val="FFFF00"/>
              </a:solidFill>
            </a:endParaRPr>
          </a:p>
        </p:txBody>
      </p:sp>
      <p:sp>
        <p:nvSpPr>
          <p:cNvPr id="146440" name="Footer Placeholder 2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3318" name="Line 3"/>
          <p:cNvSpPr>
            <a:spLocks noChangeShapeType="1"/>
          </p:cNvSpPr>
          <p:nvPr/>
        </p:nvSpPr>
        <p:spPr bwMode="auto">
          <a:xfrm>
            <a:off x="762000" y="3786188"/>
            <a:ext cx="7772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6096000" y="3902075"/>
            <a:ext cx="2743200" cy="13731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e-IL" altLang="en-GB" sz="2800" b="1">
                <a:solidFill>
                  <a:schemeClr val="bg1"/>
                </a:solidFill>
                <a:latin typeface="Times New Roman" pitchFamily="18" charset="0"/>
              </a:rPr>
              <a:t>המקום המוגדר עבור גרעין מערכת ההפעלה</a:t>
            </a:r>
            <a:endParaRPr lang="en-US" altLang="en-GB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320" name="Text Box 5"/>
          <p:cNvSpPr txBox="1">
            <a:spLocks noChangeArrowheads="1"/>
          </p:cNvSpPr>
          <p:nvPr/>
        </p:nvSpPr>
        <p:spPr bwMode="auto">
          <a:xfrm>
            <a:off x="6000750" y="1571625"/>
            <a:ext cx="2847975" cy="9540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he-IL" altLang="en-GB" sz="2800" b="1">
                <a:solidFill>
                  <a:schemeClr val="bg1"/>
                </a:solidFill>
                <a:latin typeface="Times New Roman" pitchFamily="18" charset="0"/>
              </a:rPr>
              <a:t>המקום המוגדר עבור המשתמש</a:t>
            </a:r>
            <a:endParaRPr lang="en-US" altLang="en-GB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grpSp>
        <p:nvGrpSpPr>
          <p:cNvPr id="13321" name="Group 6"/>
          <p:cNvGrpSpPr>
            <a:grpSpLocks/>
          </p:cNvGrpSpPr>
          <p:nvPr/>
        </p:nvGrpSpPr>
        <p:grpSpPr bwMode="auto">
          <a:xfrm>
            <a:off x="1000125" y="1752600"/>
            <a:ext cx="5629275" cy="4191000"/>
            <a:chOff x="484" y="1344"/>
            <a:chExt cx="3692" cy="2208"/>
          </a:xfrm>
        </p:grpSpPr>
        <p:grpSp>
          <p:nvGrpSpPr>
            <p:cNvPr id="13322" name="Group 7"/>
            <p:cNvGrpSpPr>
              <a:grpSpLocks/>
            </p:cNvGrpSpPr>
            <p:nvPr/>
          </p:nvGrpSpPr>
          <p:grpSpPr bwMode="auto">
            <a:xfrm>
              <a:off x="484" y="2016"/>
              <a:ext cx="3692" cy="1536"/>
              <a:chOff x="484" y="1632"/>
              <a:chExt cx="3692" cy="1344"/>
            </a:xfrm>
          </p:grpSpPr>
          <p:sp>
            <p:nvSpPr>
              <p:cNvPr id="13329" name="Rectangle 8"/>
              <p:cNvSpPr>
                <a:spLocks noChangeArrowheads="1"/>
              </p:cNvSpPr>
              <p:nvPr/>
            </p:nvSpPr>
            <p:spPr bwMode="auto">
              <a:xfrm>
                <a:off x="484" y="2592"/>
                <a:ext cx="1200" cy="384"/>
              </a:xfrm>
              <a:prstGeom prst="rect">
                <a:avLst/>
              </a:prstGeom>
              <a:solidFill>
                <a:srgbClr val="CCFFFF"/>
              </a:solidFill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GB" altLang="he-IL" sz="2400" b="1">
                    <a:solidFill>
                      <a:schemeClr val="bg1"/>
                    </a:solidFill>
                    <a:latin typeface="Times New Roman" pitchFamily="18" charset="0"/>
                  </a:rPr>
                  <a:t>PCB</a:t>
                </a:r>
              </a:p>
            </p:txBody>
          </p:sp>
          <p:grpSp>
            <p:nvGrpSpPr>
              <p:cNvPr id="13330" name="Group 9"/>
              <p:cNvGrpSpPr>
                <a:grpSpLocks/>
              </p:cNvGrpSpPr>
              <p:nvPr/>
            </p:nvGrpSpPr>
            <p:grpSpPr bwMode="auto">
              <a:xfrm>
                <a:off x="532" y="1632"/>
                <a:ext cx="3644" cy="960"/>
                <a:chOff x="532" y="1296"/>
                <a:chExt cx="3644" cy="1296"/>
              </a:xfrm>
            </p:grpSpPr>
            <p:sp>
              <p:nvSpPr>
                <p:cNvPr id="13331" name="Rectangle 10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1200" cy="192"/>
                </a:xfrm>
                <a:prstGeom prst="rect">
                  <a:avLst/>
                </a:prstGeom>
                <a:solidFill>
                  <a:srgbClr val="CCFFFF"/>
                </a:solidFill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rtl="0" eaLnBrk="0" hangingPunct="0"/>
                  <a:r>
                    <a:rPr lang="en-GB" altLang="he-IL" sz="2400" b="1">
                      <a:solidFill>
                        <a:schemeClr val="bg1"/>
                      </a:solidFill>
                      <a:latin typeface="Times New Roman" pitchFamily="18" charset="0"/>
                    </a:rPr>
                    <a:t>Code</a:t>
                  </a:r>
                </a:p>
              </p:txBody>
            </p:sp>
            <p:sp>
              <p:nvSpPr>
                <p:cNvPr id="13332" name="Rectangle 11"/>
                <p:cNvSpPr>
                  <a:spLocks noChangeArrowheads="1"/>
                </p:cNvSpPr>
                <p:nvPr/>
              </p:nvSpPr>
              <p:spPr bwMode="auto">
                <a:xfrm>
                  <a:off x="1872" y="1296"/>
                  <a:ext cx="1152" cy="192"/>
                </a:xfrm>
                <a:prstGeom prst="rect">
                  <a:avLst/>
                </a:prstGeom>
                <a:solidFill>
                  <a:srgbClr val="CCFFFF"/>
                </a:solidFill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rtl="0" eaLnBrk="0" hangingPunct="0"/>
                  <a:r>
                    <a:rPr lang="en-GB" altLang="he-IL" sz="2400" b="1">
                      <a:solidFill>
                        <a:schemeClr val="bg1"/>
                      </a:solidFill>
                      <a:latin typeface="Times New Roman" pitchFamily="18" charset="0"/>
                    </a:rPr>
                    <a:t>Data</a:t>
                  </a:r>
                  <a:endParaRPr lang="en-GB" altLang="he-IL" sz="240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3333" name="Rectangle 12"/>
                <p:cNvSpPr>
                  <a:spLocks noChangeArrowheads="1"/>
                </p:cNvSpPr>
                <p:nvPr/>
              </p:nvSpPr>
              <p:spPr bwMode="auto">
                <a:xfrm>
                  <a:off x="3120" y="1296"/>
                  <a:ext cx="1056" cy="192"/>
                </a:xfrm>
                <a:prstGeom prst="rect">
                  <a:avLst/>
                </a:prstGeom>
                <a:solidFill>
                  <a:srgbClr val="CCFFFF"/>
                </a:solidFill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rtl="0" eaLnBrk="0" hangingPunct="0"/>
                  <a:r>
                    <a:rPr lang="en-GB" altLang="he-IL" sz="2400" b="1">
                      <a:solidFill>
                        <a:schemeClr val="bg1"/>
                      </a:solidFill>
                      <a:latin typeface="Times New Roman" pitchFamily="18" charset="0"/>
                    </a:rPr>
                    <a:t>Stack</a:t>
                  </a:r>
                </a:p>
              </p:txBody>
            </p:sp>
            <p:sp>
              <p:nvSpPr>
                <p:cNvPr id="1333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809" y="1488"/>
                  <a:ext cx="0" cy="110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13335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953" y="1488"/>
                  <a:ext cx="1248" cy="110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13336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200" y="1488"/>
                  <a:ext cx="2496" cy="110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</p:grpSp>
        <p:sp>
          <p:nvSpPr>
            <p:cNvPr id="13323" name="Rectangle 16"/>
            <p:cNvSpPr>
              <a:spLocks noChangeArrowheads="1"/>
            </p:cNvSpPr>
            <p:nvPr/>
          </p:nvSpPr>
          <p:spPr bwMode="auto">
            <a:xfrm>
              <a:off x="580" y="1344"/>
              <a:ext cx="624" cy="288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GB" altLang="he-IL" sz="2400" b="1">
                  <a:solidFill>
                    <a:schemeClr val="bg1"/>
                  </a:solidFill>
                  <a:latin typeface="Times New Roman" pitchFamily="18" charset="0"/>
                </a:rPr>
                <a:t>TCB1</a:t>
              </a:r>
            </a:p>
          </p:txBody>
        </p:sp>
        <p:sp>
          <p:nvSpPr>
            <p:cNvPr id="13324" name="Rectangle 17"/>
            <p:cNvSpPr>
              <a:spLocks noChangeArrowheads="1"/>
            </p:cNvSpPr>
            <p:nvPr/>
          </p:nvSpPr>
          <p:spPr bwMode="auto">
            <a:xfrm>
              <a:off x="1444" y="1344"/>
              <a:ext cx="624" cy="288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GB" altLang="he-IL" sz="2400" b="1">
                  <a:solidFill>
                    <a:schemeClr val="bg1"/>
                  </a:solidFill>
                  <a:latin typeface="Times New Roman" pitchFamily="18" charset="0"/>
                </a:rPr>
                <a:t>TCB2</a:t>
              </a:r>
              <a:endParaRPr lang="en-GB" altLang="he-IL" sz="2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3325" name="Rectangle 18"/>
            <p:cNvSpPr>
              <a:spLocks noChangeArrowheads="1"/>
            </p:cNvSpPr>
            <p:nvPr/>
          </p:nvSpPr>
          <p:spPr bwMode="auto">
            <a:xfrm>
              <a:off x="2308" y="1344"/>
              <a:ext cx="624" cy="288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GB" altLang="he-IL" sz="2400" b="1">
                  <a:solidFill>
                    <a:schemeClr val="bg1"/>
                  </a:solidFill>
                  <a:latin typeface="Times New Roman" pitchFamily="18" charset="0"/>
                </a:rPr>
                <a:t>TCB3</a:t>
              </a:r>
              <a:endParaRPr lang="en-GB" altLang="he-IL" sz="2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3326" name="Line 19"/>
            <p:cNvSpPr>
              <a:spLocks noChangeShapeType="1"/>
            </p:cNvSpPr>
            <p:nvPr/>
          </p:nvSpPr>
          <p:spPr bwMode="auto">
            <a:xfrm>
              <a:off x="905" y="163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3327" name="Line 20"/>
            <p:cNvSpPr>
              <a:spLocks noChangeShapeType="1"/>
            </p:cNvSpPr>
            <p:nvPr/>
          </p:nvSpPr>
          <p:spPr bwMode="auto">
            <a:xfrm flipH="1">
              <a:off x="1289" y="1632"/>
              <a:ext cx="48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3328" name="Line 21"/>
            <p:cNvSpPr>
              <a:spLocks noChangeShapeType="1"/>
            </p:cNvSpPr>
            <p:nvPr/>
          </p:nvSpPr>
          <p:spPr bwMode="auto">
            <a:xfrm flipH="1">
              <a:off x="1673" y="1632"/>
              <a:ext cx="1008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938249" y="5557630"/>
            <a:ext cx="3626314" cy="7232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>
              <a:spcBef>
                <a:spcPts val="600"/>
              </a:spcBef>
            </a:pPr>
            <a:r>
              <a:rPr lang="en-US" b="1" dirty="0" smtClean="0">
                <a:solidFill>
                  <a:srgbClr val="FFFF00"/>
                </a:solidFill>
              </a:rPr>
              <a:t>TCB</a:t>
            </a:r>
            <a:r>
              <a:rPr lang="en-US" b="1" dirty="0" smtClean="0"/>
              <a:t>-Thread Control Block</a:t>
            </a:r>
          </a:p>
          <a:p>
            <a:pPr algn="l" rtl="0">
              <a:spcBef>
                <a:spcPts val="600"/>
              </a:spcBef>
            </a:pPr>
            <a:r>
              <a:rPr lang="en-US" b="1" dirty="0" smtClean="0">
                <a:solidFill>
                  <a:srgbClr val="FFFF00"/>
                </a:solidFill>
              </a:rPr>
              <a:t>PCB</a:t>
            </a:r>
            <a:r>
              <a:rPr lang="en-US" b="1" dirty="0" smtClean="0"/>
              <a:t>-Process Control Block</a:t>
            </a:r>
            <a:endParaRPr lang="he-IL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8248"/>
            <a:ext cx="8229600" cy="1396536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he-IL" sz="4800" b="1" dirty="0" smtClean="0">
                <a:solidFill>
                  <a:srgbClr val="FFFF00"/>
                </a:solidFill>
              </a:rPr>
              <a:t>מדוע נדרשים תהליכים </a:t>
            </a:r>
            <a:br>
              <a:rPr lang="he-IL" altLang="he-IL" sz="4800" b="1" dirty="0" smtClean="0">
                <a:solidFill>
                  <a:srgbClr val="FFFF00"/>
                </a:solidFill>
              </a:rPr>
            </a:br>
            <a:r>
              <a:rPr lang="he-IL" altLang="he-IL" sz="4800" b="1" dirty="0" smtClean="0">
                <a:solidFill>
                  <a:srgbClr val="FFFF00"/>
                </a:solidFill>
              </a:rPr>
              <a:t>קלי משקל</a:t>
            </a:r>
            <a:endParaRPr lang="en-GB" altLang="he-IL" sz="4800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752600"/>
            <a:ext cx="8439472" cy="4484712"/>
          </a:xfrm>
        </p:spPr>
        <p:txBody>
          <a:bodyPr/>
          <a:lstStyle/>
          <a:p>
            <a:pPr algn="just" eaLnBrk="1" hangingPunct="1"/>
            <a:r>
              <a:rPr lang="he-IL" altLang="en-GB" b="1" dirty="0" smtClean="0"/>
              <a:t> נדרשים לצורך עיבוד מקבילי.</a:t>
            </a:r>
          </a:p>
          <a:p>
            <a:pPr algn="just" eaLnBrk="1" hangingPunct="1"/>
            <a:r>
              <a:rPr lang="he-IL" altLang="he-IL" b="1" dirty="0" smtClean="0"/>
              <a:t>מאפשרים שיתוף כתובות בזיכרון.</a:t>
            </a:r>
          </a:p>
          <a:p>
            <a:pPr algn="just" eaLnBrk="1" hangingPunct="1"/>
            <a:r>
              <a:rPr lang="he-IL" altLang="he-IL" b="1" dirty="0" smtClean="0"/>
              <a:t>מאפשרים שיתוף מקום בזיכרון.</a:t>
            </a:r>
          </a:p>
          <a:p>
            <a:pPr algn="just" eaLnBrk="1" hangingPunct="1"/>
            <a:r>
              <a:rPr lang="he-IL" altLang="he-IL" b="1" dirty="0" smtClean="0"/>
              <a:t>קלים מאד ליצירה, למחיקה, לעדכון, להוספה מאשר תהליכים רגילים.</a:t>
            </a:r>
          </a:p>
          <a:p>
            <a:pPr algn="just" eaLnBrk="1" hangingPunct="1"/>
            <a:r>
              <a:rPr lang="he-IL" altLang="he-IL" b="1" smtClean="0"/>
              <a:t>ביצועי </a:t>
            </a:r>
            <a:r>
              <a:rPr lang="he-IL" altLang="he-IL" b="1" dirty="0" smtClean="0"/>
              <a:t>המערכת משתפרים ועולים ככל שמשתמשים ביותר חוטים (תהליכים קלי משקל).</a:t>
            </a:r>
          </a:p>
          <a:p>
            <a:pPr algn="just" eaLnBrk="1" hangingPunct="1"/>
            <a:endParaRPr lang="he-IL" altLang="he-IL" b="1" dirty="0" smtClean="0"/>
          </a:p>
          <a:p>
            <a:pPr algn="just" eaLnBrk="1" hangingPunct="1"/>
            <a:endParaRPr lang="en-GB" altLang="he-IL" b="1" dirty="0" smtClean="0"/>
          </a:p>
        </p:txBody>
      </p:sp>
      <p:sp>
        <p:nvSpPr>
          <p:cNvPr id="14438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585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356"/>
            <a:ext cx="8229600" cy="682180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GB" sz="4800" b="1" dirty="0" smtClean="0">
                <a:solidFill>
                  <a:srgbClr val="FFFF00"/>
                </a:solidFill>
              </a:rPr>
              <a:t>אפיונים של תהליכים קלי משקל</a:t>
            </a:r>
            <a:endParaRPr lang="en-US" altLang="en-GB" sz="4800" b="1" dirty="0" smtClean="0">
              <a:solidFill>
                <a:srgbClr val="FFFF00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428750"/>
            <a:ext cx="8329612" cy="4572000"/>
          </a:xfrm>
        </p:spPr>
        <p:txBody>
          <a:bodyPr/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he-IL" altLang="he-IL" b="1" dirty="0" smtClean="0"/>
              <a:t> </a:t>
            </a:r>
            <a:r>
              <a:rPr lang="he-IL" altLang="en-GB" b="1" dirty="0" smtClean="0"/>
              <a:t>בלוק הבקרה של תהליכים קלי משקל מכיל את:</a:t>
            </a:r>
            <a:endParaRPr lang="en-US" altLang="en-GB" b="1" dirty="0" smtClean="0"/>
          </a:p>
          <a:p>
            <a:pPr marL="925513" lvl="1" indent="-514350" eaLnBrk="1" hangingPunct="1">
              <a:spcBef>
                <a:spcPts val="500"/>
              </a:spcBef>
              <a:spcAft>
                <a:spcPts val="500"/>
              </a:spcAft>
              <a:buClr>
                <a:srgbClr val="FFFF00"/>
              </a:buClr>
              <a:buFont typeface="Rockwell" pitchFamily="18" charset="0"/>
              <a:buAutoNum type="arabicPeriod"/>
            </a:pPr>
            <a:r>
              <a:rPr lang="he-IL" altLang="en-GB" sz="3200" b="1" dirty="0" smtClean="0"/>
              <a:t> </a:t>
            </a:r>
            <a:r>
              <a:rPr lang="he-IL" altLang="en-GB" sz="2800" b="1" dirty="0" smtClean="0"/>
              <a:t>מונה התוכניות</a:t>
            </a:r>
            <a:endParaRPr lang="en-US" altLang="en-GB" sz="2800" b="1" dirty="0" smtClean="0"/>
          </a:p>
          <a:p>
            <a:pPr marL="925513" lvl="1" indent="-514350" eaLnBrk="1" hangingPunct="1">
              <a:spcBef>
                <a:spcPts val="500"/>
              </a:spcBef>
              <a:spcAft>
                <a:spcPts val="500"/>
              </a:spcAft>
              <a:buClr>
                <a:srgbClr val="FFFF00"/>
              </a:buClr>
              <a:buFont typeface="Rockwell" pitchFamily="18" charset="0"/>
              <a:buAutoNum type="arabicPeriod"/>
            </a:pPr>
            <a:r>
              <a:rPr lang="he-IL" altLang="en-GB" sz="2800" b="1" dirty="0" smtClean="0"/>
              <a:t> ערכת ויסות</a:t>
            </a:r>
            <a:endParaRPr lang="en-US" altLang="en-GB" sz="2800" b="1" dirty="0" smtClean="0"/>
          </a:p>
          <a:p>
            <a:pPr marL="925513" lvl="1" indent="-514350" eaLnBrk="1" hangingPunct="1">
              <a:spcBef>
                <a:spcPts val="500"/>
              </a:spcBef>
              <a:spcAft>
                <a:spcPts val="500"/>
              </a:spcAft>
              <a:buClr>
                <a:srgbClr val="FFFF00"/>
              </a:buClr>
              <a:buFont typeface="Rockwell" pitchFamily="18" charset="0"/>
              <a:buAutoNum type="arabicPeriod"/>
            </a:pPr>
            <a:r>
              <a:rPr lang="he-IL" altLang="en-GB" sz="2800" b="1" dirty="0" smtClean="0"/>
              <a:t> אסופת מקומות חופשיים</a:t>
            </a:r>
            <a:endParaRPr lang="en-US" altLang="en-GB" sz="2800" b="1" dirty="0" smtClean="0"/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he-IL" altLang="en-GB" b="1" dirty="0" smtClean="0"/>
              <a:t>לכן יחידת ה- </a:t>
            </a:r>
            <a:r>
              <a:rPr lang="en-GB" altLang="he-IL" b="1" dirty="0" smtClean="0"/>
              <a:t>TCB</a:t>
            </a:r>
            <a:r>
              <a:rPr lang="he-IL" altLang="he-IL" b="1" dirty="0" smtClean="0"/>
              <a:t> </a:t>
            </a:r>
            <a:r>
              <a:rPr lang="he-IL" altLang="en-GB" b="1" dirty="0" smtClean="0"/>
              <a:t>היא הקטנה של ה- </a:t>
            </a:r>
            <a:r>
              <a:rPr lang="en-GB" altLang="he-IL" b="1" dirty="0" smtClean="0"/>
              <a:t>PCB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he-IL" altLang="he-IL" b="1" dirty="0" smtClean="0"/>
              <a:t> </a:t>
            </a:r>
            <a:r>
              <a:rPr lang="he-IL" altLang="en-GB" b="1" dirty="0" smtClean="0"/>
              <a:t>תהליך מסורתי הוא שווה ערך למטלה/משימה עם תהליך קל משקל אחד לפחות</a:t>
            </a:r>
            <a:endParaRPr lang="en-US" altLang="en-GB" b="1" dirty="0" smtClean="0"/>
          </a:p>
          <a:p>
            <a:pPr algn="just" eaLnBrk="1" hangingPunct="1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dirty="0" smtClean="0"/>
              <a:t> כל התהליכים קלי המשקל בתוך תהליכים הם שותפים במצב הכללי של התהליך</a:t>
            </a:r>
            <a:endParaRPr lang="en-US" altLang="en-GB" b="1" dirty="0" smtClean="0"/>
          </a:p>
        </p:txBody>
      </p:sp>
      <p:sp>
        <p:nvSpPr>
          <p:cNvPr id="147461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42918"/>
            <a:ext cx="8229600" cy="753618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GB" sz="4800" b="1" dirty="0" smtClean="0">
                <a:solidFill>
                  <a:srgbClr val="FFFF00"/>
                </a:solidFill>
              </a:rPr>
              <a:t>אפיונים של תהליכים קלי משקל</a:t>
            </a:r>
            <a:endParaRPr lang="en-GB" altLang="he-IL" sz="4800" b="1" dirty="0" smtClean="0">
              <a:solidFill>
                <a:srgbClr val="FFFF0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428750"/>
            <a:ext cx="8329612" cy="5000625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he-IL" b="1" smtClean="0"/>
              <a:t> </a:t>
            </a:r>
            <a:r>
              <a:rPr lang="he-IL" altLang="en-GB" b="1" smtClean="0"/>
              <a:t>הם ממוקמים באותו מקום בזיכרון (שבשימוש המשתמש) ברי שימוש באותו קוד ובאותם נתונים.</a:t>
            </a:r>
            <a:endParaRPr lang="en-US" altLang="en-GB" b="1" smtClean="0"/>
          </a:p>
          <a:p>
            <a:pPr algn="just" eaLnBrk="1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smtClean="0"/>
              <a:t> כאשר תהליך קל משקל בודד משנה משתנה של תהליך (נניח ספריית העבודה שהוקצתה עבורו) כל האחרים יראו את השינוי בהגיעם אליו.</a:t>
            </a:r>
            <a:endParaRPr lang="en-US" altLang="en-GB" b="1" smtClean="0"/>
          </a:p>
          <a:p>
            <a:pPr algn="just" eaLnBrk="1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smtClean="0"/>
              <a:t> אם תהליך קל משקל אחד פותח קובץ לקריאה, כל שאר התהליכים קלי המשקל יכולים גם הם לקרוא אותו.</a:t>
            </a:r>
            <a:endParaRPr lang="en-US" altLang="en-GB" b="1" smtClean="0"/>
          </a:p>
        </p:txBody>
      </p:sp>
      <p:sp>
        <p:nvSpPr>
          <p:cNvPr id="148485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42918"/>
            <a:ext cx="8229600" cy="753618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GB" sz="4800" b="1" dirty="0" smtClean="0">
                <a:solidFill>
                  <a:srgbClr val="FFFF00"/>
                </a:solidFill>
              </a:rPr>
              <a:t>אפיונים של תהליכים קלי משקל </a:t>
            </a:r>
            <a:endParaRPr lang="en-US" altLang="he-IL" sz="4800" b="1" dirty="0" smtClean="0">
              <a:solidFill>
                <a:srgbClr val="FFFF0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500188"/>
            <a:ext cx="8477250" cy="4449762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he-IL" b="1" dirty="0" smtClean="0"/>
              <a:t> </a:t>
            </a:r>
            <a:r>
              <a:rPr lang="he-IL" altLang="en-GB" b="1" dirty="0" smtClean="0"/>
              <a:t>היעדר מעורבות של קריאות מערכת ההפעלה, גורם שתהליך קל משקל הוא מהיר יותר מתהליך רגיל.</a:t>
            </a:r>
            <a:endParaRPr lang="en-US" altLang="en-GB" b="1" dirty="0" smtClean="0"/>
          </a:p>
          <a:p>
            <a:pPr algn="just" eaLnBrk="1" hangingPunct="1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dirty="0" smtClean="0"/>
              <a:t> מבנה פנימי של גרעין מערכת ההפעלה אינו מושפע מעצם קיומו של תהליך קל משקל בתוכנית, משאב גרעין  אינו נצרך ולכן תהליך קל משקל הוא זול.</a:t>
            </a:r>
            <a:endParaRPr lang="en-US" altLang="en-GB" b="1" dirty="0" smtClean="0"/>
          </a:p>
          <a:p>
            <a:pPr algn="just" eaLnBrk="1" hangingPunct="1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dirty="0" smtClean="0"/>
              <a:t> הגרעין לא מודע לקיומם של תהליכים קלי משקל.</a:t>
            </a:r>
            <a:endParaRPr lang="en-US" altLang="en-GB" b="1" dirty="0" smtClean="0"/>
          </a:p>
        </p:txBody>
      </p:sp>
      <p:sp>
        <p:nvSpPr>
          <p:cNvPr id="14950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46620"/>
            <a:ext cx="8229600" cy="682180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AU" sz="4800" b="1" dirty="0" smtClean="0">
                <a:solidFill>
                  <a:srgbClr val="FFFF00"/>
                </a:solidFill>
              </a:rPr>
              <a:t>תהליך קל משקל של משימה/מטלה</a:t>
            </a:r>
            <a:endParaRPr lang="en-US" altLang="en-AU" sz="4800" b="1" dirty="0" smtClean="0">
              <a:solidFill>
                <a:srgbClr val="FFFF00"/>
              </a:solidFill>
            </a:endParaRPr>
          </a:p>
        </p:txBody>
      </p:sp>
      <p:sp>
        <p:nvSpPr>
          <p:cNvPr id="150541" name="Footer Placeholder 2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467544" y="1772816"/>
            <a:ext cx="8295456" cy="4520123"/>
          </a:xfrm>
          <a:prstGeom prst="rect">
            <a:avLst/>
          </a:prstGeom>
          <a:solidFill>
            <a:schemeClr val="folHlink"/>
          </a:solidFill>
          <a:ln w="12700">
            <a:noFill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 rtl="0" eaLnBrk="0" hangingPunct="0"/>
            <a:endParaRPr lang="en-US" altLang="en-US" sz="3600" b="1" i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6357938" y="3520976"/>
            <a:ext cx="1981200" cy="1285875"/>
          </a:xfrm>
          <a:prstGeom prst="rect">
            <a:avLst/>
          </a:prstGeom>
          <a:solidFill>
            <a:srgbClr val="D0BB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rtl="0" eaLnBrk="0" hangingPunct="0"/>
            <a:endParaRPr lang="en-US" altLang="en-US" sz="3600" b="1" i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7416" name="Text Box 5"/>
          <p:cNvSpPr txBox="1">
            <a:spLocks noChangeArrowheads="1"/>
          </p:cNvSpPr>
          <p:nvPr/>
        </p:nvSpPr>
        <p:spPr bwMode="auto">
          <a:xfrm>
            <a:off x="2050976" y="1861205"/>
            <a:ext cx="198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AU" altLang="he-IL" sz="2800" b="1" dirty="0">
                <a:latin typeface="Times New Roman" pitchFamily="18" charset="0"/>
              </a:rPr>
              <a:t>Threads</a:t>
            </a:r>
            <a:endParaRPr lang="en-AU" altLang="he-IL" sz="2800" b="1" i="1" dirty="0">
              <a:latin typeface="Times New Roman" pitchFamily="18" charset="0"/>
            </a:endParaRPr>
          </a:p>
        </p:txBody>
      </p:sp>
      <p:sp>
        <p:nvSpPr>
          <p:cNvPr id="140297" name="Text Box 6"/>
          <p:cNvSpPr txBox="1">
            <a:spLocks noChangeArrowheads="1"/>
          </p:cNvSpPr>
          <p:nvPr/>
        </p:nvSpPr>
        <p:spPr bwMode="auto">
          <a:xfrm>
            <a:off x="1669976" y="5729882"/>
            <a:ext cx="2362200" cy="579438"/>
          </a:xfrm>
          <a:prstGeom prst="rect">
            <a:avLst/>
          </a:prstGeom>
          <a:solidFill>
            <a:srgbClr val="66FF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he-IL" altLang="en-AU" sz="3200" b="1" dirty="0">
                <a:solidFill>
                  <a:schemeClr val="bg1"/>
                </a:solidFill>
                <a:latin typeface="Times New Roman" pitchFamily="18" charset="0"/>
                <a:cs typeface="+mn-cs"/>
              </a:rPr>
              <a:t>מקטעי קוד</a:t>
            </a:r>
            <a:endParaRPr lang="en-US" altLang="en-AU" sz="3200" b="1" dirty="0">
              <a:solidFill>
                <a:schemeClr val="bg1"/>
              </a:solidFill>
              <a:latin typeface="Times New Roman" pitchFamily="18" charset="0"/>
              <a:cs typeface="+mn-cs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55576" y="2553295"/>
            <a:ext cx="5000625" cy="3048000"/>
            <a:chOff x="1200" y="1152"/>
            <a:chExt cx="2784" cy="1920"/>
          </a:xfrm>
          <a:blipFill>
            <a:blip r:embed="rId2"/>
            <a:tile tx="0" ty="0" sx="100000" sy="100000" flip="none" algn="tl"/>
          </a:blipFill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200" y="1152"/>
              <a:ext cx="2784" cy="1920"/>
              <a:chOff x="1200" y="1152"/>
              <a:chExt cx="2784" cy="1920"/>
            </a:xfrm>
            <a:grpFill/>
          </p:grpSpPr>
          <p:sp>
            <p:nvSpPr>
              <p:cNvPr id="140305" name="Rectangle 9"/>
              <p:cNvSpPr>
                <a:spLocks noChangeArrowheads="1"/>
              </p:cNvSpPr>
              <p:nvPr/>
            </p:nvSpPr>
            <p:spPr bwMode="auto">
              <a:xfrm>
                <a:off x="1200" y="1152"/>
                <a:ext cx="2784" cy="1920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he-IL">
                  <a:solidFill>
                    <a:schemeClr val="bg1"/>
                  </a:solidFill>
                </a:endParaRPr>
              </a:p>
            </p:txBody>
          </p:sp>
          <p:sp>
            <p:nvSpPr>
              <p:cNvPr id="140306" name="Freeform 10"/>
              <p:cNvSpPr>
                <a:spLocks/>
              </p:cNvSpPr>
              <p:nvPr/>
            </p:nvSpPr>
            <p:spPr bwMode="auto">
              <a:xfrm>
                <a:off x="1945" y="1536"/>
                <a:ext cx="329" cy="1356"/>
              </a:xfrm>
              <a:custGeom>
                <a:avLst/>
                <a:gdLst>
                  <a:gd name="T0" fmla="*/ 143 w 189"/>
                  <a:gd name="T1" fmla="*/ 0 h 1356"/>
                  <a:gd name="T2" fmla="*/ 143 w 189"/>
                  <a:gd name="T3" fmla="*/ 216 h 1356"/>
                  <a:gd name="T4" fmla="*/ 71 w 189"/>
                  <a:gd name="T5" fmla="*/ 288 h 1356"/>
                  <a:gd name="T6" fmla="*/ 35 w 189"/>
                  <a:gd name="T7" fmla="*/ 324 h 1356"/>
                  <a:gd name="T8" fmla="*/ 119 w 189"/>
                  <a:gd name="T9" fmla="*/ 492 h 1356"/>
                  <a:gd name="T10" fmla="*/ 179 w 189"/>
                  <a:gd name="T11" fmla="*/ 552 h 1356"/>
                  <a:gd name="T12" fmla="*/ 95 w 189"/>
                  <a:gd name="T13" fmla="*/ 732 h 1356"/>
                  <a:gd name="T14" fmla="*/ 83 w 189"/>
                  <a:gd name="T15" fmla="*/ 1152 h 1356"/>
                  <a:gd name="T16" fmla="*/ 95 w 189"/>
                  <a:gd name="T17" fmla="*/ 1356 h 13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9"/>
                  <a:gd name="T28" fmla="*/ 0 h 1356"/>
                  <a:gd name="T29" fmla="*/ 189 w 189"/>
                  <a:gd name="T30" fmla="*/ 1356 h 13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9" h="1356">
                    <a:moveTo>
                      <a:pt x="143" y="0"/>
                    </a:moveTo>
                    <a:cubicBezTo>
                      <a:pt x="164" y="64"/>
                      <a:pt x="189" y="156"/>
                      <a:pt x="143" y="216"/>
                    </a:cubicBezTo>
                    <a:cubicBezTo>
                      <a:pt x="122" y="243"/>
                      <a:pt x="95" y="264"/>
                      <a:pt x="71" y="288"/>
                    </a:cubicBezTo>
                    <a:cubicBezTo>
                      <a:pt x="59" y="300"/>
                      <a:pt x="35" y="324"/>
                      <a:pt x="35" y="324"/>
                    </a:cubicBezTo>
                    <a:cubicBezTo>
                      <a:pt x="0" y="430"/>
                      <a:pt x="61" y="425"/>
                      <a:pt x="119" y="492"/>
                    </a:cubicBezTo>
                    <a:cubicBezTo>
                      <a:pt x="172" y="554"/>
                      <a:pt x="110" y="506"/>
                      <a:pt x="179" y="552"/>
                    </a:cubicBezTo>
                    <a:cubicBezTo>
                      <a:pt x="154" y="614"/>
                      <a:pt x="125" y="673"/>
                      <a:pt x="95" y="732"/>
                    </a:cubicBezTo>
                    <a:cubicBezTo>
                      <a:pt x="67" y="872"/>
                      <a:pt x="106" y="1011"/>
                      <a:pt x="83" y="1152"/>
                    </a:cubicBezTo>
                    <a:cubicBezTo>
                      <a:pt x="108" y="1250"/>
                      <a:pt x="95" y="1184"/>
                      <a:pt x="95" y="1356"/>
                    </a:cubicBezTo>
                  </a:path>
                </a:pathLst>
              </a:custGeom>
              <a:grpFill/>
              <a:ln w="12700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he-IL"/>
              </a:p>
            </p:txBody>
          </p:sp>
          <p:sp>
            <p:nvSpPr>
              <p:cNvPr id="140307" name="Freeform 11"/>
              <p:cNvSpPr>
                <a:spLocks/>
              </p:cNvSpPr>
              <p:nvPr/>
            </p:nvSpPr>
            <p:spPr bwMode="auto">
              <a:xfrm>
                <a:off x="1280" y="1584"/>
                <a:ext cx="340" cy="1344"/>
              </a:xfrm>
              <a:custGeom>
                <a:avLst/>
                <a:gdLst>
                  <a:gd name="T0" fmla="*/ 172 w 244"/>
                  <a:gd name="T1" fmla="*/ 0 h 1344"/>
                  <a:gd name="T2" fmla="*/ 52 w 244"/>
                  <a:gd name="T3" fmla="*/ 156 h 1344"/>
                  <a:gd name="T4" fmla="*/ 244 w 244"/>
                  <a:gd name="T5" fmla="*/ 324 h 1344"/>
                  <a:gd name="T6" fmla="*/ 136 w 244"/>
                  <a:gd name="T7" fmla="*/ 396 h 1344"/>
                  <a:gd name="T8" fmla="*/ 64 w 244"/>
                  <a:gd name="T9" fmla="*/ 420 h 1344"/>
                  <a:gd name="T10" fmla="*/ 40 w 244"/>
                  <a:gd name="T11" fmla="*/ 468 h 1344"/>
                  <a:gd name="T12" fmla="*/ 148 w 244"/>
                  <a:gd name="T13" fmla="*/ 564 h 1344"/>
                  <a:gd name="T14" fmla="*/ 28 w 244"/>
                  <a:gd name="T15" fmla="*/ 660 h 1344"/>
                  <a:gd name="T16" fmla="*/ 40 w 244"/>
                  <a:gd name="T17" fmla="*/ 720 h 1344"/>
                  <a:gd name="T18" fmla="*/ 100 w 244"/>
                  <a:gd name="T19" fmla="*/ 744 h 1344"/>
                  <a:gd name="T20" fmla="*/ 136 w 244"/>
                  <a:gd name="T21" fmla="*/ 768 h 1344"/>
                  <a:gd name="T22" fmla="*/ 124 w 244"/>
                  <a:gd name="T23" fmla="*/ 1044 h 1344"/>
                  <a:gd name="T24" fmla="*/ 88 w 244"/>
                  <a:gd name="T25" fmla="*/ 1080 h 1344"/>
                  <a:gd name="T26" fmla="*/ 16 w 244"/>
                  <a:gd name="T27" fmla="*/ 1128 h 1344"/>
                  <a:gd name="T28" fmla="*/ 4 w 244"/>
                  <a:gd name="T29" fmla="*/ 1164 h 1344"/>
                  <a:gd name="T30" fmla="*/ 160 w 244"/>
                  <a:gd name="T31" fmla="*/ 1248 h 1344"/>
                  <a:gd name="T32" fmla="*/ 172 w 244"/>
                  <a:gd name="T33" fmla="*/ 1332 h 1344"/>
                  <a:gd name="T34" fmla="*/ 136 w 244"/>
                  <a:gd name="T35" fmla="*/ 1344 h 134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44"/>
                  <a:gd name="T55" fmla="*/ 0 h 1344"/>
                  <a:gd name="T56" fmla="*/ 244 w 244"/>
                  <a:gd name="T57" fmla="*/ 1344 h 134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44" h="1344">
                    <a:moveTo>
                      <a:pt x="172" y="0"/>
                    </a:moveTo>
                    <a:cubicBezTo>
                      <a:pt x="150" y="87"/>
                      <a:pt x="110" y="98"/>
                      <a:pt x="52" y="156"/>
                    </a:cubicBezTo>
                    <a:cubicBezTo>
                      <a:pt x="78" y="235"/>
                      <a:pt x="166" y="298"/>
                      <a:pt x="244" y="324"/>
                    </a:cubicBezTo>
                    <a:cubicBezTo>
                      <a:pt x="223" y="388"/>
                      <a:pt x="195" y="378"/>
                      <a:pt x="136" y="396"/>
                    </a:cubicBezTo>
                    <a:cubicBezTo>
                      <a:pt x="112" y="403"/>
                      <a:pt x="64" y="420"/>
                      <a:pt x="64" y="420"/>
                    </a:cubicBezTo>
                    <a:cubicBezTo>
                      <a:pt x="56" y="436"/>
                      <a:pt x="33" y="451"/>
                      <a:pt x="40" y="468"/>
                    </a:cubicBezTo>
                    <a:cubicBezTo>
                      <a:pt x="55" y="505"/>
                      <a:pt x="112" y="540"/>
                      <a:pt x="148" y="564"/>
                    </a:cubicBezTo>
                    <a:cubicBezTo>
                      <a:pt x="127" y="627"/>
                      <a:pt x="84" y="641"/>
                      <a:pt x="28" y="660"/>
                    </a:cubicBezTo>
                    <a:cubicBezTo>
                      <a:pt x="32" y="680"/>
                      <a:pt x="27" y="705"/>
                      <a:pt x="40" y="720"/>
                    </a:cubicBezTo>
                    <a:cubicBezTo>
                      <a:pt x="54" y="736"/>
                      <a:pt x="81" y="734"/>
                      <a:pt x="100" y="744"/>
                    </a:cubicBezTo>
                    <a:cubicBezTo>
                      <a:pt x="113" y="750"/>
                      <a:pt x="124" y="760"/>
                      <a:pt x="136" y="768"/>
                    </a:cubicBezTo>
                    <a:cubicBezTo>
                      <a:pt x="126" y="885"/>
                      <a:pt x="110" y="935"/>
                      <a:pt x="124" y="1044"/>
                    </a:cubicBezTo>
                    <a:cubicBezTo>
                      <a:pt x="112" y="1056"/>
                      <a:pt x="101" y="1070"/>
                      <a:pt x="88" y="1080"/>
                    </a:cubicBezTo>
                    <a:cubicBezTo>
                      <a:pt x="65" y="1098"/>
                      <a:pt x="16" y="1128"/>
                      <a:pt x="16" y="1128"/>
                    </a:cubicBezTo>
                    <a:cubicBezTo>
                      <a:pt x="12" y="1140"/>
                      <a:pt x="0" y="1152"/>
                      <a:pt x="4" y="1164"/>
                    </a:cubicBezTo>
                    <a:cubicBezTo>
                      <a:pt x="16" y="1201"/>
                      <a:pt x="120" y="1222"/>
                      <a:pt x="160" y="1248"/>
                    </a:cubicBezTo>
                    <a:cubicBezTo>
                      <a:pt x="180" y="1277"/>
                      <a:pt x="203" y="1293"/>
                      <a:pt x="172" y="1332"/>
                    </a:cubicBezTo>
                    <a:cubicBezTo>
                      <a:pt x="164" y="1342"/>
                      <a:pt x="136" y="1344"/>
                      <a:pt x="136" y="1344"/>
                    </a:cubicBezTo>
                  </a:path>
                </a:pathLst>
              </a:custGeom>
              <a:grpFill/>
              <a:ln w="12700" cap="flat" cmpd="sng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he-IL"/>
              </a:p>
            </p:txBody>
          </p:sp>
          <p:sp>
            <p:nvSpPr>
              <p:cNvPr id="140308" name="Line 12"/>
              <p:cNvSpPr>
                <a:spLocks noChangeShapeType="1"/>
              </p:cNvSpPr>
              <p:nvPr/>
            </p:nvSpPr>
            <p:spPr bwMode="auto">
              <a:xfrm flipH="1">
                <a:off x="1611" y="2304"/>
                <a:ext cx="384" cy="0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he-IL"/>
              </a:p>
            </p:txBody>
          </p:sp>
          <p:sp>
            <p:nvSpPr>
              <p:cNvPr id="140309" name="Line 13"/>
              <p:cNvSpPr>
                <a:spLocks noChangeShapeType="1"/>
              </p:cNvSpPr>
              <p:nvPr/>
            </p:nvSpPr>
            <p:spPr bwMode="auto">
              <a:xfrm flipH="1">
                <a:off x="2208" y="2592"/>
                <a:ext cx="384" cy="0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he-IL"/>
              </a:p>
            </p:txBody>
          </p:sp>
          <p:sp>
            <p:nvSpPr>
              <p:cNvPr id="140310" name="Line 14"/>
              <p:cNvSpPr>
                <a:spLocks noChangeShapeType="1"/>
              </p:cNvSpPr>
              <p:nvPr/>
            </p:nvSpPr>
            <p:spPr bwMode="auto">
              <a:xfrm flipH="1">
                <a:off x="2821" y="1920"/>
                <a:ext cx="288" cy="0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he-IL"/>
              </a:p>
            </p:txBody>
          </p:sp>
        </p:grpSp>
        <p:sp>
          <p:nvSpPr>
            <p:cNvPr id="140304" name="Freeform 15"/>
            <p:cNvSpPr>
              <a:spLocks/>
            </p:cNvSpPr>
            <p:nvPr/>
          </p:nvSpPr>
          <p:spPr bwMode="auto">
            <a:xfrm>
              <a:off x="2654" y="1584"/>
              <a:ext cx="257" cy="1368"/>
            </a:xfrm>
            <a:custGeom>
              <a:avLst/>
              <a:gdLst>
                <a:gd name="T0" fmla="*/ 93 w 165"/>
                <a:gd name="T1" fmla="*/ 0 h 1368"/>
                <a:gd name="T2" fmla="*/ 33 w 165"/>
                <a:gd name="T3" fmla="*/ 396 h 1368"/>
                <a:gd name="T4" fmla="*/ 45 w 165"/>
                <a:gd name="T5" fmla="*/ 432 h 1368"/>
                <a:gd name="T6" fmla="*/ 117 w 165"/>
                <a:gd name="T7" fmla="*/ 456 h 1368"/>
                <a:gd name="T8" fmla="*/ 141 w 165"/>
                <a:gd name="T9" fmla="*/ 492 h 1368"/>
                <a:gd name="T10" fmla="*/ 33 w 165"/>
                <a:gd name="T11" fmla="*/ 600 h 1368"/>
                <a:gd name="T12" fmla="*/ 9 w 165"/>
                <a:gd name="T13" fmla="*/ 636 h 1368"/>
                <a:gd name="T14" fmla="*/ 93 w 165"/>
                <a:gd name="T15" fmla="*/ 768 h 1368"/>
                <a:gd name="T16" fmla="*/ 9 w 165"/>
                <a:gd name="T17" fmla="*/ 1116 h 1368"/>
                <a:gd name="T18" fmla="*/ 93 w 165"/>
                <a:gd name="T19" fmla="*/ 1248 h 1368"/>
                <a:gd name="T20" fmla="*/ 117 w 165"/>
                <a:gd name="T21" fmla="*/ 1368 h 13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5"/>
                <a:gd name="T34" fmla="*/ 0 h 1368"/>
                <a:gd name="T35" fmla="*/ 165 w 165"/>
                <a:gd name="T36" fmla="*/ 1368 h 13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5" h="1368">
                  <a:moveTo>
                    <a:pt x="93" y="0"/>
                  </a:moveTo>
                  <a:cubicBezTo>
                    <a:pt x="126" y="133"/>
                    <a:pt x="165" y="330"/>
                    <a:pt x="33" y="396"/>
                  </a:cubicBezTo>
                  <a:cubicBezTo>
                    <a:pt x="37" y="408"/>
                    <a:pt x="35" y="425"/>
                    <a:pt x="45" y="432"/>
                  </a:cubicBezTo>
                  <a:cubicBezTo>
                    <a:pt x="66" y="447"/>
                    <a:pt x="117" y="456"/>
                    <a:pt x="117" y="456"/>
                  </a:cubicBezTo>
                  <a:cubicBezTo>
                    <a:pt x="125" y="468"/>
                    <a:pt x="139" y="478"/>
                    <a:pt x="141" y="492"/>
                  </a:cubicBezTo>
                  <a:cubicBezTo>
                    <a:pt x="151" y="550"/>
                    <a:pt x="68" y="577"/>
                    <a:pt x="33" y="600"/>
                  </a:cubicBezTo>
                  <a:cubicBezTo>
                    <a:pt x="25" y="612"/>
                    <a:pt x="11" y="622"/>
                    <a:pt x="9" y="636"/>
                  </a:cubicBezTo>
                  <a:cubicBezTo>
                    <a:pt x="0" y="704"/>
                    <a:pt x="61" y="720"/>
                    <a:pt x="93" y="768"/>
                  </a:cubicBezTo>
                  <a:cubicBezTo>
                    <a:pt x="80" y="983"/>
                    <a:pt x="107" y="969"/>
                    <a:pt x="9" y="1116"/>
                  </a:cubicBezTo>
                  <a:cubicBezTo>
                    <a:pt x="24" y="1204"/>
                    <a:pt x="23" y="1201"/>
                    <a:pt x="93" y="1248"/>
                  </a:cubicBezTo>
                  <a:cubicBezTo>
                    <a:pt x="106" y="1287"/>
                    <a:pt x="117" y="1326"/>
                    <a:pt x="117" y="1368"/>
                  </a:cubicBezTo>
                </a:path>
              </a:pathLst>
            </a:custGeom>
            <a:grpFill/>
            <a:ln w="12700" cap="flat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he-IL"/>
            </a:p>
          </p:txBody>
        </p:sp>
      </p:grpSp>
      <p:sp>
        <p:nvSpPr>
          <p:cNvPr id="140299" name="Text Box 16"/>
          <p:cNvSpPr txBox="1">
            <a:spLocks noChangeArrowheads="1"/>
          </p:cNvSpPr>
          <p:nvPr/>
        </p:nvSpPr>
        <p:spPr bwMode="auto">
          <a:xfrm>
            <a:off x="6429375" y="5075138"/>
            <a:ext cx="1828800" cy="946150"/>
          </a:xfrm>
          <a:prstGeom prst="rect">
            <a:avLst/>
          </a:prstGeom>
          <a:solidFill>
            <a:srgbClr val="FFCC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he-IL" altLang="en-AU" sz="2800" b="1" i="1">
                <a:solidFill>
                  <a:schemeClr val="bg1"/>
                </a:solidFill>
                <a:latin typeface="Times New Roman" pitchFamily="18" charset="0"/>
                <a:cs typeface="+mn-cs"/>
              </a:rPr>
              <a:t>מקטעי נתונים</a:t>
            </a:r>
            <a:endParaRPr lang="en-US" altLang="en-AU" sz="2800" b="1" i="1">
              <a:solidFill>
                <a:schemeClr val="bg1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40302" name="Text Box 19"/>
          <p:cNvSpPr txBox="1">
            <a:spLocks noChangeArrowheads="1"/>
          </p:cNvSpPr>
          <p:nvPr/>
        </p:nvSpPr>
        <p:spPr bwMode="auto">
          <a:xfrm>
            <a:off x="6643688" y="2163663"/>
            <a:ext cx="1301750" cy="996950"/>
          </a:xfrm>
          <a:prstGeom prst="rect">
            <a:avLst/>
          </a:prstGeom>
          <a:solidFill>
            <a:srgbClr val="CCFFFF"/>
          </a:solidFill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 eaLnBrk="0" hangingPunct="0">
              <a:lnSpc>
                <a:spcPct val="80000"/>
              </a:lnSpc>
              <a:spcBef>
                <a:spcPct val="50000"/>
              </a:spcBef>
              <a:defRPr/>
            </a:pPr>
            <a:r>
              <a:rPr lang="he-IL" altLang="en-US" sz="2800" b="1" i="1" dirty="0">
                <a:solidFill>
                  <a:schemeClr val="bg1"/>
                </a:solidFill>
                <a:latin typeface="Times New Roman" pitchFamily="18" charset="0"/>
                <a:cs typeface="+mn-cs"/>
              </a:rPr>
              <a:t>משימה</a:t>
            </a:r>
            <a:endParaRPr lang="en-US" altLang="en-US" sz="2800" b="1" i="1" dirty="0">
              <a:solidFill>
                <a:schemeClr val="bg1"/>
              </a:solidFill>
              <a:latin typeface="Times New Roman" pitchFamily="18" charset="0"/>
              <a:cs typeface="+mn-cs"/>
            </a:endParaRPr>
          </a:p>
          <a:p>
            <a:pPr algn="ctr" rtl="0" eaLnBrk="0" hangingPunct="0">
              <a:lnSpc>
                <a:spcPct val="80000"/>
              </a:lnSpc>
              <a:spcBef>
                <a:spcPct val="50000"/>
              </a:spcBef>
              <a:defRPr/>
            </a:pPr>
            <a:r>
              <a:rPr lang="en-AU" altLang="he-IL" sz="2800" b="1" i="1" dirty="0">
                <a:solidFill>
                  <a:schemeClr val="bg1"/>
                </a:solidFill>
                <a:latin typeface="Times New Roman" pitchFamily="18" charset="0"/>
                <a:cs typeface="+mn-cs"/>
              </a:rPr>
              <a:t>Task</a:t>
            </a:r>
          </a:p>
        </p:txBody>
      </p:sp>
      <p:sp>
        <p:nvSpPr>
          <p:cNvPr id="17422" name="Rectangle 22"/>
          <p:cNvSpPr>
            <a:spLocks noChangeArrowheads="1"/>
          </p:cNvSpPr>
          <p:nvPr/>
        </p:nvSpPr>
        <p:spPr bwMode="auto">
          <a:xfrm>
            <a:off x="6564313" y="3555157"/>
            <a:ext cx="1643062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rtl="0" eaLnBrk="0" hangingPunct="0">
              <a:spcBef>
                <a:spcPct val="50000"/>
              </a:spcBef>
            </a:pPr>
            <a:r>
              <a:rPr lang="en-AU" altLang="he-IL" sz="2800" b="1" dirty="0">
                <a:solidFill>
                  <a:schemeClr val="bg1"/>
                </a:solidFill>
                <a:latin typeface="Times New Roman" pitchFamily="18" charset="0"/>
              </a:rPr>
              <a:t>Program </a:t>
            </a:r>
          </a:p>
          <a:p>
            <a:pPr algn="ctr" rtl="0" eaLnBrk="0" hangingPunct="0">
              <a:spcBef>
                <a:spcPct val="50000"/>
              </a:spcBef>
            </a:pPr>
            <a:r>
              <a:rPr lang="en-AU" altLang="he-IL" sz="2800" b="1" dirty="0">
                <a:solidFill>
                  <a:schemeClr val="bg1"/>
                </a:solidFill>
                <a:latin typeface="Times New Roman" pitchFamily="18" charset="0"/>
              </a:rPr>
              <a:t>Counter</a:t>
            </a:r>
            <a:endParaRPr lang="en-AU" altLang="he-IL" sz="2800" b="1" i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0256"/>
            <a:ext cx="8229600" cy="1396536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he-IL" sz="4800" b="1" dirty="0" smtClean="0">
                <a:solidFill>
                  <a:srgbClr val="FFFF00"/>
                </a:solidFill>
              </a:rPr>
              <a:t>דוגמה לשימוש בשלושה חוטים במעבד תמלילים </a:t>
            </a:r>
            <a:r>
              <a:rPr lang="en-GB" altLang="he-IL" sz="4800" b="1" dirty="0" smtClean="0">
                <a:solidFill>
                  <a:srgbClr val="FFFF00"/>
                </a:solidFill>
              </a:rPr>
              <a:t>word</a:t>
            </a:r>
            <a:endParaRPr lang="en-GB" altLang="he-IL" sz="4800" dirty="0" smtClean="0">
              <a:solidFill>
                <a:srgbClr val="FFFF00"/>
              </a:solidFill>
            </a:endParaRPr>
          </a:p>
        </p:txBody>
      </p:sp>
      <p:sp>
        <p:nvSpPr>
          <p:cNvPr id="14438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pic>
        <p:nvPicPr>
          <p:cNvPr id="9" name="Picture 6" descr="2-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3"/>
            <a:ext cx="856895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24610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0256"/>
            <a:ext cx="8229600" cy="1396536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he-IL" sz="4800" b="1" dirty="0" smtClean="0">
                <a:solidFill>
                  <a:srgbClr val="FFFF00"/>
                </a:solidFill>
              </a:rPr>
              <a:t>דוגמה לשימוש בריבוי חוטים בשרת אינטרנט</a:t>
            </a:r>
            <a:endParaRPr lang="en-GB" altLang="he-IL" sz="4800" dirty="0" smtClean="0">
              <a:solidFill>
                <a:srgbClr val="FFFF00"/>
              </a:solidFill>
            </a:endParaRPr>
          </a:p>
        </p:txBody>
      </p:sp>
      <p:sp>
        <p:nvSpPr>
          <p:cNvPr id="14438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pic>
        <p:nvPicPr>
          <p:cNvPr id="7" name="Picture 7" descr="2-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2750" y="1700808"/>
            <a:ext cx="8494713" cy="469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1534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AU" sz="4400" b="1" dirty="0">
                <a:solidFill>
                  <a:srgbClr val="FFFF00"/>
                </a:solidFill>
              </a:rPr>
              <a:t>תהליך קל משקל בודד </a:t>
            </a:r>
            <a:br>
              <a:rPr lang="he-IL" altLang="en-AU" sz="4400" b="1" dirty="0">
                <a:solidFill>
                  <a:srgbClr val="FFFF00"/>
                </a:solidFill>
              </a:rPr>
            </a:br>
            <a:r>
              <a:rPr lang="he-IL" altLang="en-AU" sz="4400" b="1" dirty="0">
                <a:solidFill>
                  <a:srgbClr val="FFFF00"/>
                </a:solidFill>
              </a:rPr>
              <a:t>מול ריבוי תהליכים קלי משקל</a:t>
            </a:r>
            <a:endParaRPr lang="en-US" altLang="en-AU" sz="4400" b="1" dirty="0">
              <a:solidFill>
                <a:srgbClr val="FFFF00"/>
              </a:solidFill>
            </a:endParaRPr>
          </a:p>
        </p:txBody>
      </p:sp>
      <p:sp>
        <p:nvSpPr>
          <p:cNvPr id="151560" name="Footer Placeholder 2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grpSp>
        <p:nvGrpSpPr>
          <p:cNvPr id="18438" name="Group 3"/>
          <p:cNvGrpSpPr>
            <a:grpSpLocks/>
          </p:cNvGrpSpPr>
          <p:nvPr/>
        </p:nvGrpSpPr>
        <p:grpSpPr bwMode="auto">
          <a:xfrm>
            <a:off x="251520" y="2514600"/>
            <a:ext cx="3052763" cy="3886200"/>
            <a:chOff x="554" y="1296"/>
            <a:chExt cx="1152" cy="2352"/>
          </a:xfrm>
        </p:grpSpPr>
        <p:sp>
          <p:nvSpPr>
            <p:cNvPr id="18450" name="AutoShape 4"/>
            <p:cNvSpPr>
              <a:spLocks noChangeArrowheads="1"/>
            </p:cNvSpPr>
            <p:nvPr/>
          </p:nvSpPr>
          <p:spPr bwMode="auto">
            <a:xfrm>
              <a:off x="816" y="1296"/>
              <a:ext cx="624" cy="288"/>
            </a:xfrm>
            <a:prstGeom prst="flowChartTerminator">
              <a:avLst/>
            </a:prstGeom>
            <a:solidFill>
              <a:srgbClr val="00FFFF"/>
            </a:solidFill>
            <a:ln w="12700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3200" b="1">
                  <a:solidFill>
                    <a:schemeClr val="bg1"/>
                  </a:solidFill>
                  <a:latin typeface="Times New Roman" pitchFamily="18" charset="0"/>
                </a:rPr>
                <a:t>Start</a:t>
              </a:r>
              <a:endParaRPr lang="en-AU" altLang="he-IL" sz="4800" b="1" i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8451" name="AutoShape 5"/>
            <p:cNvSpPr>
              <a:spLocks noChangeArrowheads="1"/>
            </p:cNvSpPr>
            <p:nvPr/>
          </p:nvSpPr>
          <p:spPr bwMode="auto">
            <a:xfrm>
              <a:off x="816" y="3360"/>
              <a:ext cx="624" cy="288"/>
            </a:xfrm>
            <a:prstGeom prst="flowChartTerminator">
              <a:avLst/>
            </a:prstGeom>
            <a:solidFill>
              <a:srgbClr val="00FFFF"/>
            </a:solidFill>
            <a:ln w="12700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3200" b="1" dirty="0">
                  <a:solidFill>
                    <a:schemeClr val="bg1"/>
                  </a:solidFill>
                  <a:latin typeface="Times New Roman" pitchFamily="18" charset="0"/>
                </a:rPr>
                <a:t>End</a:t>
              </a:r>
              <a:endParaRPr lang="en-AU" altLang="he-IL" sz="4800" b="1" i="1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8452" name="AutoShape 6"/>
            <p:cNvSpPr>
              <a:spLocks noChangeArrowheads="1"/>
            </p:cNvSpPr>
            <p:nvPr/>
          </p:nvSpPr>
          <p:spPr bwMode="auto">
            <a:xfrm>
              <a:off x="554" y="1872"/>
              <a:ext cx="1152" cy="336"/>
            </a:xfrm>
            <a:prstGeom prst="flowChartProcess">
              <a:avLst/>
            </a:prstGeom>
            <a:solidFill>
              <a:srgbClr val="00FFFF"/>
            </a:solidFill>
            <a:ln w="12700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3200" b="1" dirty="0">
                  <a:solidFill>
                    <a:schemeClr val="bg1"/>
                  </a:solidFill>
                  <a:latin typeface="Times New Roman" pitchFamily="18" charset="0"/>
                </a:rPr>
                <a:t>Edit Document</a:t>
              </a:r>
            </a:p>
          </p:txBody>
        </p:sp>
        <p:sp>
          <p:nvSpPr>
            <p:cNvPr id="18453" name="AutoShape 7"/>
            <p:cNvSpPr>
              <a:spLocks noChangeArrowheads="1"/>
            </p:cNvSpPr>
            <p:nvPr/>
          </p:nvSpPr>
          <p:spPr bwMode="auto">
            <a:xfrm>
              <a:off x="554" y="2640"/>
              <a:ext cx="1152" cy="336"/>
            </a:xfrm>
            <a:prstGeom prst="flowChartProcess">
              <a:avLst/>
            </a:prstGeom>
            <a:solidFill>
              <a:srgbClr val="00FFFF"/>
            </a:solidFill>
            <a:ln w="12700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3200" b="1" dirty="0">
                  <a:solidFill>
                    <a:schemeClr val="bg1"/>
                  </a:solidFill>
                  <a:latin typeface="Times New Roman" pitchFamily="18" charset="0"/>
                </a:rPr>
                <a:t>Print Document</a:t>
              </a:r>
            </a:p>
          </p:txBody>
        </p:sp>
        <p:sp>
          <p:nvSpPr>
            <p:cNvPr id="18454" name="Line 8"/>
            <p:cNvSpPr>
              <a:spLocks noChangeShapeType="1"/>
            </p:cNvSpPr>
            <p:nvPr/>
          </p:nvSpPr>
          <p:spPr bwMode="auto">
            <a:xfrm>
              <a:off x="1128" y="158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800"/>
            </a:p>
          </p:txBody>
        </p:sp>
        <p:sp>
          <p:nvSpPr>
            <p:cNvPr id="18455" name="Line 9"/>
            <p:cNvSpPr>
              <a:spLocks noChangeShapeType="1"/>
            </p:cNvSpPr>
            <p:nvPr/>
          </p:nvSpPr>
          <p:spPr bwMode="auto">
            <a:xfrm>
              <a:off x="1128" y="2256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800"/>
            </a:p>
          </p:txBody>
        </p:sp>
        <p:sp>
          <p:nvSpPr>
            <p:cNvPr id="18456" name="Line 10"/>
            <p:cNvSpPr>
              <a:spLocks noChangeShapeType="1"/>
            </p:cNvSpPr>
            <p:nvPr/>
          </p:nvSpPr>
          <p:spPr bwMode="auto">
            <a:xfrm>
              <a:off x="1128" y="2976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800"/>
            </a:p>
          </p:txBody>
        </p:sp>
      </p:grpSp>
      <p:sp>
        <p:nvSpPr>
          <p:cNvPr id="18439" name="Text Box 11"/>
          <p:cNvSpPr txBox="1">
            <a:spLocks noChangeArrowheads="1"/>
          </p:cNvSpPr>
          <p:nvPr/>
        </p:nvSpPr>
        <p:spPr bwMode="auto">
          <a:xfrm>
            <a:off x="1065939" y="1689607"/>
            <a:ext cx="24432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AU" altLang="he-IL" sz="2800" b="1" i="1" dirty="0">
                <a:latin typeface="Times New Roman" pitchFamily="18" charset="0"/>
              </a:rPr>
              <a:t>Single </a:t>
            </a:r>
            <a:r>
              <a:rPr lang="en-AU" altLang="he-IL" sz="3200" b="1" i="1" dirty="0">
                <a:latin typeface="Times New Roman" pitchFamily="18" charset="0"/>
              </a:rPr>
              <a:t>Thread</a:t>
            </a:r>
            <a:endParaRPr lang="en-AU" altLang="he-IL" sz="2800" b="1" i="1" dirty="0">
              <a:latin typeface="Times New Roman" pitchFamily="18" charset="0"/>
            </a:endParaRPr>
          </a:p>
        </p:txBody>
      </p:sp>
      <p:sp>
        <p:nvSpPr>
          <p:cNvPr id="18440" name="Text Box 12"/>
          <p:cNvSpPr txBox="1">
            <a:spLocks noChangeArrowheads="1"/>
          </p:cNvSpPr>
          <p:nvPr/>
        </p:nvSpPr>
        <p:spPr bwMode="auto">
          <a:xfrm>
            <a:off x="4837117" y="1689607"/>
            <a:ext cx="2920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rtl="0">
              <a:spcBef>
                <a:spcPct val="50000"/>
              </a:spcBef>
            </a:pPr>
            <a:r>
              <a:rPr lang="en-AU" altLang="he-IL" sz="2800" b="1" i="1" dirty="0">
                <a:latin typeface="Times New Roman" pitchFamily="18" charset="0"/>
              </a:rPr>
              <a:t>Multiple </a:t>
            </a:r>
            <a:r>
              <a:rPr lang="en-AU" altLang="he-IL" sz="3200" b="1" i="1" dirty="0">
                <a:latin typeface="Times New Roman" pitchFamily="18" charset="0"/>
              </a:rPr>
              <a:t>Threads</a:t>
            </a:r>
            <a:endParaRPr lang="en-AU" altLang="he-IL" sz="2800" b="1" i="1" dirty="0">
              <a:latin typeface="Times New Roman" pitchFamily="18" charset="0"/>
            </a:endParaRPr>
          </a:p>
        </p:txBody>
      </p:sp>
      <p:grpSp>
        <p:nvGrpSpPr>
          <p:cNvPr id="18441" name="Group 13"/>
          <p:cNvGrpSpPr>
            <a:grpSpLocks/>
          </p:cNvGrpSpPr>
          <p:nvPr/>
        </p:nvGrpSpPr>
        <p:grpSpPr bwMode="auto">
          <a:xfrm>
            <a:off x="3707904" y="2514600"/>
            <a:ext cx="5184575" cy="3722712"/>
            <a:chOff x="3024" y="1584"/>
            <a:chExt cx="2544" cy="2160"/>
          </a:xfrm>
        </p:grpSpPr>
        <p:sp>
          <p:nvSpPr>
            <p:cNvPr id="18442" name="AutoShape 14"/>
            <p:cNvSpPr>
              <a:spLocks noChangeArrowheads="1"/>
            </p:cNvSpPr>
            <p:nvPr/>
          </p:nvSpPr>
          <p:spPr bwMode="auto">
            <a:xfrm>
              <a:off x="4032" y="3480"/>
              <a:ext cx="624" cy="264"/>
            </a:xfrm>
            <a:prstGeom prst="flowChartTerminator">
              <a:avLst/>
            </a:prstGeom>
            <a:solidFill>
              <a:srgbClr val="FFFF00"/>
            </a:solidFill>
            <a:ln w="12700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>
                  <a:solidFill>
                    <a:schemeClr val="bg1"/>
                  </a:solidFill>
                  <a:latin typeface="Times New Roman" pitchFamily="18" charset="0"/>
                </a:rPr>
                <a:t>End</a:t>
              </a:r>
              <a:endParaRPr lang="en-AU" altLang="he-IL" sz="4400" b="1" i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8443" name="AutoShape 15"/>
            <p:cNvSpPr>
              <a:spLocks noChangeArrowheads="1"/>
            </p:cNvSpPr>
            <p:nvPr/>
          </p:nvSpPr>
          <p:spPr bwMode="auto">
            <a:xfrm>
              <a:off x="3024" y="2642"/>
              <a:ext cx="1200" cy="309"/>
            </a:xfrm>
            <a:prstGeom prst="flowChartProcess">
              <a:avLst/>
            </a:prstGeom>
            <a:solidFill>
              <a:srgbClr val="FFFF00"/>
            </a:solidFill>
            <a:ln w="12700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 dirty="0">
                  <a:solidFill>
                    <a:schemeClr val="bg1"/>
                  </a:solidFill>
                  <a:latin typeface="Times New Roman" pitchFamily="18" charset="0"/>
                </a:rPr>
                <a:t>Edit Document</a:t>
              </a:r>
            </a:p>
          </p:txBody>
        </p:sp>
        <p:sp>
          <p:nvSpPr>
            <p:cNvPr id="18444" name="Line 16"/>
            <p:cNvSpPr>
              <a:spLocks noChangeShapeType="1"/>
            </p:cNvSpPr>
            <p:nvPr/>
          </p:nvSpPr>
          <p:spPr bwMode="auto">
            <a:xfrm flipH="1">
              <a:off x="3504" y="1824"/>
              <a:ext cx="72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400"/>
            </a:p>
          </p:txBody>
        </p:sp>
        <p:sp>
          <p:nvSpPr>
            <p:cNvPr id="18445" name="Line 17"/>
            <p:cNvSpPr>
              <a:spLocks noChangeShapeType="1"/>
            </p:cNvSpPr>
            <p:nvPr/>
          </p:nvSpPr>
          <p:spPr bwMode="auto">
            <a:xfrm>
              <a:off x="4224" y="1848"/>
              <a:ext cx="816" cy="7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400"/>
            </a:p>
          </p:txBody>
        </p:sp>
        <p:sp>
          <p:nvSpPr>
            <p:cNvPr id="18446" name="Line 18"/>
            <p:cNvSpPr>
              <a:spLocks noChangeShapeType="1"/>
            </p:cNvSpPr>
            <p:nvPr/>
          </p:nvSpPr>
          <p:spPr bwMode="auto">
            <a:xfrm>
              <a:off x="3552" y="2951"/>
              <a:ext cx="768" cy="5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400"/>
            </a:p>
          </p:txBody>
        </p:sp>
        <p:sp>
          <p:nvSpPr>
            <p:cNvPr id="18447" name="Line 19"/>
            <p:cNvSpPr>
              <a:spLocks noChangeShapeType="1"/>
            </p:cNvSpPr>
            <p:nvPr/>
          </p:nvSpPr>
          <p:spPr bwMode="auto">
            <a:xfrm flipH="1">
              <a:off x="4368" y="2928"/>
              <a:ext cx="624" cy="5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400"/>
            </a:p>
          </p:txBody>
        </p:sp>
        <p:sp>
          <p:nvSpPr>
            <p:cNvPr id="18448" name="AutoShape 20"/>
            <p:cNvSpPr>
              <a:spLocks noChangeArrowheads="1"/>
            </p:cNvSpPr>
            <p:nvPr/>
          </p:nvSpPr>
          <p:spPr bwMode="auto">
            <a:xfrm>
              <a:off x="3936" y="1584"/>
              <a:ext cx="624" cy="264"/>
            </a:xfrm>
            <a:prstGeom prst="flowChartTerminator">
              <a:avLst/>
            </a:prstGeom>
            <a:solidFill>
              <a:srgbClr val="FFFF00"/>
            </a:solidFill>
            <a:ln w="12700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 dirty="0">
                  <a:solidFill>
                    <a:schemeClr val="bg1"/>
                  </a:solidFill>
                  <a:latin typeface="Times New Roman" pitchFamily="18" charset="0"/>
                </a:rPr>
                <a:t>Start</a:t>
              </a:r>
              <a:endParaRPr lang="en-AU" altLang="he-IL" sz="4400" b="1" i="1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8449" name="AutoShape 21"/>
            <p:cNvSpPr>
              <a:spLocks noChangeArrowheads="1"/>
            </p:cNvSpPr>
            <p:nvPr/>
          </p:nvSpPr>
          <p:spPr bwMode="auto">
            <a:xfrm>
              <a:off x="4320" y="2642"/>
              <a:ext cx="1248" cy="309"/>
            </a:xfrm>
            <a:prstGeom prst="flowChartProcess">
              <a:avLst/>
            </a:prstGeom>
            <a:solidFill>
              <a:srgbClr val="FFFF00"/>
            </a:solidFill>
            <a:ln w="12700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 dirty="0">
                  <a:solidFill>
                    <a:schemeClr val="bg1"/>
                  </a:solidFill>
                  <a:latin typeface="Times New Roman" pitchFamily="18" charset="0"/>
                </a:rPr>
                <a:t>Print Document</a:t>
              </a:r>
              <a:endParaRPr lang="en-AU" altLang="he-IL" sz="3200" b="1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609600"/>
            <a:ext cx="8712968" cy="947192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en-GB" sz="4000" b="1" dirty="0" smtClean="0">
                <a:solidFill>
                  <a:srgbClr val="FFFF00"/>
                </a:solidFill>
                <a:effectLst/>
              </a:rPr>
              <a:t>יתרונות בכתיבת ריבוי תהליכים </a:t>
            </a:r>
            <a:br>
              <a:rPr lang="he-IL" altLang="en-GB" sz="4000" b="1" dirty="0" smtClean="0">
                <a:solidFill>
                  <a:srgbClr val="FFFF00"/>
                </a:solidFill>
                <a:effectLst/>
              </a:rPr>
            </a:br>
            <a:r>
              <a:rPr lang="he-IL" altLang="en-GB" sz="4000" b="1" dirty="0" smtClean="0">
                <a:solidFill>
                  <a:srgbClr val="FFFF00"/>
                </a:solidFill>
                <a:effectLst/>
              </a:rPr>
              <a:t>קלי משקל</a:t>
            </a:r>
            <a:endParaRPr lang="en-US" altLang="en-GB" sz="4000" b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152581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42342" name="Rectangle 3"/>
          <p:cNvSpPr>
            <a:spLocks noChangeArrowheads="1"/>
          </p:cNvSpPr>
          <p:nvPr/>
        </p:nvSpPr>
        <p:spPr bwMode="auto">
          <a:xfrm>
            <a:off x="1066800" y="1752600"/>
            <a:ext cx="7620000" cy="343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81000" indent="-381000" algn="just" eaLnBrk="0" hangingPunc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Symbol" pitchFamily="18" charset="2"/>
              <a:buChar char="·"/>
              <a:defRPr/>
            </a:pPr>
            <a:r>
              <a:rPr lang="he-IL" altLang="he-IL" sz="3200" b="1" dirty="0">
                <a:latin typeface="Times New Roman" pitchFamily="18" charset="0"/>
                <a:cs typeface="+mn-cs"/>
              </a:rPr>
              <a:t> </a:t>
            </a:r>
            <a:r>
              <a:rPr lang="he-IL" altLang="en-GB" sz="3200" b="1" dirty="0">
                <a:latin typeface="Times New Roman" pitchFamily="18" charset="0"/>
                <a:cs typeface="+mn-cs"/>
              </a:rPr>
              <a:t>הרווח בעת הביצוע של ריבוי עיבודים קלי משקל הוא שימוש מקבילי של חומרה</a:t>
            </a:r>
            <a:endParaRPr lang="en-US" altLang="en-GB" sz="3200" b="1" dirty="0">
              <a:latin typeface="Times New Roman" pitchFamily="18" charset="0"/>
              <a:cs typeface="+mn-cs"/>
            </a:endParaRPr>
          </a:p>
          <a:p>
            <a:pPr marL="381000" indent="-381000" algn="just" eaLnBrk="0" hangingPunc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Symbol" pitchFamily="18" charset="2"/>
              <a:buChar char="·"/>
              <a:defRPr/>
            </a:pPr>
            <a:r>
              <a:rPr lang="he-IL" altLang="en-GB" sz="3200" b="1" dirty="0">
                <a:latin typeface="Times New Roman" pitchFamily="18" charset="0"/>
                <a:cs typeface="+mn-cs"/>
              </a:rPr>
              <a:t>מגדיל את תשומת היתר של האפליקציות</a:t>
            </a:r>
            <a:endParaRPr lang="en-US" altLang="en-GB" sz="3200" b="1" dirty="0">
              <a:latin typeface="Times New Roman" pitchFamily="18" charset="0"/>
              <a:cs typeface="+mn-cs"/>
            </a:endParaRPr>
          </a:p>
          <a:p>
            <a:pPr marL="381000" indent="-381000" algn="just" eaLnBrk="0" hangingPunc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Symbol" pitchFamily="18" charset="2"/>
              <a:buChar char="·"/>
              <a:defRPr/>
            </a:pPr>
            <a:r>
              <a:rPr lang="he-IL" altLang="en-GB" sz="3200" b="1" dirty="0">
                <a:latin typeface="Times New Roman" pitchFamily="18" charset="0"/>
                <a:cs typeface="+mn-cs"/>
              </a:rPr>
              <a:t>מגדיל את היענות האפליקציות</a:t>
            </a:r>
            <a:endParaRPr lang="en-US" altLang="en-GB" sz="3200" b="1" dirty="0">
              <a:latin typeface="Times New Roman" pitchFamily="18" charset="0"/>
              <a:cs typeface="+mn-cs"/>
            </a:endParaRPr>
          </a:p>
          <a:p>
            <a:pPr marL="381000" indent="-381000" algn="just" eaLnBrk="0" hangingPunc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Symbol" pitchFamily="18" charset="2"/>
              <a:buChar char="·"/>
              <a:defRPr/>
            </a:pPr>
            <a:r>
              <a:rPr lang="he-IL" altLang="en-GB" sz="3200" b="1" dirty="0">
                <a:latin typeface="Times New Roman" pitchFamily="18" charset="0"/>
                <a:cs typeface="+mn-cs"/>
              </a:rPr>
              <a:t> הגברת התקשורת בין תהליכים</a:t>
            </a:r>
            <a:endParaRPr lang="en-US" altLang="en-GB" sz="3200" b="1" dirty="0">
              <a:latin typeface="Times New Roman" pitchFamily="18" charset="0"/>
              <a:cs typeface="+mn-cs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356"/>
            <a:ext cx="8229600" cy="682180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he-IL" altLang="he-IL" sz="4400" b="1" dirty="0" smtClean="0">
                <a:solidFill>
                  <a:srgbClr val="FFFF00"/>
                </a:solidFill>
              </a:rPr>
              <a:t>מקביליות </a:t>
            </a:r>
            <a:r>
              <a:rPr lang="en-GB" altLang="he-IL" sz="4400" b="1" dirty="0" smtClean="0">
                <a:solidFill>
                  <a:srgbClr val="FFFF00"/>
                </a:solidFill>
              </a:rPr>
              <a:t>Parallelism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011238" y="1898650"/>
            <a:ext cx="7556500" cy="2963863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smtClean="0"/>
              <a:t> תהליכים קלי משקל שונים יכולים לרוץ במעבדים שונים באופן מקבילי בו זמנית.</a:t>
            </a:r>
            <a:endParaRPr lang="en-US" altLang="en-GB" b="1" smtClean="0"/>
          </a:p>
          <a:p>
            <a:pPr algn="just" eaLnBrk="1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smtClean="0"/>
              <a:t> ריצה מקבילה אינה מצריכה קלטים מיוחדים מהמשתמש ולא מאמץ מיוחד מכיוונו של המתכנת.</a:t>
            </a:r>
            <a:endParaRPr lang="en-GB" altLang="he-IL" b="1" smtClean="0"/>
          </a:p>
          <a:p>
            <a:pPr algn="just" eaLnBrk="1" hangingPunct="1">
              <a:lnSpc>
                <a:spcPct val="120000"/>
              </a:lnSpc>
            </a:pPr>
            <a:endParaRPr lang="en-GB" altLang="en-AU" b="1" smtClean="0"/>
          </a:p>
        </p:txBody>
      </p:sp>
      <p:sp>
        <p:nvSpPr>
          <p:cNvPr id="153605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356"/>
            <a:ext cx="8229600" cy="682180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en-GB" altLang="he-IL" sz="4400" b="1" dirty="0" smtClean="0">
                <a:solidFill>
                  <a:srgbClr val="FFFF00"/>
                </a:solidFill>
              </a:rPr>
              <a:t>Throughput</a:t>
            </a:r>
            <a:endParaRPr lang="en-GB" altLang="he-IL" sz="4400" dirty="0" smtClean="0">
              <a:solidFill>
                <a:srgbClr val="FFFF00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19422" y="1628800"/>
            <a:ext cx="8401050" cy="4648200"/>
          </a:xfrm>
        </p:spPr>
        <p:txBody>
          <a:bodyPr/>
          <a:lstStyle/>
          <a:p>
            <a:pPr algn="just" eaLnBrk="1" hangingPunct="1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he-IL" b="1" dirty="0" smtClean="0"/>
              <a:t> </a:t>
            </a:r>
            <a:r>
              <a:rPr lang="he-IL" altLang="en-GB" b="1" dirty="0" smtClean="0"/>
              <a:t>כאשר </a:t>
            </a:r>
            <a:r>
              <a:rPr lang="he-IL" altLang="en-GB" b="1" dirty="0" err="1" smtClean="0"/>
              <a:t>תוכנית</a:t>
            </a:r>
            <a:r>
              <a:rPr lang="he-IL" altLang="en-GB" b="1" dirty="0" smtClean="0"/>
              <a:t> בעלת תהליך קל משקל מסורתי מבקשת שירות ממערכת ההפעלה, היא חייבת להמתין עד אשר יסתיים אותו שרות, לפעמים ע”י יציאה מהיע”מ </a:t>
            </a:r>
            <a:r>
              <a:rPr lang="en-US" altLang="en-GB" b="1" dirty="0" smtClean="0"/>
              <a:t>-</a:t>
            </a:r>
            <a:r>
              <a:rPr lang="he-IL" altLang="en-GB" b="1" dirty="0" smtClean="0"/>
              <a:t>יחידת העיבוד המרכזית - </a:t>
            </a:r>
            <a:r>
              <a:rPr lang="en-GB" altLang="he-IL" b="1" dirty="0" smtClean="0"/>
              <a:t>CPU</a:t>
            </a:r>
          </a:p>
          <a:p>
            <a:pPr algn="just" eaLnBrk="1" hangingPunct="1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he-IL" b="1" dirty="0" smtClean="0"/>
              <a:t> </a:t>
            </a:r>
            <a:r>
              <a:rPr lang="he-IL" altLang="en-GB" b="1" dirty="0" smtClean="0"/>
              <a:t>ריבוי תהליכים קלי משקל מאפשר התקדמות על אף שתהליך קל משקל אחד או יותר ממתינים לאירוע כל עוד שאר התהליכים קלי משקל פעילים</a:t>
            </a:r>
            <a:endParaRPr lang="en-US" altLang="en-GB" b="1" dirty="0" smtClean="0"/>
          </a:p>
          <a:p>
            <a:pPr algn="just" eaLnBrk="1" hangingPunct="1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endParaRPr lang="en-GB" altLang="he-IL" b="1" dirty="0" smtClean="0"/>
          </a:p>
        </p:txBody>
      </p:sp>
      <p:sp>
        <p:nvSpPr>
          <p:cNvPr id="15462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508000"/>
            <a:ext cx="7556500" cy="741363"/>
          </a:xfrm>
        </p:spPr>
        <p:txBody>
          <a:bodyPr>
            <a:noAutofit/>
          </a:bodyPr>
          <a:lstStyle/>
          <a:p>
            <a:pPr marL="54864" indent="0" algn="ctr" eaLnBrk="1" fontAlgn="auto" hangingPunct="1">
              <a:spcAft>
                <a:spcPts val="0"/>
              </a:spcAft>
              <a:defRPr/>
            </a:pPr>
            <a:r>
              <a:rPr lang="en-GB" altLang="en-AU" sz="4400" b="1" dirty="0" smtClean="0">
                <a:solidFill>
                  <a:srgbClr val="FFFF00"/>
                </a:solidFill>
              </a:rPr>
              <a:t>R</a:t>
            </a:r>
            <a:r>
              <a:rPr lang="en-GB" altLang="he-IL" sz="4400" b="1" dirty="0" smtClean="0">
                <a:solidFill>
                  <a:srgbClr val="FFFF00"/>
                </a:solidFill>
              </a:rPr>
              <a:t>esponsiveness  </a:t>
            </a:r>
            <a:r>
              <a:rPr lang="he-IL" altLang="he-IL" sz="4400" b="1" dirty="0" smtClean="0">
                <a:solidFill>
                  <a:srgbClr val="FFFF00"/>
                </a:solidFill>
              </a:rPr>
              <a:t> </a:t>
            </a:r>
            <a:r>
              <a:rPr lang="he-IL" altLang="en-GB" sz="4400" b="1" dirty="0" smtClean="0">
                <a:solidFill>
                  <a:srgbClr val="FFFF00"/>
                </a:solidFill>
              </a:rPr>
              <a:t>היענות</a:t>
            </a:r>
            <a:r>
              <a:rPr lang="en-US" altLang="en-GB" sz="4400" b="1" dirty="0" smtClean="0">
                <a:solidFill>
                  <a:srgbClr val="FFFF00"/>
                </a:solidFill>
              </a:rPr>
              <a:t> </a:t>
            </a:r>
            <a:endParaRPr lang="en-GB" altLang="he-IL" sz="4400" b="1" dirty="0" smtClean="0">
              <a:solidFill>
                <a:srgbClr val="FFFF00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357313"/>
            <a:ext cx="8329612" cy="4748212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he-IL" b="1" smtClean="0"/>
              <a:t> </a:t>
            </a:r>
            <a:r>
              <a:rPr lang="he-IL" altLang="en-GB" b="1" smtClean="0"/>
              <a:t>חסימתו של חלק מהתהליך חייבת לוודא כי לא נחסם כל התהליך. </a:t>
            </a:r>
          </a:p>
          <a:p>
            <a:pPr algn="just" eaLnBrk="1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smtClean="0"/>
              <a:t>אפליקציה של תהליך קל משקל בודד המבצעת משימה ארוכה מציגה מצב בו כפתור לחוץ מראה “</a:t>
            </a:r>
            <a:r>
              <a:rPr lang="he-IL" altLang="en-GB" b="1" smtClean="0">
                <a:solidFill>
                  <a:srgbClr val="FFFF00"/>
                </a:solidFill>
              </a:rPr>
              <a:t>אנא המתן</a:t>
            </a:r>
            <a:r>
              <a:rPr lang="he-IL" altLang="en-GB" b="1" smtClean="0"/>
              <a:t>” כל זמן שהפעילות מתבצעת.</a:t>
            </a:r>
            <a:endParaRPr lang="en-US" altLang="en-GB" b="1" smtClean="0"/>
          </a:p>
          <a:p>
            <a:pPr algn="just" eaLnBrk="1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smtClean="0"/>
              <a:t> אם האפליקציה היא ריבוי תהליכים קלי משקל, ביצוע ארוך שלה מתבצע ע”י תהליכים קלי משקל עצמאיים, אלה מאפשרים לאפליקציה להישאר פעילה ולהתבצע באופן יותר  חיובי כלפי המשתמש.</a:t>
            </a:r>
            <a:endParaRPr lang="en-GB" altLang="he-IL" b="1" smtClean="0"/>
          </a:p>
        </p:txBody>
      </p:sp>
      <p:sp>
        <p:nvSpPr>
          <p:cNvPr id="155653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571625"/>
            <a:ext cx="8201025" cy="4419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he-IL" b="1" dirty="0" smtClean="0"/>
              <a:t> </a:t>
            </a:r>
            <a:r>
              <a:rPr lang="he-IL" altLang="en-GB" b="1" dirty="0" smtClean="0"/>
              <a:t>אפליקציה המשתמשת בריבוי מעבדים להשלמת המשימות שלה, יכולה להיות מוחלפת ע”י אפליקציה המשתמשת בריבוי תהליכים קלי משקל להשלמת אותן משימות</a:t>
            </a:r>
            <a:endParaRPr lang="en-US" altLang="en-GB" b="1" dirty="0" smtClean="0"/>
          </a:p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dirty="0" smtClean="0"/>
              <a:t> תקשורת בין תהליכים דרך שיטת תקשורת מסורתית המשתמשת בציוד סדיר וידוע כשקעים ותקעים</a:t>
            </a:r>
            <a:endParaRPr lang="en-US" altLang="en-GB" b="1" dirty="0" smtClean="0"/>
          </a:p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he-IL" altLang="en-GB" b="1" dirty="0" smtClean="0"/>
              <a:t>מיסודן אפליקציות של תהליכים קלי משקל משתמשות בזיכרון המשותף של התהליך  </a:t>
            </a:r>
            <a:endParaRPr lang="en-US" altLang="en-GB" b="1" dirty="0" smtClean="0"/>
          </a:p>
        </p:txBody>
      </p:sp>
      <p:sp>
        <p:nvSpPr>
          <p:cNvPr id="156677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75408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he-IL" altLang="en-GB" sz="4400" b="1" dirty="0" smtClean="0">
                <a:solidFill>
                  <a:srgbClr val="FFFF00"/>
                </a:solidFill>
              </a:rPr>
              <a:t>תקשורתיות</a:t>
            </a:r>
            <a:r>
              <a:rPr lang="he-IL" altLang="he-IL" sz="4400" b="1" dirty="0" smtClean="0">
                <a:solidFill>
                  <a:srgbClr val="FFFF00"/>
                </a:solidFill>
              </a:rPr>
              <a:t> </a:t>
            </a:r>
            <a:r>
              <a:rPr lang="en-GB" altLang="he-IL" sz="4400" b="1" dirty="0" smtClean="0">
                <a:solidFill>
                  <a:srgbClr val="FFFF00"/>
                </a:solidFill>
              </a:rPr>
              <a:t>Communications</a:t>
            </a:r>
            <a:endParaRPr lang="he-IL" sz="44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42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400" b="1" dirty="0">
                <a:solidFill>
                  <a:srgbClr val="FFFF00"/>
                </a:solidFill>
              </a:rPr>
              <a:t>עלות ריבוי תהליכים</a:t>
            </a:r>
            <a:endParaRPr lang="en-GB" sz="4400" b="1" dirty="0">
              <a:solidFill>
                <a:srgbClr val="FFFF00"/>
              </a:solidFill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381" y="1423554"/>
            <a:ext cx="8229600" cy="4525962"/>
          </a:xfrm>
        </p:spPr>
        <p:txBody>
          <a:bodyPr/>
          <a:lstStyle/>
          <a:p>
            <a:r>
              <a:rPr lang="he-IL" sz="3600" b="1" dirty="0" smtClean="0"/>
              <a:t>תהליכים דורשים משאבי מערכת רבים</a:t>
            </a:r>
          </a:p>
          <a:p>
            <a:pPr lvl="1"/>
            <a:r>
              <a:rPr lang="he-IL" sz="2800" b="1" dirty="0" smtClean="0"/>
              <a:t>מרחב כתובות, גישה לקלט/פלט </a:t>
            </a:r>
            <a:r>
              <a:rPr lang="en-US" sz="2800" b="1" dirty="0" smtClean="0"/>
              <a:t>(file table)</a:t>
            </a:r>
            <a:r>
              <a:rPr lang="he-IL" sz="2800" b="1" dirty="0" smtClean="0"/>
              <a:t>...</a:t>
            </a:r>
            <a:endParaRPr lang="en-US" sz="2800" b="1" dirty="0" smtClean="0"/>
          </a:p>
          <a:p>
            <a:r>
              <a:rPr lang="he-IL" sz="3600" b="1" dirty="0" smtClean="0"/>
              <a:t>זימון תהליכים הינו פעולה כבדה</a:t>
            </a:r>
          </a:p>
          <a:p>
            <a:pPr lvl="1"/>
            <a:r>
              <a:rPr lang="en-US" sz="2800" b="1" dirty="0" smtClean="0"/>
              <a:t>context switch</a:t>
            </a:r>
            <a:r>
              <a:rPr lang="he-IL" sz="2800" b="1" dirty="0" smtClean="0"/>
              <a:t> לוקח הרבה זמן.</a:t>
            </a:r>
          </a:p>
          <a:p>
            <a:r>
              <a:rPr lang="he-IL" sz="3600" b="1" dirty="0" smtClean="0"/>
              <a:t>תקשורת בין תהליכים עוברת 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he-IL" sz="3600" b="1" dirty="0" smtClean="0"/>
              <a:t>דרך מערכת ההפעלה</a:t>
            </a:r>
          </a:p>
          <a:p>
            <a:pPr lvl="1"/>
            <a:r>
              <a:rPr lang="he-IL" sz="2800" b="1" dirty="0" smtClean="0"/>
              <a:t>מערכת ההפעלה שומרת על הגבולות 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he-IL" sz="2800" b="1" dirty="0" smtClean="0"/>
              <a:t>בין תהליכים שונים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44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dirty="0" smtClean="0">
                <a:solidFill>
                  <a:srgbClr val="FFFF00"/>
                </a:solidFill>
              </a:rPr>
              <a:t>הכי טבעי </a:t>
            </a:r>
            <a:r>
              <a:rPr lang="he-IL" sz="4800" b="1" dirty="0">
                <a:solidFill>
                  <a:srgbClr val="FFFF00"/>
                </a:solidFill>
              </a:rPr>
              <a:t>לי מקבילי</a:t>
            </a:r>
            <a:endParaRPr lang="en-GB" sz="4800" b="1" dirty="0">
              <a:solidFill>
                <a:srgbClr val="FFFF00"/>
              </a:solidFill>
            </a:endParaRPr>
          </a:p>
        </p:txBody>
      </p:sp>
      <p:sp>
        <p:nvSpPr>
          <p:cNvPr id="104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528216"/>
            <a:ext cx="8507288" cy="46370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sz="2800" b="1" dirty="0" smtClean="0"/>
              <a:t>במקרים רבים קל יותר לפתור בעיות באמצעות ריבוי תהליכים</a:t>
            </a:r>
          </a:p>
          <a:p>
            <a:pPr>
              <a:buFont typeface="Wingdings" pitchFamily="2" charset="2"/>
              <a:buNone/>
            </a:pPr>
            <a:r>
              <a:rPr lang="he-IL" sz="2800" b="1" dirty="0" smtClean="0"/>
              <a:t>דוגמא 1: מעבד תמלילים</a:t>
            </a:r>
          </a:p>
          <a:p>
            <a:pPr lvl="1"/>
            <a:r>
              <a:rPr lang="he-IL" sz="2400" b="1" dirty="0" smtClean="0"/>
              <a:t>מציג פלט, ממתין לקלט מהמשתמש, בודק איות,...</a:t>
            </a:r>
          </a:p>
          <a:p>
            <a:pPr>
              <a:buFont typeface="Wingdings" pitchFamily="2" charset="2"/>
              <a:buNone/>
            </a:pPr>
            <a:r>
              <a:rPr lang="he-IL" sz="2800" b="1" dirty="0" smtClean="0"/>
              <a:t>דוגמא 2: שרת קבצים / דואר</a:t>
            </a:r>
          </a:p>
          <a:p>
            <a:pPr lvl="1"/>
            <a:r>
              <a:rPr lang="he-IL" sz="2400" b="1" dirty="0" smtClean="0"/>
              <a:t>ממתין לקבל בקשה</a:t>
            </a:r>
          </a:p>
          <a:p>
            <a:pPr lvl="1"/>
            <a:r>
              <a:rPr lang="he-IL" sz="2400" b="1" dirty="0" smtClean="0"/>
              <a:t>כאשר מקבל בקשה, חייב להפסיק לחכות ולעבור לטפל בבקשה</a:t>
            </a:r>
          </a:p>
          <a:p>
            <a:pPr>
              <a:buFont typeface="Wingdings" pitchFamily="2" charset="2"/>
              <a:buNone/>
            </a:pPr>
            <a:r>
              <a:rPr lang="he-IL" sz="2800" b="1" dirty="0" smtClean="0"/>
              <a:t>פתרון: </a:t>
            </a:r>
          </a:p>
          <a:p>
            <a:pPr lvl="1"/>
            <a:r>
              <a:rPr lang="he-IL" sz="2400" b="1" dirty="0" smtClean="0"/>
              <a:t>לבצע </a:t>
            </a:r>
            <a:r>
              <a:rPr lang="en-US" sz="2400" b="1" dirty="0" smtClean="0"/>
              <a:t>fork</a:t>
            </a:r>
            <a:endParaRPr lang="he-IL" sz="2400" b="1" dirty="0" smtClean="0"/>
          </a:p>
          <a:p>
            <a:pPr lvl="1"/>
            <a:r>
              <a:rPr lang="he-IL" sz="2400" b="1" dirty="0" smtClean="0"/>
              <a:t>תהליך הבן מטפל בבקשה שהגיעה</a:t>
            </a:r>
          </a:p>
          <a:p>
            <a:pPr lvl="1"/>
            <a:r>
              <a:rPr lang="he-IL" sz="2400" b="1" dirty="0" smtClean="0"/>
              <a:t>האב ממשיך להמתין לבקשות חדשות</a:t>
            </a:r>
          </a:p>
          <a:p>
            <a:pPr>
              <a:buFont typeface="Wingdings" pitchFamily="2" charset="2"/>
              <a:buNone/>
            </a:pPr>
            <a:r>
              <a:rPr lang="he-IL" sz="2800" b="1" dirty="0" smtClean="0"/>
              <a:t>זה פתרון לא-יעיל כי מחייב הקצאת מרחב כתובות, </a:t>
            </a:r>
            <a:r>
              <a:rPr lang="en-US" sz="2800" b="1" dirty="0" smtClean="0"/>
              <a:t>PCB</a:t>
            </a:r>
            <a:r>
              <a:rPr lang="he-IL" sz="2800" b="1" dirty="0" smtClean="0"/>
              <a:t>...</a:t>
            </a:r>
            <a:endParaRPr lang="en-GB" sz="28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4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he-IL" b="1" dirty="0">
                <a:solidFill>
                  <a:srgbClr val="FFFF00"/>
                </a:solidFill>
              </a:rPr>
              <a:t>שומרי משקל</a:t>
            </a:r>
            <a:endParaRPr lang="en-GB" b="1" dirty="0">
              <a:solidFill>
                <a:srgbClr val="FFFF00"/>
              </a:solidFill>
            </a:endParaRPr>
          </a:p>
        </p:txBody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 smtClean="0"/>
              <a:t>התהליכים שנוצרים לטיפול בבקשות דומים זה לזה:</a:t>
            </a:r>
          </a:p>
          <a:p>
            <a:pPr lvl="1"/>
            <a:r>
              <a:rPr lang="he-IL" b="1" dirty="0" smtClean="0"/>
              <a:t>אותו קוד</a:t>
            </a:r>
          </a:p>
          <a:p>
            <a:pPr lvl="1"/>
            <a:r>
              <a:rPr lang="he-IL" b="1" dirty="0" smtClean="0"/>
              <a:t>אותם משאבים ונתונים</a:t>
            </a:r>
          </a:p>
          <a:p>
            <a:r>
              <a:rPr lang="he-IL" b="1" dirty="0" smtClean="0"/>
              <a:t>אבל לא זהים:</a:t>
            </a:r>
          </a:p>
          <a:p>
            <a:pPr lvl="1"/>
            <a:r>
              <a:rPr lang="he-IL" b="1" dirty="0" smtClean="0"/>
              <a:t>מטפלים בבקשות שונות</a:t>
            </a:r>
          </a:p>
          <a:p>
            <a:pPr lvl="1"/>
            <a:r>
              <a:rPr lang="he-IL" b="1" dirty="0" smtClean="0"/>
              <a:t>נמצאים בשלבים שונים במהלך הטיפול</a:t>
            </a:r>
          </a:p>
          <a:p>
            <a:pPr>
              <a:buFont typeface="Wingdings" pitchFamily="2" charset="2"/>
              <a:buNone/>
            </a:pPr>
            <a:endParaRPr lang="he-IL" b="1" dirty="0" smtClean="0"/>
          </a:p>
          <a:p>
            <a:pPr>
              <a:buFont typeface="Wingdings" pitchFamily="2" charset="2"/>
              <a:buNone/>
            </a:pPr>
            <a:r>
              <a:rPr lang="he-IL" b="1" dirty="0" smtClean="0"/>
              <a:t>           תהליכים-דייאט (</a:t>
            </a:r>
            <a:r>
              <a:rPr lang="en-US" sz="2400" b="1" dirty="0" smtClean="0"/>
              <a:t>lightweight processes</a:t>
            </a:r>
            <a:r>
              <a:rPr lang="he-IL" b="1" dirty="0" smtClean="0"/>
              <a:t>) אשר   </a:t>
            </a:r>
          </a:p>
          <a:p>
            <a:pPr>
              <a:buFont typeface="Wingdings" pitchFamily="2" charset="2"/>
              <a:buNone/>
            </a:pPr>
            <a:r>
              <a:rPr lang="he-IL" b="1" dirty="0" smtClean="0"/>
              <a:t>           משתפים מרחב כתובות, הרשאות ומשאבים</a:t>
            </a:r>
            <a:endParaRPr lang="en-GB" b="1" dirty="0" smtClean="0"/>
          </a:p>
        </p:txBody>
      </p:sp>
      <p:sp>
        <p:nvSpPr>
          <p:cNvPr id="1046532" name="WordArt 4"/>
          <p:cNvSpPr>
            <a:spLocks noChangeArrowheads="1" noChangeShapeType="1" noTextEdit="1"/>
          </p:cNvSpPr>
          <p:nvPr/>
        </p:nvSpPr>
        <p:spPr bwMode="auto">
          <a:xfrm>
            <a:off x="7740352" y="4653136"/>
            <a:ext cx="1008361" cy="78722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he-IL" sz="3600" kern="10" dirty="0">
                <a:gradFill rotWithShape="1">
                  <a:gsLst>
                    <a:gs pos="0">
                      <a:schemeClr val="hlink"/>
                    </a:gs>
                    <a:gs pos="100000">
                      <a:schemeClr val="tx2"/>
                    </a:gs>
                  </a:gsLst>
                  <a:path path="rect">
                    <a:fillToRect r="100000" b="100000"/>
                  </a:path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Arial Unicode MS"/>
                <a:ea typeface="Arial Unicode MS"/>
                <a:cs typeface="Arial Unicode MS"/>
              </a:rPr>
              <a:t>רעיון!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5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4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he-IL" b="1" dirty="0" smtClean="0">
                <a:solidFill>
                  <a:srgbClr val="FFFF00"/>
                </a:solidFill>
              </a:rPr>
              <a:t>תהליכים-דייאט </a:t>
            </a:r>
            <a:r>
              <a:rPr lang="he-IL" b="1" dirty="0">
                <a:solidFill>
                  <a:srgbClr val="FFFF00"/>
                </a:solidFill>
              </a:rPr>
              <a:t>= חוטים</a:t>
            </a:r>
            <a:endParaRPr lang="en-GB" b="1" dirty="0">
              <a:solidFill>
                <a:srgbClr val="FFFF00"/>
              </a:solidFill>
            </a:endParaRPr>
          </a:p>
        </p:txBody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5738" y="1600200"/>
            <a:ext cx="4968750" cy="45307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he-IL" sz="2800" b="1" dirty="0" smtClean="0"/>
              <a:t>חוט (</a:t>
            </a:r>
            <a:r>
              <a:rPr lang="en-US" sz="2400" b="1" dirty="0" smtClean="0"/>
              <a:t>thread</a:t>
            </a:r>
            <a:r>
              <a:rPr lang="he-IL" sz="2800" b="1" dirty="0" smtClean="0"/>
              <a:t>) הינו יחידת ביצוע (בקרה) בתוך תהליך, במערכות הפעלה קלאסיות "חוט" יחיד בכל תהליך. במערכות הפעלה מודרניות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he-IL" sz="2800" b="1" dirty="0" smtClean="0"/>
              <a:t>	תהליך הוא רק מיכל לחוטים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800" b="1" dirty="0" smtClean="0"/>
          </a:p>
          <a:p>
            <a:pPr>
              <a:lnSpc>
                <a:spcPct val="80000"/>
              </a:lnSpc>
            </a:pPr>
            <a:r>
              <a:rPr lang="he-IL" sz="2800" b="1" dirty="0" smtClean="0"/>
              <a:t>לכל חוט מוקצים המשאבים הבאים:</a:t>
            </a:r>
            <a:endParaRPr lang="en-US" sz="2800" b="1" dirty="0" smtClean="0"/>
          </a:p>
          <a:p>
            <a:pPr lvl="1">
              <a:lnSpc>
                <a:spcPct val="80000"/>
              </a:lnSpc>
            </a:pPr>
            <a:r>
              <a:rPr lang="en-US" sz="2400" b="1" dirty="0" smtClean="0"/>
              <a:t>program counter</a:t>
            </a:r>
          </a:p>
          <a:p>
            <a:pPr lvl="1">
              <a:lnSpc>
                <a:spcPct val="80000"/>
              </a:lnSpc>
            </a:pPr>
            <a:r>
              <a:rPr lang="he-IL" sz="2400" b="1" dirty="0" smtClean="0"/>
              <a:t>מחסנית זיכרון עבורו</a:t>
            </a:r>
          </a:p>
          <a:p>
            <a:pPr lvl="1">
              <a:lnSpc>
                <a:spcPct val="80000"/>
              </a:lnSpc>
            </a:pPr>
            <a:r>
              <a:rPr lang="he-IL" sz="2400" b="1" dirty="0" smtClean="0"/>
              <a:t>רגיסטרים לשמירת נתונים</a:t>
            </a:r>
            <a:endParaRPr lang="en-US" sz="2400" b="1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 smtClean="0"/>
              <a:t>	</a:t>
            </a:r>
            <a:r>
              <a:rPr lang="he-IL" sz="2800" b="1" dirty="0" smtClean="0"/>
              <a:t>נמצאים ב </a:t>
            </a:r>
            <a:r>
              <a:rPr lang="en-US" sz="2400" b="1" dirty="0" smtClean="0"/>
              <a:t>Thread Control Block (TCB)</a:t>
            </a:r>
            <a:endParaRPr lang="he-IL" sz="2400" b="1" dirty="0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99864" y="1520255"/>
            <a:ext cx="3579676" cy="2412801"/>
            <a:chOff x="589" y="1003"/>
            <a:chExt cx="1920" cy="1344"/>
          </a:xfrm>
        </p:grpSpPr>
        <p:sp>
          <p:nvSpPr>
            <p:cNvPr id="27684" name="Rectangle 5"/>
            <p:cNvSpPr>
              <a:spLocks noChangeArrowheads="1"/>
            </p:cNvSpPr>
            <p:nvPr/>
          </p:nvSpPr>
          <p:spPr bwMode="auto">
            <a:xfrm>
              <a:off x="589" y="1003"/>
              <a:ext cx="1920" cy="134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85" name="Oval 6"/>
            <p:cNvSpPr>
              <a:spLocks noChangeArrowheads="1"/>
            </p:cNvSpPr>
            <p:nvPr/>
          </p:nvSpPr>
          <p:spPr bwMode="auto">
            <a:xfrm>
              <a:off x="733" y="1675"/>
              <a:ext cx="768" cy="624"/>
            </a:xfrm>
            <a:prstGeom prst="ellipse">
              <a:avLst/>
            </a:prstGeom>
            <a:solidFill>
              <a:srgbClr val="FFFF00">
                <a:alpha val="7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86" name="Rectangle 7"/>
            <p:cNvSpPr>
              <a:spLocks noChangeArrowheads="1"/>
            </p:cNvSpPr>
            <p:nvPr/>
          </p:nvSpPr>
          <p:spPr bwMode="auto">
            <a:xfrm>
              <a:off x="877" y="1819"/>
              <a:ext cx="96" cy="384"/>
            </a:xfrm>
            <a:prstGeom prst="rect">
              <a:avLst/>
            </a:prstGeom>
            <a:solidFill>
              <a:schemeClr val="bg2">
                <a:alpha val="9215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87" name="Line 8"/>
            <p:cNvSpPr>
              <a:spLocks noChangeShapeType="1"/>
            </p:cNvSpPr>
            <p:nvPr/>
          </p:nvSpPr>
          <p:spPr bwMode="auto">
            <a:xfrm flipH="1">
              <a:off x="973" y="2011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7688" name="Oval 9"/>
            <p:cNvSpPr>
              <a:spLocks noChangeArrowheads="1"/>
            </p:cNvSpPr>
            <p:nvPr/>
          </p:nvSpPr>
          <p:spPr bwMode="auto">
            <a:xfrm>
              <a:off x="1213" y="1099"/>
              <a:ext cx="768" cy="624"/>
            </a:xfrm>
            <a:prstGeom prst="ellipse">
              <a:avLst/>
            </a:prstGeom>
            <a:solidFill>
              <a:srgbClr val="FFFF00">
                <a:alpha val="7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89" name="Rectangle 10"/>
            <p:cNvSpPr>
              <a:spLocks noChangeArrowheads="1"/>
            </p:cNvSpPr>
            <p:nvPr/>
          </p:nvSpPr>
          <p:spPr bwMode="auto">
            <a:xfrm>
              <a:off x="1405" y="1195"/>
              <a:ext cx="96" cy="384"/>
            </a:xfrm>
            <a:prstGeom prst="rect">
              <a:avLst/>
            </a:prstGeom>
            <a:solidFill>
              <a:schemeClr val="bg2">
                <a:alpha val="9215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0" name="Line 11"/>
            <p:cNvSpPr>
              <a:spLocks noChangeShapeType="1"/>
            </p:cNvSpPr>
            <p:nvPr/>
          </p:nvSpPr>
          <p:spPr bwMode="auto">
            <a:xfrm flipH="1">
              <a:off x="1501" y="1387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7691" name="Oval 12"/>
            <p:cNvSpPr>
              <a:spLocks noChangeArrowheads="1"/>
            </p:cNvSpPr>
            <p:nvPr/>
          </p:nvSpPr>
          <p:spPr bwMode="auto">
            <a:xfrm>
              <a:off x="1645" y="1675"/>
              <a:ext cx="768" cy="624"/>
            </a:xfrm>
            <a:prstGeom prst="ellipse">
              <a:avLst/>
            </a:prstGeom>
            <a:solidFill>
              <a:srgbClr val="FFFF00">
                <a:alpha val="7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2" name="Rectangle 13"/>
            <p:cNvSpPr>
              <a:spLocks noChangeArrowheads="1"/>
            </p:cNvSpPr>
            <p:nvPr/>
          </p:nvSpPr>
          <p:spPr bwMode="auto">
            <a:xfrm>
              <a:off x="1789" y="1819"/>
              <a:ext cx="96" cy="384"/>
            </a:xfrm>
            <a:prstGeom prst="rect">
              <a:avLst/>
            </a:prstGeom>
            <a:solidFill>
              <a:schemeClr val="bg2">
                <a:alpha val="9215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3" name="Line 14"/>
            <p:cNvSpPr>
              <a:spLocks noChangeShapeType="1"/>
            </p:cNvSpPr>
            <p:nvPr/>
          </p:nvSpPr>
          <p:spPr bwMode="auto">
            <a:xfrm flipH="1">
              <a:off x="1885" y="2155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7694" name="Line 15"/>
            <p:cNvSpPr>
              <a:spLocks noChangeShapeType="1"/>
            </p:cNvSpPr>
            <p:nvPr/>
          </p:nvSpPr>
          <p:spPr bwMode="auto">
            <a:xfrm>
              <a:off x="1165" y="1867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5" name="Line 16"/>
            <p:cNvSpPr>
              <a:spLocks noChangeShapeType="1"/>
            </p:cNvSpPr>
            <p:nvPr/>
          </p:nvSpPr>
          <p:spPr bwMode="auto">
            <a:xfrm>
              <a:off x="1165" y="2107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6" name="Line 17"/>
            <p:cNvSpPr>
              <a:spLocks noChangeShapeType="1"/>
            </p:cNvSpPr>
            <p:nvPr/>
          </p:nvSpPr>
          <p:spPr bwMode="auto">
            <a:xfrm flipV="1">
              <a:off x="1309" y="1867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7" name="Rectangle 18"/>
            <p:cNvSpPr>
              <a:spLocks noChangeArrowheads="1"/>
            </p:cNvSpPr>
            <p:nvPr/>
          </p:nvSpPr>
          <p:spPr bwMode="auto">
            <a:xfrm>
              <a:off x="1165" y="2035"/>
              <a:ext cx="144" cy="72"/>
            </a:xfrm>
            <a:prstGeom prst="rect">
              <a:avLst/>
            </a:prstGeom>
            <a:solidFill>
              <a:srgbClr val="1405D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8" name="Rectangle 19"/>
            <p:cNvSpPr>
              <a:spLocks noChangeArrowheads="1"/>
            </p:cNvSpPr>
            <p:nvPr/>
          </p:nvSpPr>
          <p:spPr bwMode="auto">
            <a:xfrm>
              <a:off x="1165" y="1963"/>
              <a:ext cx="144" cy="72"/>
            </a:xfrm>
            <a:prstGeom prst="rect">
              <a:avLst/>
            </a:prstGeom>
            <a:solidFill>
              <a:srgbClr val="584BF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99" name="Rectangle 20"/>
            <p:cNvSpPr>
              <a:spLocks noChangeArrowheads="1"/>
            </p:cNvSpPr>
            <p:nvPr/>
          </p:nvSpPr>
          <p:spPr bwMode="auto">
            <a:xfrm>
              <a:off x="1165" y="1915"/>
              <a:ext cx="144" cy="48"/>
            </a:xfrm>
            <a:prstGeom prst="rect">
              <a:avLst/>
            </a:prstGeom>
            <a:solidFill>
              <a:srgbClr val="DE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0" name="Line 21"/>
            <p:cNvSpPr>
              <a:spLocks noChangeShapeType="1"/>
            </p:cNvSpPr>
            <p:nvPr/>
          </p:nvSpPr>
          <p:spPr bwMode="auto">
            <a:xfrm>
              <a:off x="1645" y="119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1" name="Line 22"/>
            <p:cNvSpPr>
              <a:spLocks noChangeShapeType="1"/>
            </p:cNvSpPr>
            <p:nvPr/>
          </p:nvSpPr>
          <p:spPr bwMode="auto">
            <a:xfrm>
              <a:off x="1645" y="143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2" name="Line 23"/>
            <p:cNvSpPr>
              <a:spLocks noChangeShapeType="1"/>
            </p:cNvSpPr>
            <p:nvPr/>
          </p:nvSpPr>
          <p:spPr bwMode="auto">
            <a:xfrm flipV="1">
              <a:off x="1789" y="119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3" name="Rectangle 24"/>
            <p:cNvSpPr>
              <a:spLocks noChangeArrowheads="1"/>
            </p:cNvSpPr>
            <p:nvPr/>
          </p:nvSpPr>
          <p:spPr bwMode="auto">
            <a:xfrm>
              <a:off x="1645" y="1363"/>
              <a:ext cx="144" cy="72"/>
            </a:xfrm>
            <a:prstGeom prst="rect">
              <a:avLst/>
            </a:prstGeom>
            <a:solidFill>
              <a:srgbClr val="1405D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4" name="Rectangle 25"/>
            <p:cNvSpPr>
              <a:spLocks noChangeArrowheads="1"/>
            </p:cNvSpPr>
            <p:nvPr/>
          </p:nvSpPr>
          <p:spPr bwMode="auto">
            <a:xfrm>
              <a:off x="1645" y="1291"/>
              <a:ext cx="144" cy="72"/>
            </a:xfrm>
            <a:prstGeom prst="rect">
              <a:avLst/>
            </a:prstGeom>
            <a:solidFill>
              <a:srgbClr val="584BF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5" name="Line 26"/>
            <p:cNvSpPr>
              <a:spLocks noChangeShapeType="1"/>
            </p:cNvSpPr>
            <p:nvPr/>
          </p:nvSpPr>
          <p:spPr bwMode="auto">
            <a:xfrm>
              <a:off x="2077" y="196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6" name="Line 27"/>
            <p:cNvSpPr>
              <a:spLocks noChangeShapeType="1"/>
            </p:cNvSpPr>
            <p:nvPr/>
          </p:nvSpPr>
          <p:spPr bwMode="auto">
            <a:xfrm>
              <a:off x="2077" y="2203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7" name="Line 28"/>
            <p:cNvSpPr>
              <a:spLocks noChangeShapeType="1"/>
            </p:cNvSpPr>
            <p:nvPr/>
          </p:nvSpPr>
          <p:spPr bwMode="auto">
            <a:xfrm flipV="1">
              <a:off x="2221" y="196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8" name="Rectangle 29"/>
            <p:cNvSpPr>
              <a:spLocks noChangeArrowheads="1"/>
            </p:cNvSpPr>
            <p:nvPr/>
          </p:nvSpPr>
          <p:spPr bwMode="auto">
            <a:xfrm>
              <a:off x="2077" y="2131"/>
              <a:ext cx="144" cy="72"/>
            </a:xfrm>
            <a:prstGeom prst="rect">
              <a:avLst/>
            </a:prstGeom>
            <a:solidFill>
              <a:srgbClr val="1405D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709" name="Text Box 30"/>
            <p:cNvSpPr txBox="1">
              <a:spLocks noChangeArrowheads="1"/>
            </p:cNvSpPr>
            <p:nvPr/>
          </p:nvSpPr>
          <p:spPr bwMode="auto">
            <a:xfrm>
              <a:off x="1517" y="1483"/>
              <a:ext cx="222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>
                  <a:solidFill>
                    <a:schemeClr val="bg1"/>
                  </a:solidFill>
                  <a:latin typeface="Arial" pitchFamily="34" charset="0"/>
                </a:rPr>
                <a:t>P</a:t>
              </a:r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1</a:t>
              </a:r>
              <a:endParaRPr lang="en-US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7710" name="Text Box 31"/>
            <p:cNvSpPr txBox="1">
              <a:spLocks noChangeArrowheads="1"/>
            </p:cNvSpPr>
            <p:nvPr/>
          </p:nvSpPr>
          <p:spPr bwMode="auto">
            <a:xfrm>
              <a:off x="1021" y="2087"/>
              <a:ext cx="222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>
                  <a:solidFill>
                    <a:schemeClr val="bg1"/>
                  </a:solidFill>
                  <a:latin typeface="Arial" pitchFamily="34" charset="0"/>
                </a:rPr>
                <a:t>P</a:t>
              </a:r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3</a:t>
              </a:r>
              <a:endParaRPr lang="en-US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7711" name="Text Box 32"/>
            <p:cNvSpPr txBox="1">
              <a:spLocks noChangeArrowheads="1"/>
            </p:cNvSpPr>
            <p:nvPr/>
          </p:nvSpPr>
          <p:spPr bwMode="auto">
            <a:xfrm>
              <a:off x="1949" y="1703"/>
              <a:ext cx="222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>
                  <a:solidFill>
                    <a:schemeClr val="bg1"/>
                  </a:solidFill>
                  <a:latin typeface="Arial" pitchFamily="34" charset="0"/>
                </a:rPr>
                <a:t>P</a:t>
              </a:r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2</a:t>
              </a:r>
              <a:endParaRPr lang="en-US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299864" y="4028713"/>
            <a:ext cx="3579676" cy="2424623"/>
            <a:chOff x="589" y="2659"/>
            <a:chExt cx="1920" cy="1056"/>
          </a:xfrm>
        </p:grpSpPr>
        <p:sp>
          <p:nvSpPr>
            <p:cNvPr id="27657" name="Rectangle 34"/>
            <p:cNvSpPr>
              <a:spLocks noChangeArrowheads="1"/>
            </p:cNvSpPr>
            <p:nvPr/>
          </p:nvSpPr>
          <p:spPr bwMode="auto">
            <a:xfrm>
              <a:off x="589" y="2659"/>
              <a:ext cx="1920" cy="105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SzPct val="75000"/>
                <a:buFont typeface="Wingdings" pitchFamily="2" charset="2"/>
                <a:buNone/>
              </a:pPr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58" name="Oval 35"/>
            <p:cNvSpPr>
              <a:spLocks noChangeArrowheads="1"/>
            </p:cNvSpPr>
            <p:nvPr/>
          </p:nvSpPr>
          <p:spPr bwMode="auto">
            <a:xfrm>
              <a:off x="733" y="2707"/>
              <a:ext cx="1680" cy="960"/>
            </a:xfrm>
            <a:prstGeom prst="ellipse">
              <a:avLst/>
            </a:prstGeom>
            <a:solidFill>
              <a:srgbClr val="FFFF00">
                <a:alpha val="7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59" name="Rectangle 36"/>
            <p:cNvSpPr>
              <a:spLocks noChangeArrowheads="1"/>
            </p:cNvSpPr>
            <p:nvPr/>
          </p:nvSpPr>
          <p:spPr bwMode="auto">
            <a:xfrm>
              <a:off x="973" y="2995"/>
              <a:ext cx="96" cy="384"/>
            </a:xfrm>
            <a:prstGeom prst="rect">
              <a:avLst/>
            </a:prstGeom>
            <a:solidFill>
              <a:schemeClr val="bg2">
                <a:alpha val="9215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0" name="Line 37"/>
            <p:cNvSpPr>
              <a:spLocks noChangeShapeType="1"/>
            </p:cNvSpPr>
            <p:nvPr/>
          </p:nvSpPr>
          <p:spPr bwMode="auto">
            <a:xfrm flipH="1">
              <a:off x="1069" y="3091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1" name="Rectangle 38"/>
            <p:cNvSpPr>
              <a:spLocks noChangeArrowheads="1"/>
            </p:cNvSpPr>
            <p:nvPr/>
          </p:nvSpPr>
          <p:spPr bwMode="auto">
            <a:xfrm>
              <a:off x="1405" y="3091"/>
              <a:ext cx="96" cy="384"/>
            </a:xfrm>
            <a:prstGeom prst="rect">
              <a:avLst/>
            </a:prstGeom>
            <a:solidFill>
              <a:schemeClr val="bg2">
                <a:alpha val="9215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2" name="Line 39"/>
            <p:cNvSpPr>
              <a:spLocks noChangeShapeType="1"/>
            </p:cNvSpPr>
            <p:nvPr/>
          </p:nvSpPr>
          <p:spPr bwMode="auto">
            <a:xfrm flipH="1">
              <a:off x="1501" y="3379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3" name="Rectangle 40"/>
            <p:cNvSpPr>
              <a:spLocks noChangeArrowheads="1"/>
            </p:cNvSpPr>
            <p:nvPr/>
          </p:nvSpPr>
          <p:spPr bwMode="auto">
            <a:xfrm>
              <a:off x="1789" y="2947"/>
              <a:ext cx="96" cy="384"/>
            </a:xfrm>
            <a:prstGeom prst="rect">
              <a:avLst/>
            </a:prstGeom>
            <a:solidFill>
              <a:schemeClr val="bg2">
                <a:alpha val="9215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4" name="Line 41"/>
            <p:cNvSpPr>
              <a:spLocks noChangeShapeType="1"/>
            </p:cNvSpPr>
            <p:nvPr/>
          </p:nvSpPr>
          <p:spPr bwMode="auto">
            <a:xfrm flipH="1">
              <a:off x="1885" y="3139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5" name="Line 42"/>
            <p:cNvSpPr>
              <a:spLocks noChangeShapeType="1"/>
            </p:cNvSpPr>
            <p:nvPr/>
          </p:nvSpPr>
          <p:spPr bwMode="auto">
            <a:xfrm>
              <a:off x="1213" y="2947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6" name="Line 43"/>
            <p:cNvSpPr>
              <a:spLocks noChangeShapeType="1"/>
            </p:cNvSpPr>
            <p:nvPr/>
          </p:nvSpPr>
          <p:spPr bwMode="auto">
            <a:xfrm>
              <a:off x="1213" y="3187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7" name="Line 44"/>
            <p:cNvSpPr>
              <a:spLocks noChangeShapeType="1"/>
            </p:cNvSpPr>
            <p:nvPr/>
          </p:nvSpPr>
          <p:spPr bwMode="auto">
            <a:xfrm flipV="1">
              <a:off x="1357" y="2947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8" name="Rectangle 45"/>
            <p:cNvSpPr>
              <a:spLocks noChangeArrowheads="1"/>
            </p:cNvSpPr>
            <p:nvPr/>
          </p:nvSpPr>
          <p:spPr bwMode="auto">
            <a:xfrm>
              <a:off x="1213" y="3115"/>
              <a:ext cx="144" cy="72"/>
            </a:xfrm>
            <a:prstGeom prst="rect">
              <a:avLst/>
            </a:prstGeom>
            <a:solidFill>
              <a:srgbClr val="1405D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69" name="Rectangle 46"/>
            <p:cNvSpPr>
              <a:spLocks noChangeArrowheads="1"/>
            </p:cNvSpPr>
            <p:nvPr/>
          </p:nvSpPr>
          <p:spPr bwMode="auto">
            <a:xfrm>
              <a:off x="1213" y="3043"/>
              <a:ext cx="144" cy="72"/>
            </a:xfrm>
            <a:prstGeom prst="rect">
              <a:avLst/>
            </a:prstGeom>
            <a:solidFill>
              <a:srgbClr val="584BF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0" name="Rectangle 47"/>
            <p:cNvSpPr>
              <a:spLocks noChangeArrowheads="1"/>
            </p:cNvSpPr>
            <p:nvPr/>
          </p:nvSpPr>
          <p:spPr bwMode="auto">
            <a:xfrm>
              <a:off x="1213" y="2995"/>
              <a:ext cx="144" cy="48"/>
            </a:xfrm>
            <a:prstGeom prst="rect">
              <a:avLst/>
            </a:prstGeom>
            <a:solidFill>
              <a:srgbClr val="DE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1" name="Line 48"/>
            <p:cNvSpPr>
              <a:spLocks noChangeShapeType="1"/>
            </p:cNvSpPr>
            <p:nvPr/>
          </p:nvSpPr>
          <p:spPr bwMode="auto">
            <a:xfrm>
              <a:off x="1597" y="3091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2" name="Line 49"/>
            <p:cNvSpPr>
              <a:spLocks noChangeShapeType="1"/>
            </p:cNvSpPr>
            <p:nvPr/>
          </p:nvSpPr>
          <p:spPr bwMode="auto">
            <a:xfrm>
              <a:off x="1597" y="3331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3" name="Line 50"/>
            <p:cNvSpPr>
              <a:spLocks noChangeShapeType="1"/>
            </p:cNvSpPr>
            <p:nvPr/>
          </p:nvSpPr>
          <p:spPr bwMode="auto">
            <a:xfrm flipV="1">
              <a:off x="1741" y="3091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4" name="Rectangle 51"/>
            <p:cNvSpPr>
              <a:spLocks noChangeArrowheads="1"/>
            </p:cNvSpPr>
            <p:nvPr/>
          </p:nvSpPr>
          <p:spPr bwMode="auto">
            <a:xfrm>
              <a:off x="1597" y="3259"/>
              <a:ext cx="144" cy="72"/>
            </a:xfrm>
            <a:prstGeom prst="rect">
              <a:avLst/>
            </a:prstGeom>
            <a:solidFill>
              <a:srgbClr val="1405D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5" name="Line 52"/>
            <p:cNvSpPr>
              <a:spLocks noChangeShapeType="1"/>
            </p:cNvSpPr>
            <p:nvPr/>
          </p:nvSpPr>
          <p:spPr bwMode="auto">
            <a:xfrm>
              <a:off x="2077" y="304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6" name="Line 53"/>
            <p:cNvSpPr>
              <a:spLocks noChangeShapeType="1"/>
            </p:cNvSpPr>
            <p:nvPr/>
          </p:nvSpPr>
          <p:spPr bwMode="auto">
            <a:xfrm>
              <a:off x="2077" y="3283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7" name="Line 54"/>
            <p:cNvSpPr>
              <a:spLocks noChangeShapeType="1"/>
            </p:cNvSpPr>
            <p:nvPr/>
          </p:nvSpPr>
          <p:spPr bwMode="auto">
            <a:xfrm flipV="1">
              <a:off x="2221" y="304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8" name="Rectangle 55"/>
            <p:cNvSpPr>
              <a:spLocks noChangeArrowheads="1"/>
            </p:cNvSpPr>
            <p:nvPr/>
          </p:nvSpPr>
          <p:spPr bwMode="auto">
            <a:xfrm>
              <a:off x="2077" y="3211"/>
              <a:ext cx="144" cy="72"/>
            </a:xfrm>
            <a:prstGeom prst="rect">
              <a:avLst/>
            </a:prstGeom>
            <a:solidFill>
              <a:srgbClr val="1405D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79" name="Rectangle 56"/>
            <p:cNvSpPr>
              <a:spLocks noChangeArrowheads="1"/>
            </p:cNvSpPr>
            <p:nvPr/>
          </p:nvSpPr>
          <p:spPr bwMode="auto">
            <a:xfrm>
              <a:off x="2077" y="3139"/>
              <a:ext cx="144" cy="72"/>
            </a:xfrm>
            <a:prstGeom prst="rect">
              <a:avLst/>
            </a:prstGeom>
            <a:solidFill>
              <a:srgbClr val="584BF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27680" name="Text Box 57"/>
            <p:cNvSpPr txBox="1">
              <a:spLocks noChangeArrowheads="1"/>
            </p:cNvSpPr>
            <p:nvPr/>
          </p:nvSpPr>
          <p:spPr bwMode="auto">
            <a:xfrm>
              <a:off x="1469" y="2707"/>
              <a:ext cx="22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>
                  <a:solidFill>
                    <a:schemeClr val="bg1"/>
                  </a:solidFill>
                  <a:latin typeface="Arial" pitchFamily="34" charset="0"/>
                </a:rPr>
                <a:t>P</a:t>
              </a:r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1</a:t>
              </a:r>
              <a:endParaRPr lang="en-US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7681" name="Text Box 58"/>
            <p:cNvSpPr txBox="1">
              <a:spLocks noChangeArrowheads="1"/>
            </p:cNvSpPr>
            <p:nvPr/>
          </p:nvSpPr>
          <p:spPr bwMode="auto">
            <a:xfrm>
              <a:off x="941" y="3359"/>
              <a:ext cx="216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>
                  <a:solidFill>
                    <a:schemeClr val="bg1"/>
                  </a:solidFill>
                  <a:latin typeface="Arial" pitchFamily="34" charset="0"/>
                </a:rPr>
                <a:t>T</a:t>
              </a:r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1</a:t>
              </a:r>
              <a:endParaRPr lang="en-US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7682" name="Text Box 59"/>
            <p:cNvSpPr txBox="1">
              <a:spLocks noChangeArrowheads="1"/>
            </p:cNvSpPr>
            <p:nvPr/>
          </p:nvSpPr>
          <p:spPr bwMode="auto">
            <a:xfrm>
              <a:off x="1309" y="3455"/>
              <a:ext cx="216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>
                  <a:solidFill>
                    <a:schemeClr val="bg1"/>
                  </a:solidFill>
                  <a:latin typeface="Arial" pitchFamily="34" charset="0"/>
                </a:rPr>
                <a:t>T</a:t>
              </a:r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2</a:t>
              </a:r>
              <a:endParaRPr lang="en-US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7683" name="Text Box 60"/>
            <p:cNvSpPr txBox="1">
              <a:spLocks noChangeArrowheads="1"/>
            </p:cNvSpPr>
            <p:nvPr/>
          </p:nvSpPr>
          <p:spPr bwMode="auto">
            <a:xfrm>
              <a:off x="1716" y="3311"/>
              <a:ext cx="216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>
                  <a:solidFill>
                    <a:schemeClr val="bg1"/>
                  </a:solidFill>
                  <a:latin typeface="Arial" pitchFamily="34" charset="0"/>
                </a:rPr>
                <a:t>T</a:t>
              </a:r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3</a:t>
              </a:r>
              <a:endParaRPr lang="en-US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07413" cy="113982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he-IL" sz="4400" b="1" dirty="0">
                <a:solidFill>
                  <a:srgbClr val="FFFF00"/>
                </a:solidFill>
              </a:rPr>
              <a:t>תזכורת: מרחב הכתובות של תהליך</a:t>
            </a:r>
            <a:endParaRPr lang="en-GB" sz="4400" b="1" dirty="0">
              <a:solidFill>
                <a:srgbClr val="FFFF00"/>
              </a:solidFill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374650" y="1600200"/>
            <a:ext cx="8978900" cy="45307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he-IL" smtClean="0"/>
              <a:t> </a:t>
            </a:r>
            <a:endParaRPr lang="en-GB" smtClean="0"/>
          </a:p>
        </p:txBody>
      </p:sp>
      <p:sp>
        <p:nvSpPr>
          <p:cNvPr id="28679" name="Rectangle 4"/>
          <p:cNvSpPr>
            <a:spLocks noChangeArrowheads="1"/>
          </p:cNvSpPr>
          <p:nvPr/>
        </p:nvSpPr>
        <p:spPr bwMode="auto">
          <a:xfrm>
            <a:off x="1198345" y="5697538"/>
            <a:ext cx="146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Arial" pitchFamily="34" charset="0"/>
              </a:rPr>
              <a:t>0x00000000</a:t>
            </a:r>
          </a:p>
        </p:txBody>
      </p:sp>
      <p:sp>
        <p:nvSpPr>
          <p:cNvPr id="28680" name="Rectangle 5"/>
          <p:cNvSpPr>
            <a:spLocks noChangeArrowheads="1"/>
          </p:cNvSpPr>
          <p:nvPr/>
        </p:nvSpPr>
        <p:spPr bwMode="auto">
          <a:xfrm>
            <a:off x="1141790" y="1600200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Arial" pitchFamily="34" charset="0"/>
              </a:rPr>
              <a:t>0xFFFFFFFF</a:t>
            </a:r>
          </a:p>
        </p:txBody>
      </p:sp>
      <p:sp>
        <p:nvSpPr>
          <p:cNvPr id="28681" name="Rectangle 6"/>
          <p:cNvSpPr>
            <a:spLocks noChangeArrowheads="1"/>
          </p:cNvSpPr>
          <p:nvPr/>
        </p:nvSpPr>
        <p:spPr bwMode="auto">
          <a:xfrm>
            <a:off x="987281" y="3276600"/>
            <a:ext cx="17876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Arial" pitchFamily="34" charset="0"/>
              </a:rPr>
              <a:t>address space</a:t>
            </a:r>
          </a:p>
        </p:txBody>
      </p:sp>
      <p:sp>
        <p:nvSpPr>
          <p:cNvPr id="28682" name="Line 7"/>
          <p:cNvSpPr>
            <a:spLocks noChangeShapeType="1"/>
          </p:cNvSpPr>
          <p:nvPr/>
        </p:nvSpPr>
        <p:spPr bwMode="auto">
          <a:xfrm flipV="1">
            <a:off x="1903413" y="2057400"/>
            <a:ext cx="3175" cy="1219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 b="1">
              <a:ln w="38100"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28683" name="Line 8"/>
          <p:cNvSpPr>
            <a:spLocks noChangeShapeType="1"/>
          </p:cNvSpPr>
          <p:nvPr/>
        </p:nvSpPr>
        <p:spPr bwMode="auto">
          <a:xfrm flipH="1" flipV="1">
            <a:off x="1905000" y="3810000"/>
            <a:ext cx="3175" cy="1779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 b="1">
              <a:ln w="38100"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  <p:grpSp>
        <p:nvGrpSpPr>
          <p:cNvPr id="28684" name="Group 9"/>
          <p:cNvGrpSpPr>
            <a:grpSpLocks/>
          </p:cNvGrpSpPr>
          <p:nvPr/>
        </p:nvGrpSpPr>
        <p:grpSpPr bwMode="auto">
          <a:xfrm>
            <a:off x="3131840" y="1676400"/>
            <a:ext cx="5832477" cy="4392613"/>
            <a:chOff x="2321" y="1056"/>
            <a:chExt cx="3674" cy="2767"/>
          </a:xfrm>
        </p:grpSpPr>
        <p:sp>
          <p:nvSpPr>
            <p:cNvPr id="28685" name="Rectangle 10"/>
            <p:cNvSpPr>
              <a:spLocks noChangeArrowheads="1"/>
            </p:cNvSpPr>
            <p:nvPr/>
          </p:nvSpPr>
          <p:spPr bwMode="auto">
            <a:xfrm>
              <a:off x="2325" y="3343"/>
              <a:ext cx="2023" cy="480"/>
            </a:xfrm>
            <a:prstGeom prst="rect">
              <a:avLst/>
            </a:prstGeom>
            <a:solidFill>
              <a:srgbClr val="EBEBFF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code</a:t>
              </a:r>
            </a:p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(text segment)</a:t>
              </a:r>
            </a:p>
          </p:txBody>
        </p:sp>
        <p:sp>
          <p:nvSpPr>
            <p:cNvPr id="28686" name="Rectangle 11"/>
            <p:cNvSpPr>
              <a:spLocks noChangeArrowheads="1"/>
            </p:cNvSpPr>
            <p:nvPr/>
          </p:nvSpPr>
          <p:spPr bwMode="auto">
            <a:xfrm>
              <a:off x="2325" y="2863"/>
              <a:ext cx="2023" cy="480"/>
            </a:xfrm>
            <a:prstGeom prst="rect">
              <a:avLst/>
            </a:prstGeom>
            <a:solidFill>
              <a:srgbClr val="FFE0D9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static data</a:t>
              </a:r>
            </a:p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(data segment)</a:t>
              </a:r>
            </a:p>
          </p:txBody>
        </p:sp>
        <p:sp>
          <p:nvSpPr>
            <p:cNvPr id="28687" name="Rectangle 12"/>
            <p:cNvSpPr>
              <a:spLocks noChangeArrowheads="1"/>
            </p:cNvSpPr>
            <p:nvPr/>
          </p:nvSpPr>
          <p:spPr bwMode="auto">
            <a:xfrm>
              <a:off x="2325" y="2383"/>
              <a:ext cx="2023" cy="48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heap</a:t>
              </a:r>
            </a:p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(dynamic allocated mem)</a:t>
              </a:r>
            </a:p>
          </p:txBody>
        </p:sp>
        <p:sp>
          <p:nvSpPr>
            <p:cNvPr id="28688" name="Rectangle 13"/>
            <p:cNvSpPr>
              <a:spLocks noChangeArrowheads="1"/>
            </p:cNvSpPr>
            <p:nvPr/>
          </p:nvSpPr>
          <p:spPr bwMode="auto">
            <a:xfrm>
              <a:off x="2321" y="1536"/>
              <a:ext cx="2023" cy="85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10000"/>
                </a:spcBef>
              </a:pPr>
              <a:endParaRPr lang="he-IL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8689" name="Rectangle 14"/>
            <p:cNvSpPr>
              <a:spLocks noChangeArrowheads="1"/>
            </p:cNvSpPr>
            <p:nvPr/>
          </p:nvSpPr>
          <p:spPr bwMode="auto">
            <a:xfrm>
              <a:off x="2321" y="1056"/>
              <a:ext cx="2023" cy="48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pitchFamily="34" charset="0"/>
                </a:rPr>
                <a:t>stack</a:t>
              </a:r>
            </a:p>
            <a:p>
              <a:pPr algn="ctr" eaLnBrk="0" hangingPunct="0">
                <a:spcBef>
                  <a:spcPct val="1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pitchFamily="34" charset="0"/>
                </a:rPr>
                <a:t>(dynamic allocated </a:t>
              </a:r>
              <a:r>
                <a:rPr lang="en-US" sz="2000" b="1" dirty="0" err="1">
                  <a:solidFill>
                    <a:schemeClr val="bg1"/>
                  </a:solidFill>
                  <a:latin typeface="Arial" pitchFamily="34" charset="0"/>
                </a:rPr>
                <a:t>mem</a:t>
              </a:r>
              <a:r>
                <a:rPr lang="en-US" sz="2000" b="1" dirty="0">
                  <a:solidFill>
                    <a:schemeClr val="bg1"/>
                  </a:solidFill>
                  <a:latin typeface="Arial" pitchFamily="34" charset="0"/>
                </a:rPr>
                <a:t>)</a:t>
              </a:r>
            </a:p>
          </p:txBody>
        </p:sp>
        <p:sp>
          <p:nvSpPr>
            <p:cNvPr id="28690" name="Line 15"/>
            <p:cNvSpPr>
              <a:spLocks noChangeShapeType="1"/>
            </p:cNvSpPr>
            <p:nvPr/>
          </p:nvSpPr>
          <p:spPr bwMode="auto">
            <a:xfrm>
              <a:off x="3263" y="1536"/>
              <a:ext cx="2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8691" name="Line 16"/>
            <p:cNvSpPr>
              <a:spLocks noChangeShapeType="1"/>
            </p:cNvSpPr>
            <p:nvPr/>
          </p:nvSpPr>
          <p:spPr bwMode="auto">
            <a:xfrm>
              <a:off x="3267" y="2239"/>
              <a:ext cx="2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8692" name="Line 17"/>
            <p:cNvSpPr>
              <a:spLocks noChangeShapeType="1"/>
            </p:cNvSpPr>
            <p:nvPr/>
          </p:nvSpPr>
          <p:spPr bwMode="auto">
            <a:xfrm flipH="1">
              <a:off x="4328" y="1536"/>
              <a:ext cx="262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400" b="1">
                <a:ln w="38100">
                  <a:solidFill>
                    <a:schemeClr val="tx1"/>
                  </a:solidFill>
                </a:ln>
                <a:solidFill>
                  <a:srgbClr val="FFFF00"/>
                </a:solidFill>
              </a:endParaRPr>
            </a:p>
          </p:txBody>
        </p:sp>
        <p:sp>
          <p:nvSpPr>
            <p:cNvPr id="28693" name="Line 18"/>
            <p:cNvSpPr>
              <a:spLocks noChangeShapeType="1"/>
            </p:cNvSpPr>
            <p:nvPr/>
          </p:nvSpPr>
          <p:spPr bwMode="auto">
            <a:xfrm flipH="1">
              <a:off x="4328" y="3462"/>
              <a:ext cx="262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 sz="2400" b="1">
                <a:ln w="38100">
                  <a:solidFill>
                    <a:schemeClr val="tx1"/>
                  </a:solidFill>
                </a:ln>
                <a:solidFill>
                  <a:srgbClr val="FFFF00"/>
                </a:solidFill>
              </a:endParaRPr>
            </a:p>
          </p:txBody>
        </p:sp>
        <p:sp>
          <p:nvSpPr>
            <p:cNvPr id="28694" name="Rectangle 19"/>
            <p:cNvSpPr>
              <a:spLocks noChangeArrowheads="1"/>
            </p:cNvSpPr>
            <p:nvPr/>
          </p:nvSpPr>
          <p:spPr bwMode="auto">
            <a:xfrm>
              <a:off x="4550" y="3361"/>
              <a:ext cx="144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rgbClr val="FFFF00"/>
                  </a:solidFill>
                  <a:latin typeface="Arial" pitchFamily="34" charset="0"/>
                </a:rPr>
                <a:t>Program Counter</a:t>
              </a:r>
            </a:p>
          </p:txBody>
        </p:sp>
        <p:sp>
          <p:nvSpPr>
            <p:cNvPr id="28695" name="Rectangle 20"/>
            <p:cNvSpPr>
              <a:spLocks noChangeArrowheads="1"/>
            </p:cNvSpPr>
            <p:nvPr/>
          </p:nvSpPr>
          <p:spPr bwMode="auto">
            <a:xfrm>
              <a:off x="4560" y="1434"/>
              <a:ext cx="11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10000"/>
                </a:spcBef>
              </a:pPr>
              <a:r>
                <a:rPr lang="en-US" sz="2000" b="1" dirty="0">
                  <a:solidFill>
                    <a:srgbClr val="FFFF00"/>
                  </a:solidFill>
                  <a:latin typeface="Arial" pitchFamily="34" charset="0"/>
                </a:rPr>
                <a:t>Stack Pointer</a:t>
              </a:r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52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he-IL" sz="4000" b="1" dirty="0">
                <a:solidFill>
                  <a:srgbClr val="FFFF00"/>
                </a:solidFill>
              </a:rPr>
              <a:t>מרחב הכתובות של תהליך מרובה-חוטים</a:t>
            </a:r>
            <a:endParaRPr lang="en-GB" sz="4000" b="1" dirty="0">
              <a:solidFill>
                <a:srgbClr val="FFFF00"/>
              </a:solidFill>
            </a:endParaRPr>
          </a:p>
        </p:txBody>
      </p:sp>
      <p:sp>
        <p:nvSpPr>
          <p:cNvPr id="29702" name="Rectangle 3"/>
          <p:cNvSpPr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he-IL" sz="2800"/>
              <a:t> </a:t>
            </a:r>
            <a:endParaRPr lang="en-GB" sz="2800"/>
          </a:p>
        </p:txBody>
      </p:sp>
      <p:sp>
        <p:nvSpPr>
          <p:cNvPr id="29703" name="Rectangle 4"/>
          <p:cNvSpPr>
            <a:spLocks noChangeArrowheads="1"/>
          </p:cNvSpPr>
          <p:nvPr/>
        </p:nvSpPr>
        <p:spPr bwMode="auto">
          <a:xfrm>
            <a:off x="894632" y="5697538"/>
            <a:ext cx="146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Arial" pitchFamily="34" charset="0"/>
              </a:rPr>
              <a:t>0x00000000</a:t>
            </a:r>
          </a:p>
        </p:txBody>
      </p:sp>
      <p:sp>
        <p:nvSpPr>
          <p:cNvPr id="29704" name="Rectangle 5"/>
          <p:cNvSpPr>
            <a:spLocks noChangeArrowheads="1"/>
          </p:cNvSpPr>
          <p:nvPr/>
        </p:nvSpPr>
        <p:spPr bwMode="auto">
          <a:xfrm>
            <a:off x="838077" y="1600200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Arial" pitchFamily="34" charset="0"/>
              </a:rPr>
              <a:t>0xFFFFFFFF</a:t>
            </a:r>
          </a:p>
        </p:txBody>
      </p:sp>
      <p:sp>
        <p:nvSpPr>
          <p:cNvPr id="29705" name="Rectangle 6"/>
          <p:cNvSpPr>
            <a:spLocks noChangeArrowheads="1"/>
          </p:cNvSpPr>
          <p:nvPr/>
        </p:nvSpPr>
        <p:spPr bwMode="auto">
          <a:xfrm>
            <a:off x="683568" y="3276600"/>
            <a:ext cx="17876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Arial" pitchFamily="34" charset="0"/>
              </a:rPr>
              <a:t>address space</a:t>
            </a:r>
          </a:p>
        </p:txBody>
      </p:sp>
      <p:sp>
        <p:nvSpPr>
          <p:cNvPr id="29706" name="Line 7"/>
          <p:cNvSpPr>
            <a:spLocks noChangeShapeType="1"/>
          </p:cNvSpPr>
          <p:nvPr/>
        </p:nvSpPr>
        <p:spPr bwMode="auto">
          <a:xfrm flipV="1">
            <a:off x="1601287" y="2057400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 b="1">
              <a:solidFill>
                <a:srgbClr val="FFFF00"/>
              </a:solidFill>
            </a:endParaRPr>
          </a:p>
        </p:txBody>
      </p:sp>
      <p:sp>
        <p:nvSpPr>
          <p:cNvPr id="29707" name="Line 8"/>
          <p:cNvSpPr>
            <a:spLocks noChangeShapeType="1"/>
          </p:cNvSpPr>
          <p:nvPr/>
        </p:nvSpPr>
        <p:spPr bwMode="auto">
          <a:xfrm flipH="1" flipV="1">
            <a:off x="1601287" y="3810000"/>
            <a:ext cx="3175" cy="1779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 b="1">
              <a:solidFill>
                <a:srgbClr val="FFFF00"/>
              </a:solidFill>
            </a:endParaRPr>
          </a:p>
        </p:txBody>
      </p:sp>
      <p:grpSp>
        <p:nvGrpSpPr>
          <p:cNvPr id="29708" name="Group 9"/>
          <p:cNvGrpSpPr>
            <a:grpSpLocks/>
          </p:cNvGrpSpPr>
          <p:nvPr/>
        </p:nvGrpSpPr>
        <p:grpSpPr bwMode="auto">
          <a:xfrm>
            <a:off x="2699792" y="1676400"/>
            <a:ext cx="6214844" cy="4440239"/>
            <a:chOff x="2400" y="1056"/>
            <a:chExt cx="2904" cy="2797"/>
          </a:xfrm>
        </p:grpSpPr>
        <p:sp>
          <p:nvSpPr>
            <p:cNvPr id="29709" name="Rectangle 10"/>
            <p:cNvSpPr>
              <a:spLocks noChangeArrowheads="1"/>
            </p:cNvSpPr>
            <p:nvPr/>
          </p:nvSpPr>
          <p:spPr bwMode="auto">
            <a:xfrm>
              <a:off x="2400" y="3343"/>
              <a:ext cx="1728" cy="480"/>
            </a:xfrm>
            <a:prstGeom prst="rect">
              <a:avLst/>
            </a:prstGeom>
            <a:solidFill>
              <a:srgbClr val="EBEBFF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code</a:t>
              </a:r>
            </a:p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(text segment)</a:t>
              </a:r>
            </a:p>
          </p:txBody>
        </p:sp>
        <p:sp>
          <p:nvSpPr>
            <p:cNvPr id="29710" name="Rectangle 11"/>
            <p:cNvSpPr>
              <a:spLocks noChangeArrowheads="1"/>
            </p:cNvSpPr>
            <p:nvPr/>
          </p:nvSpPr>
          <p:spPr bwMode="auto">
            <a:xfrm>
              <a:off x="2400" y="2863"/>
              <a:ext cx="1728" cy="480"/>
            </a:xfrm>
            <a:prstGeom prst="rect">
              <a:avLst/>
            </a:prstGeom>
            <a:solidFill>
              <a:srgbClr val="FFE0D9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static data</a:t>
              </a:r>
            </a:p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(data segment)</a:t>
              </a:r>
            </a:p>
          </p:txBody>
        </p:sp>
        <p:sp>
          <p:nvSpPr>
            <p:cNvPr id="29711" name="Rectangle 12"/>
            <p:cNvSpPr>
              <a:spLocks noChangeArrowheads="1"/>
            </p:cNvSpPr>
            <p:nvPr/>
          </p:nvSpPr>
          <p:spPr bwMode="auto">
            <a:xfrm>
              <a:off x="2400" y="2383"/>
              <a:ext cx="1728" cy="48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heap</a:t>
              </a:r>
            </a:p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(dynamic allocated mem)</a:t>
              </a:r>
            </a:p>
          </p:txBody>
        </p:sp>
        <p:sp>
          <p:nvSpPr>
            <p:cNvPr id="29712" name="Rectangle 13"/>
            <p:cNvSpPr>
              <a:spLocks noChangeArrowheads="1"/>
            </p:cNvSpPr>
            <p:nvPr/>
          </p:nvSpPr>
          <p:spPr bwMode="auto">
            <a:xfrm>
              <a:off x="2400" y="1366"/>
              <a:ext cx="1728" cy="102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endParaRPr lang="he-IL" sz="2000" b="1">
                <a:latin typeface="Arial" pitchFamily="34" charset="0"/>
              </a:endParaRPr>
            </a:p>
          </p:txBody>
        </p:sp>
        <p:sp>
          <p:nvSpPr>
            <p:cNvPr id="29713" name="Rectangle 14"/>
            <p:cNvSpPr>
              <a:spLocks noChangeArrowheads="1"/>
            </p:cNvSpPr>
            <p:nvPr/>
          </p:nvSpPr>
          <p:spPr bwMode="auto">
            <a:xfrm>
              <a:off x="2400" y="1056"/>
              <a:ext cx="1728" cy="31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pitchFamily="34" charset="0"/>
                </a:rPr>
                <a:t>Stack for thread 1</a:t>
              </a:r>
            </a:p>
          </p:txBody>
        </p:sp>
        <p:sp>
          <p:nvSpPr>
            <p:cNvPr id="29714" name="Line 15"/>
            <p:cNvSpPr>
              <a:spLocks noChangeShapeType="1"/>
            </p:cNvSpPr>
            <p:nvPr/>
          </p:nvSpPr>
          <p:spPr bwMode="auto">
            <a:xfrm>
              <a:off x="3264" y="137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he-IL" sz="2000" b="1"/>
            </a:p>
          </p:txBody>
        </p:sp>
        <p:sp>
          <p:nvSpPr>
            <p:cNvPr id="29715" name="Line 16"/>
            <p:cNvSpPr>
              <a:spLocks noChangeShapeType="1"/>
            </p:cNvSpPr>
            <p:nvPr/>
          </p:nvSpPr>
          <p:spPr bwMode="auto">
            <a:xfrm>
              <a:off x="3264" y="2251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he-IL" sz="2000" b="1"/>
            </a:p>
          </p:txBody>
        </p:sp>
        <p:sp>
          <p:nvSpPr>
            <p:cNvPr id="29716" name="Line 17"/>
            <p:cNvSpPr>
              <a:spLocks noChangeShapeType="1"/>
            </p:cNvSpPr>
            <p:nvPr/>
          </p:nvSpPr>
          <p:spPr bwMode="auto">
            <a:xfrm flipH="1">
              <a:off x="4227" y="1377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he-IL" sz="2000" b="1"/>
            </a:p>
          </p:txBody>
        </p:sp>
        <p:sp>
          <p:nvSpPr>
            <p:cNvPr id="29717" name="Line 18"/>
            <p:cNvSpPr>
              <a:spLocks noChangeShapeType="1"/>
            </p:cNvSpPr>
            <p:nvPr/>
          </p:nvSpPr>
          <p:spPr bwMode="auto">
            <a:xfrm flipH="1">
              <a:off x="4218" y="3462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he-IL" sz="2000" b="1"/>
            </a:p>
          </p:txBody>
        </p:sp>
        <p:sp>
          <p:nvSpPr>
            <p:cNvPr id="29718" name="Rectangle 19"/>
            <p:cNvSpPr>
              <a:spLocks noChangeArrowheads="1"/>
            </p:cNvSpPr>
            <p:nvPr/>
          </p:nvSpPr>
          <p:spPr bwMode="auto">
            <a:xfrm>
              <a:off x="4551" y="3361"/>
              <a:ext cx="75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rgbClr val="FFFF00"/>
                  </a:solidFill>
                  <a:latin typeface="Arial" pitchFamily="34" charset="0"/>
                </a:rPr>
                <a:t>PC thread 2</a:t>
              </a:r>
            </a:p>
          </p:txBody>
        </p:sp>
        <p:sp>
          <p:nvSpPr>
            <p:cNvPr id="29719" name="Rectangle 20"/>
            <p:cNvSpPr>
              <a:spLocks noChangeArrowheads="1"/>
            </p:cNvSpPr>
            <p:nvPr/>
          </p:nvSpPr>
          <p:spPr bwMode="auto">
            <a:xfrm>
              <a:off x="4561" y="1275"/>
              <a:ext cx="7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 dirty="0">
                  <a:solidFill>
                    <a:srgbClr val="FFFF00"/>
                  </a:solidFill>
                  <a:latin typeface="Arial" pitchFamily="34" charset="0"/>
                </a:rPr>
                <a:t>SP thread 1</a:t>
              </a:r>
            </a:p>
          </p:txBody>
        </p:sp>
        <p:sp>
          <p:nvSpPr>
            <p:cNvPr id="29720" name="Rectangle 21"/>
            <p:cNvSpPr>
              <a:spLocks noChangeArrowheads="1"/>
            </p:cNvSpPr>
            <p:nvPr/>
          </p:nvSpPr>
          <p:spPr bwMode="auto">
            <a:xfrm>
              <a:off x="2400" y="1638"/>
              <a:ext cx="1728" cy="31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Stack for thread 2</a:t>
              </a:r>
            </a:p>
          </p:txBody>
        </p:sp>
        <p:sp>
          <p:nvSpPr>
            <p:cNvPr id="29721" name="Line 22"/>
            <p:cNvSpPr>
              <a:spLocks noChangeShapeType="1"/>
            </p:cNvSpPr>
            <p:nvPr/>
          </p:nvSpPr>
          <p:spPr bwMode="auto">
            <a:xfrm>
              <a:off x="3264" y="196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he-IL" sz="2000" b="1"/>
            </a:p>
          </p:txBody>
        </p:sp>
        <p:sp>
          <p:nvSpPr>
            <p:cNvPr id="29722" name="Line 23"/>
            <p:cNvSpPr>
              <a:spLocks noChangeShapeType="1"/>
            </p:cNvSpPr>
            <p:nvPr/>
          </p:nvSpPr>
          <p:spPr bwMode="auto">
            <a:xfrm flipH="1">
              <a:off x="4218" y="1944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he-IL" sz="2000" b="1"/>
            </a:p>
          </p:txBody>
        </p:sp>
        <p:sp>
          <p:nvSpPr>
            <p:cNvPr id="29723" name="Rectangle 24"/>
            <p:cNvSpPr>
              <a:spLocks noChangeArrowheads="1"/>
            </p:cNvSpPr>
            <p:nvPr/>
          </p:nvSpPr>
          <p:spPr bwMode="auto">
            <a:xfrm>
              <a:off x="4552" y="1842"/>
              <a:ext cx="7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rgbClr val="FFFF00"/>
                  </a:solidFill>
                  <a:latin typeface="Arial" pitchFamily="34" charset="0"/>
                </a:rPr>
                <a:t>SP thread 2</a:t>
              </a:r>
            </a:p>
          </p:txBody>
        </p:sp>
        <p:sp>
          <p:nvSpPr>
            <p:cNvPr id="29724" name="Line 25"/>
            <p:cNvSpPr>
              <a:spLocks noChangeShapeType="1"/>
            </p:cNvSpPr>
            <p:nvPr/>
          </p:nvSpPr>
          <p:spPr bwMode="auto">
            <a:xfrm flipH="1">
              <a:off x="4218" y="3702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he-IL" sz="2000" b="1"/>
            </a:p>
          </p:txBody>
        </p:sp>
        <p:sp>
          <p:nvSpPr>
            <p:cNvPr id="29725" name="Rectangle 26"/>
            <p:cNvSpPr>
              <a:spLocks noChangeArrowheads="1"/>
            </p:cNvSpPr>
            <p:nvPr/>
          </p:nvSpPr>
          <p:spPr bwMode="auto">
            <a:xfrm>
              <a:off x="4551" y="3601"/>
              <a:ext cx="75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10000"/>
                </a:spcBef>
              </a:pPr>
              <a:r>
                <a:rPr lang="en-US" sz="2000" b="1">
                  <a:solidFill>
                    <a:srgbClr val="FFFF00"/>
                  </a:solidFill>
                  <a:latin typeface="Arial" pitchFamily="34" charset="0"/>
                </a:rPr>
                <a:t>PC thread 1</a:t>
              </a:r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				</a:t>
            </a:r>
            <a:r>
              <a:rPr lang="he-IL" b="1" dirty="0" smtClean="0"/>
              <a:t>     ייחודי לתהליך   ייחודי לחוט</a:t>
            </a:r>
            <a:endParaRPr lang="en-US" b="1" dirty="0" smtClean="0"/>
          </a:p>
          <a:p>
            <a:r>
              <a:rPr lang="en-US" b="1" dirty="0" smtClean="0"/>
              <a:t>Program Counter</a:t>
            </a:r>
          </a:p>
          <a:p>
            <a:r>
              <a:rPr lang="en-US" b="1" dirty="0" smtClean="0"/>
              <a:t>Registers</a:t>
            </a:r>
          </a:p>
          <a:p>
            <a:r>
              <a:rPr lang="en-US" b="1" dirty="0" smtClean="0"/>
              <a:t>Execution Stack</a:t>
            </a:r>
          </a:p>
          <a:p>
            <a:r>
              <a:rPr lang="en-US" b="1" dirty="0" smtClean="0"/>
              <a:t>Address Space</a:t>
            </a:r>
          </a:p>
          <a:p>
            <a:r>
              <a:rPr lang="en-US" b="1" dirty="0" smtClean="0"/>
              <a:t>Open Files</a:t>
            </a:r>
            <a:endParaRPr lang="he-IL" b="1" dirty="0" smtClean="0"/>
          </a:p>
          <a:p>
            <a:r>
              <a:rPr lang="en-US" b="1" dirty="0" smtClean="0"/>
              <a:t>File position</a:t>
            </a:r>
          </a:p>
        </p:txBody>
      </p:sp>
      <p:sp>
        <p:nvSpPr>
          <p:cNvPr id="105472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400" b="1" dirty="0">
                <a:solidFill>
                  <a:srgbClr val="FFFF00"/>
                </a:solidFill>
              </a:rPr>
              <a:t>חוטים לעומת תהליכים</a:t>
            </a:r>
            <a:endParaRPr lang="en-GB" sz="4400" b="1" dirty="0">
              <a:solidFill>
                <a:srgbClr val="FFFF00"/>
              </a:solidFill>
            </a:endParaRPr>
          </a:p>
        </p:txBody>
      </p:sp>
      <p:sp>
        <p:nvSpPr>
          <p:cNvPr id="1054724" name="Text Box 4"/>
          <p:cNvSpPr txBox="1">
            <a:spLocks noChangeArrowheads="1"/>
          </p:cNvSpPr>
          <p:nvPr/>
        </p:nvSpPr>
        <p:spPr bwMode="auto">
          <a:xfrm>
            <a:off x="4032250" y="2168525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25" name="Text Box 5"/>
          <p:cNvSpPr txBox="1">
            <a:spLocks noChangeArrowheads="1"/>
          </p:cNvSpPr>
          <p:nvPr/>
        </p:nvSpPr>
        <p:spPr bwMode="auto">
          <a:xfrm>
            <a:off x="4032250" y="2692400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26" name="Text Box 6"/>
          <p:cNvSpPr txBox="1">
            <a:spLocks noChangeArrowheads="1"/>
          </p:cNvSpPr>
          <p:nvPr/>
        </p:nvSpPr>
        <p:spPr bwMode="auto">
          <a:xfrm>
            <a:off x="4032250" y="37417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27" name="Text Box 7"/>
          <p:cNvSpPr txBox="1">
            <a:spLocks noChangeArrowheads="1"/>
          </p:cNvSpPr>
          <p:nvPr/>
        </p:nvSpPr>
        <p:spPr bwMode="auto">
          <a:xfrm>
            <a:off x="4033838" y="4265613"/>
            <a:ext cx="309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28" name="Text Box 8"/>
          <p:cNvSpPr txBox="1">
            <a:spLocks noChangeArrowheads="1"/>
          </p:cNvSpPr>
          <p:nvPr/>
        </p:nvSpPr>
        <p:spPr bwMode="auto">
          <a:xfrm>
            <a:off x="4032250" y="4791075"/>
            <a:ext cx="309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29" name="Text Box 9"/>
          <p:cNvSpPr txBox="1">
            <a:spLocks noChangeArrowheads="1"/>
          </p:cNvSpPr>
          <p:nvPr/>
        </p:nvSpPr>
        <p:spPr bwMode="auto">
          <a:xfrm>
            <a:off x="4033838" y="3216275"/>
            <a:ext cx="30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30" name="Text Box 10"/>
          <p:cNvSpPr txBox="1">
            <a:spLocks noChangeArrowheads="1"/>
          </p:cNvSpPr>
          <p:nvPr/>
        </p:nvSpPr>
        <p:spPr bwMode="auto">
          <a:xfrm>
            <a:off x="2366963" y="2168525"/>
            <a:ext cx="30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31" name="Text Box 11"/>
          <p:cNvSpPr txBox="1">
            <a:spLocks noChangeArrowheads="1"/>
          </p:cNvSpPr>
          <p:nvPr/>
        </p:nvSpPr>
        <p:spPr bwMode="auto">
          <a:xfrm>
            <a:off x="2366963" y="2692400"/>
            <a:ext cx="30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1054732" name="Text Box 12"/>
          <p:cNvSpPr txBox="1">
            <a:spLocks noChangeArrowheads="1"/>
          </p:cNvSpPr>
          <p:nvPr/>
        </p:nvSpPr>
        <p:spPr bwMode="auto">
          <a:xfrm>
            <a:off x="2351088" y="3741738"/>
            <a:ext cx="341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/>
              <a:t>X</a:t>
            </a:r>
            <a:endParaRPr lang="he-IL"/>
          </a:p>
        </p:txBody>
      </p:sp>
      <p:sp>
        <p:nvSpPr>
          <p:cNvPr id="1054733" name="Text Box 13"/>
          <p:cNvSpPr txBox="1">
            <a:spLocks noChangeArrowheads="1"/>
          </p:cNvSpPr>
          <p:nvPr/>
        </p:nvSpPr>
        <p:spPr bwMode="auto">
          <a:xfrm>
            <a:off x="2351088" y="4265613"/>
            <a:ext cx="341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/>
              <a:t>X</a:t>
            </a:r>
            <a:endParaRPr lang="he-IL"/>
          </a:p>
        </p:txBody>
      </p:sp>
      <p:sp>
        <p:nvSpPr>
          <p:cNvPr id="1054734" name="Text Box 14"/>
          <p:cNvSpPr txBox="1">
            <a:spLocks noChangeArrowheads="1"/>
          </p:cNvSpPr>
          <p:nvPr/>
        </p:nvSpPr>
        <p:spPr bwMode="auto">
          <a:xfrm>
            <a:off x="2351088" y="4791075"/>
            <a:ext cx="341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/>
              <a:t>X</a:t>
            </a:r>
            <a:endParaRPr lang="he-IL"/>
          </a:p>
        </p:txBody>
      </p:sp>
      <p:sp>
        <p:nvSpPr>
          <p:cNvPr id="1054735" name="Text Box 15"/>
          <p:cNvSpPr txBox="1">
            <a:spLocks noChangeArrowheads="1"/>
          </p:cNvSpPr>
          <p:nvPr/>
        </p:nvSpPr>
        <p:spPr bwMode="auto">
          <a:xfrm>
            <a:off x="2366963" y="3216275"/>
            <a:ext cx="30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/>
              <a:t>√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24" grpId="0"/>
      <p:bldP spid="1054725" grpId="0"/>
      <p:bldP spid="1054726" grpId="0"/>
      <p:bldP spid="1054727" grpId="0"/>
      <p:bldP spid="1054728" grpId="0"/>
      <p:bldP spid="1054729" grpId="0"/>
      <p:bldP spid="1054730" grpId="0"/>
      <p:bldP spid="1054731" grpId="0"/>
      <p:bldP spid="1054732" grpId="0"/>
      <p:bldP spid="1054733" grpId="0"/>
      <p:bldP spid="1054734" grpId="0"/>
      <p:bldP spid="10547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698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400" b="1" dirty="0">
                <a:solidFill>
                  <a:srgbClr val="FFFF00"/>
                </a:solidFill>
              </a:rPr>
              <a:t>תהליך מרובה חוטים: תרשים</a:t>
            </a:r>
            <a:endParaRPr lang="en-US" sz="4400" b="1" dirty="0">
              <a:solidFill>
                <a:srgbClr val="FFFF00"/>
              </a:solidFill>
            </a:endParaRPr>
          </a:p>
        </p:txBody>
      </p:sp>
      <p:pic>
        <p:nvPicPr>
          <p:cNvPr id="317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" t="11751" r="375" b="11751"/>
          <a:stretch>
            <a:fillRect/>
          </a:stretch>
        </p:blipFill>
        <p:spPr bwMode="auto">
          <a:xfrm>
            <a:off x="539552" y="1628800"/>
            <a:ext cx="8136903" cy="4647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dirty="0">
                <a:solidFill>
                  <a:srgbClr val="FFFF00"/>
                </a:solidFill>
              </a:rPr>
              <a:t>דוגמה: שרת קבצים</a:t>
            </a:r>
            <a:endParaRPr lang="en-GB" sz="4800" b="1" dirty="0">
              <a:solidFill>
                <a:srgbClr val="FFFF00"/>
              </a:solidFill>
            </a:endParaRPr>
          </a:p>
        </p:txBody>
      </p:sp>
      <p:sp>
        <p:nvSpPr>
          <p:cNvPr id="1056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1646238"/>
            <a:ext cx="4392488" cy="4525962"/>
          </a:xfrm>
        </p:spPr>
        <p:txBody>
          <a:bodyPr/>
          <a:lstStyle/>
          <a:p>
            <a:r>
              <a:rPr lang="he-IL" sz="3200" b="1" dirty="0" smtClean="0"/>
              <a:t>התהליך מחזיר:</a:t>
            </a:r>
          </a:p>
          <a:p>
            <a:pPr lvl="1"/>
            <a:r>
              <a:rPr lang="he-IL" sz="2800" b="1" dirty="0" smtClean="0"/>
              <a:t>מחרוזת תווים (במקרה של קריאה)</a:t>
            </a:r>
          </a:p>
          <a:p>
            <a:pPr lvl="1"/>
            <a:r>
              <a:rPr lang="he-IL" sz="2800" b="1" dirty="0" smtClean="0"/>
              <a:t>סטאטוס (הצלחה/כישלון)</a:t>
            </a:r>
          </a:p>
          <a:p>
            <a:pPr lvl="1"/>
            <a:r>
              <a:rPr lang="he-IL" sz="2800" b="1" dirty="0" smtClean="0"/>
              <a:t>אורך קריאה/כתיבה (בפועל)</a:t>
            </a:r>
          </a:p>
        </p:txBody>
      </p:sp>
      <p:sp>
        <p:nvSpPr>
          <p:cNvPr id="3277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88024" y="1646238"/>
            <a:ext cx="4104456" cy="4525962"/>
          </a:xfrm>
        </p:spPr>
        <p:txBody>
          <a:bodyPr/>
          <a:lstStyle/>
          <a:p>
            <a:r>
              <a:rPr lang="he-IL" sz="3200" b="1" dirty="0" smtClean="0"/>
              <a:t>תהליך מקבל בקשות עם הפרמטרים הבאים:</a:t>
            </a:r>
          </a:p>
          <a:p>
            <a:pPr lvl="1"/>
            <a:r>
              <a:rPr lang="he-IL" sz="2800" b="1" dirty="0" smtClean="0"/>
              <a:t>סוג:</a:t>
            </a:r>
            <a:r>
              <a:rPr lang="en-US" sz="2800" b="1" dirty="0" smtClean="0"/>
              <a:t> </a:t>
            </a:r>
            <a:r>
              <a:rPr lang="he-IL" sz="2800" b="1" dirty="0" smtClean="0"/>
              <a:t>קריאה / כתיבה</a:t>
            </a:r>
          </a:p>
          <a:p>
            <a:pPr lvl="1"/>
            <a:r>
              <a:rPr lang="he-IL" sz="2800" b="1" dirty="0" smtClean="0"/>
              <a:t>זיהוי קובץ</a:t>
            </a:r>
          </a:p>
          <a:p>
            <a:pPr lvl="1"/>
            <a:r>
              <a:rPr lang="he-IL" sz="2800" b="1" dirty="0" smtClean="0"/>
              <a:t>מיקום בקובץ</a:t>
            </a:r>
          </a:p>
          <a:p>
            <a:pPr lvl="1"/>
            <a:r>
              <a:rPr lang="he-IL" sz="2800" b="1" dirty="0" smtClean="0"/>
              <a:t>אורך</a:t>
            </a:r>
          </a:p>
          <a:p>
            <a:pPr lvl="1"/>
            <a:r>
              <a:rPr lang="he-IL" sz="2800" b="1" dirty="0" smtClean="0"/>
              <a:t>חוצץ </a:t>
            </a:r>
            <a:r>
              <a:rPr lang="en-US" sz="2800" b="1" dirty="0" smtClean="0"/>
              <a:t>(buffer)</a:t>
            </a:r>
          </a:p>
          <a:p>
            <a:pPr lvl="1">
              <a:buFont typeface="Wingdings" pitchFamily="2" charset="2"/>
              <a:buNone/>
            </a:pPr>
            <a:endParaRPr lang="en-US" sz="2800" b="1" dirty="0" smtClean="0"/>
          </a:p>
          <a:p>
            <a:endParaRPr lang="en-US" sz="32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5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35975" cy="113982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he-IL" sz="4400" b="1" dirty="0">
                <a:solidFill>
                  <a:srgbClr val="FFFF00"/>
                </a:solidFill>
              </a:rPr>
              <a:t>שרת קבצים: מימוש עם חוט יחיד</a:t>
            </a:r>
            <a:endParaRPr lang="en-GB" sz="4400" b="1" dirty="0">
              <a:solidFill>
                <a:srgbClr val="FFFF00"/>
              </a:solidFill>
            </a:endParaRPr>
          </a:p>
        </p:txBody>
      </p:sp>
      <p:sp>
        <p:nvSpPr>
          <p:cNvPr id="105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GB" b="1" dirty="0" smtClean="0"/>
          </a:p>
          <a:p>
            <a:pPr>
              <a:lnSpc>
                <a:spcPct val="90000"/>
              </a:lnSpc>
            </a:pPr>
            <a:endParaRPr lang="en-GB" b="1" dirty="0" smtClean="0"/>
          </a:p>
          <a:p>
            <a:pPr>
              <a:lnSpc>
                <a:spcPct val="90000"/>
              </a:lnSpc>
            </a:pPr>
            <a:endParaRPr lang="en-GB" b="1" dirty="0" smtClean="0"/>
          </a:p>
          <a:p>
            <a:pPr>
              <a:lnSpc>
                <a:spcPct val="90000"/>
              </a:lnSpc>
            </a:pPr>
            <a:endParaRPr lang="he-IL" b="1" dirty="0" smtClean="0"/>
          </a:p>
          <a:p>
            <a:pPr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he-IL" b="1" dirty="0" smtClean="0"/>
              <a:t>פשטות</a:t>
            </a:r>
          </a:p>
          <a:p>
            <a:pPr>
              <a:lnSpc>
                <a:spcPct val="90000"/>
              </a:lnSpc>
              <a:buSzTx/>
              <a:buFont typeface="Wingdings" pitchFamily="2" charset="2"/>
              <a:buChar char="û"/>
            </a:pPr>
            <a:r>
              <a:rPr lang="he-IL" b="1" dirty="0" smtClean="0"/>
              <a:t>ניצול משאבים לקוי, למשל בהמתנה לקלט/פלט</a:t>
            </a:r>
          </a:p>
          <a:p>
            <a:pPr>
              <a:lnSpc>
                <a:spcPct val="90000"/>
              </a:lnSpc>
            </a:pPr>
            <a:endParaRPr lang="he-IL" b="1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he-IL" b="1" dirty="0" smtClean="0"/>
              <a:t>ניתן ליעל ע"י קלט / פלט אסינכרוני וטיפול במספר בקשות בו זמנית</a:t>
            </a:r>
            <a:endParaRPr lang="en-GB" b="1" dirty="0" smtClean="0"/>
          </a:p>
        </p:txBody>
      </p:sp>
      <p:sp>
        <p:nvSpPr>
          <p:cNvPr id="33799" name="Text Box 4"/>
          <p:cNvSpPr txBox="1">
            <a:spLocks noChangeArrowheads="1"/>
          </p:cNvSpPr>
          <p:nvPr/>
        </p:nvSpPr>
        <p:spPr bwMode="auto">
          <a:xfrm>
            <a:off x="503238" y="1700213"/>
            <a:ext cx="385273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sz="2400" b="1" dirty="0">
                <a:latin typeface="Courier New" pitchFamily="49" charset="0"/>
                <a:cs typeface="Courier New" pitchFamily="49" charset="0"/>
              </a:rPr>
              <a:t>do forever</a:t>
            </a:r>
          </a:p>
          <a:p>
            <a:pPr algn="l" eaLnBrk="1" hangingPunct="1"/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get request;</a:t>
            </a:r>
          </a:p>
          <a:p>
            <a:pPr algn="l" eaLnBrk="1" hangingPunct="1"/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execute request;</a:t>
            </a:r>
          </a:p>
          <a:p>
            <a:pPr algn="l" eaLnBrk="1" hangingPunct="1"/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return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results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eaLnBrk="1" hangingPunct="1"/>
            <a:r>
              <a:rPr lang="en-US" sz="2400" b="1" dirty="0">
                <a:latin typeface="Courier New" pitchFamily="49" charset="0"/>
                <a:cs typeface="Courier New" pitchFamily="49" charset="0"/>
              </a:rPr>
              <a:t>end;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he-IL" b="1" dirty="0">
                <a:solidFill>
                  <a:srgbClr val="FFFF00"/>
                </a:solidFill>
              </a:rPr>
              <a:t>מימוש באמצעות חוטים</a:t>
            </a:r>
            <a:endParaRPr lang="en-GB" b="1" dirty="0">
              <a:solidFill>
                <a:srgbClr val="FFFF00"/>
              </a:solidFill>
            </a:endParaRPr>
          </a:p>
        </p:txBody>
      </p:sp>
      <p:sp>
        <p:nvSpPr>
          <p:cNvPr id="106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 smtClean="0"/>
              <a:t>חוט מנהל</a:t>
            </a:r>
          </a:p>
          <a:p>
            <a:pPr lvl="1"/>
            <a:r>
              <a:rPr lang="he-IL" b="1" dirty="0" smtClean="0"/>
              <a:t>מקבל בקשה</a:t>
            </a:r>
          </a:p>
          <a:p>
            <a:pPr lvl="1"/>
            <a:r>
              <a:rPr lang="he-IL" b="1" dirty="0" smtClean="0"/>
              <a:t>מייצר חוט עבודה, ומעביר אליו את הבקשה</a:t>
            </a:r>
          </a:p>
          <a:p>
            <a:r>
              <a:rPr lang="he-IL" b="1" dirty="0" smtClean="0"/>
              <a:t>חוט עבודה</a:t>
            </a:r>
          </a:p>
          <a:p>
            <a:pPr lvl="1"/>
            <a:r>
              <a:rPr lang="he-IL" b="1" dirty="0" smtClean="0"/>
              <a:t>מבצע את הבקשה</a:t>
            </a:r>
          </a:p>
          <a:p>
            <a:pPr lvl="1"/>
            <a:r>
              <a:rPr lang="he-IL" b="1" dirty="0" smtClean="0"/>
              <a:t>מחזיר תשובה</a:t>
            </a:r>
          </a:p>
          <a:p>
            <a:endParaRPr lang="he-IL" b="1" dirty="0" smtClean="0"/>
          </a:p>
          <a:p>
            <a:pPr>
              <a:buSzTx/>
              <a:buFont typeface="Wingdings" pitchFamily="2" charset="2"/>
              <a:buChar char="ü"/>
            </a:pPr>
            <a:r>
              <a:rPr lang="he-IL" b="1" dirty="0" smtClean="0"/>
              <a:t>תפוקה גבוהה יותר</a:t>
            </a:r>
          </a:p>
          <a:p>
            <a:pPr>
              <a:buSzTx/>
              <a:buFont typeface="Wingdings" pitchFamily="2" charset="2"/>
              <a:buChar char="û"/>
            </a:pPr>
            <a:r>
              <a:rPr lang="he-IL" b="1" dirty="0" smtClean="0"/>
              <a:t>תכנות מורכב יותר</a:t>
            </a:r>
            <a:endParaRPr lang="en-GB" b="1" dirty="0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0345" y="3213100"/>
            <a:ext cx="5246601" cy="3168228"/>
            <a:chOff x="230" y="2024"/>
            <a:chExt cx="3096" cy="1680"/>
          </a:xfrm>
        </p:grpSpPr>
        <p:sp>
          <p:nvSpPr>
            <p:cNvPr id="34824" name="Text Box 5"/>
            <p:cNvSpPr txBox="1">
              <a:spLocks noChangeArrowheads="1"/>
            </p:cNvSpPr>
            <p:nvPr/>
          </p:nvSpPr>
          <p:spPr bwMode="auto">
            <a:xfrm>
              <a:off x="230" y="3113"/>
              <a:ext cx="43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he-IL" sz="1600" b="1" dirty="0">
                  <a:solidFill>
                    <a:schemeClr val="bg1"/>
                  </a:solidFill>
                  <a:latin typeface="Arial" pitchFamily="34" charset="0"/>
                </a:rPr>
                <a:t>בקשה</a:t>
              </a:r>
              <a:endParaRPr lang="en-GB" sz="1600" b="1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34825" name="Rectangle 6"/>
            <p:cNvSpPr>
              <a:spLocks noChangeArrowheads="1"/>
            </p:cNvSpPr>
            <p:nvPr/>
          </p:nvSpPr>
          <p:spPr bwMode="auto">
            <a:xfrm>
              <a:off x="657" y="2024"/>
              <a:ext cx="2200" cy="1680"/>
            </a:xfrm>
            <a:prstGeom prst="rect">
              <a:avLst/>
            </a:prstGeom>
            <a:solidFill>
              <a:schemeClr val="accent2">
                <a:alpha val="45882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26" name="Rectangle 7"/>
            <p:cNvSpPr>
              <a:spLocks noChangeArrowheads="1"/>
            </p:cNvSpPr>
            <p:nvPr/>
          </p:nvSpPr>
          <p:spPr bwMode="auto">
            <a:xfrm>
              <a:off x="700" y="2456"/>
              <a:ext cx="336" cy="960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27" name="Line 8"/>
            <p:cNvSpPr>
              <a:spLocks noChangeShapeType="1"/>
            </p:cNvSpPr>
            <p:nvPr/>
          </p:nvSpPr>
          <p:spPr bwMode="auto">
            <a:xfrm>
              <a:off x="317" y="3317"/>
              <a:ext cx="383" cy="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28" name="Rectangle 9"/>
            <p:cNvSpPr>
              <a:spLocks noChangeArrowheads="1"/>
            </p:cNvSpPr>
            <p:nvPr/>
          </p:nvSpPr>
          <p:spPr bwMode="auto">
            <a:xfrm>
              <a:off x="2086" y="2432"/>
              <a:ext cx="720" cy="14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חוט עבודה</a:t>
              </a:r>
              <a:endParaRPr lang="en-GB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34829" name="Rectangle 10"/>
            <p:cNvSpPr>
              <a:spLocks noChangeArrowheads="1"/>
            </p:cNvSpPr>
            <p:nvPr/>
          </p:nvSpPr>
          <p:spPr bwMode="auto">
            <a:xfrm>
              <a:off x="2086" y="2696"/>
              <a:ext cx="720" cy="14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he-IL" sz="1600" b="1">
                  <a:solidFill>
                    <a:schemeClr val="bg1"/>
                  </a:solidFill>
                  <a:latin typeface="Arial" pitchFamily="34" charset="0"/>
                </a:rPr>
                <a:t>חוט עבודה</a:t>
              </a:r>
              <a:endParaRPr lang="en-GB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34830" name="Line 11"/>
            <p:cNvSpPr>
              <a:spLocks noChangeShapeType="1"/>
            </p:cNvSpPr>
            <p:nvPr/>
          </p:nvSpPr>
          <p:spPr bwMode="auto">
            <a:xfrm>
              <a:off x="2812" y="2546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31" name="Line 12"/>
            <p:cNvSpPr>
              <a:spLocks noChangeShapeType="1"/>
            </p:cNvSpPr>
            <p:nvPr/>
          </p:nvSpPr>
          <p:spPr bwMode="auto">
            <a:xfrm>
              <a:off x="2806" y="2778"/>
              <a:ext cx="49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32" name="Text Box 13"/>
            <p:cNvSpPr txBox="1">
              <a:spLocks noChangeArrowheads="1"/>
            </p:cNvSpPr>
            <p:nvPr/>
          </p:nvSpPr>
          <p:spPr bwMode="auto">
            <a:xfrm>
              <a:off x="2857" y="2337"/>
              <a:ext cx="46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he-IL" sz="1600" b="1" dirty="0">
                  <a:solidFill>
                    <a:schemeClr val="bg1"/>
                  </a:solidFill>
                  <a:latin typeface="Arial" pitchFamily="34" charset="0"/>
                </a:rPr>
                <a:t>תשובה</a:t>
              </a:r>
              <a:endParaRPr lang="en-GB" sz="1600" b="1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34833" name="Rectangle 14"/>
            <p:cNvSpPr>
              <a:spLocks noChangeArrowheads="1"/>
            </p:cNvSpPr>
            <p:nvPr/>
          </p:nvSpPr>
          <p:spPr bwMode="auto">
            <a:xfrm>
              <a:off x="700" y="2456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34" name="Rectangle 15"/>
            <p:cNvSpPr>
              <a:spLocks noChangeArrowheads="1"/>
            </p:cNvSpPr>
            <p:nvPr/>
          </p:nvSpPr>
          <p:spPr bwMode="auto">
            <a:xfrm>
              <a:off x="700" y="2552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35" name="Rectangle 16"/>
            <p:cNvSpPr>
              <a:spLocks noChangeArrowheads="1"/>
            </p:cNvSpPr>
            <p:nvPr/>
          </p:nvSpPr>
          <p:spPr bwMode="auto">
            <a:xfrm>
              <a:off x="700" y="2648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36" name="Rectangle 17"/>
            <p:cNvSpPr>
              <a:spLocks noChangeArrowheads="1"/>
            </p:cNvSpPr>
            <p:nvPr/>
          </p:nvSpPr>
          <p:spPr bwMode="auto">
            <a:xfrm>
              <a:off x="700" y="2744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cxnSp>
          <p:nvCxnSpPr>
            <p:cNvPr id="34837" name="AutoShape 18"/>
            <p:cNvCxnSpPr>
              <a:cxnSpLocks noChangeShapeType="1"/>
              <a:stCxn id="34833" idx="3"/>
              <a:endCxn id="34828" idx="1"/>
            </p:cNvCxnSpPr>
            <p:nvPr/>
          </p:nvCxnSpPr>
          <p:spPr bwMode="auto">
            <a:xfrm>
              <a:off x="1045" y="2504"/>
              <a:ext cx="1041" cy="0"/>
            </a:xfrm>
            <a:prstGeom prst="straightConnector1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38" name="AutoShape 19"/>
            <p:cNvCxnSpPr>
              <a:cxnSpLocks noChangeShapeType="1"/>
              <a:stCxn id="34834" idx="3"/>
              <a:endCxn id="34829" idx="1"/>
            </p:cNvCxnSpPr>
            <p:nvPr/>
          </p:nvCxnSpPr>
          <p:spPr bwMode="auto">
            <a:xfrm>
              <a:off x="1045" y="2600"/>
              <a:ext cx="1041" cy="168"/>
            </a:xfrm>
            <a:prstGeom prst="bentConnector3">
              <a:avLst>
                <a:gd name="adj1" fmla="val 49569"/>
              </a:avLst>
            </a:prstGeom>
            <a:noFill/>
            <a:ln w="38100">
              <a:solidFill>
                <a:srgbClr val="C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9" name="Rectangle 20"/>
            <p:cNvSpPr>
              <a:spLocks noChangeArrowheads="1"/>
            </p:cNvSpPr>
            <p:nvPr/>
          </p:nvSpPr>
          <p:spPr bwMode="auto">
            <a:xfrm>
              <a:off x="2086" y="3226"/>
              <a:ext cx="720" cy="144"/>
            </a:xfrm>
            <a:prstGeom prst="rect">
              <a:avLst/>
            </a:prstGeom>
            <a:solidFill>
              <a:schemeClr val="hlink">
                <a:alpha val="25098"/>
              </a:scheme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34840" name="Rectangle 21"/>
            <p:cNvSpPr>
              <a:spLocks noChangeArrowheads="1"/>
            </p:cNvSpPr>
            <p:nvPr/>
          </p:nvSpPr>
          <p:spPr bwMode="auto">
            <a:xfrm>
              <a:off x="2086" y="2961"/>
              <a:ext cx="720" cy="144"/>
            </a:xfrm>
            <a:prstGeom prst="rect">
              <a:avLst/>
            </a:prstGeom>
            <a:solidFill>
              <a:schemeClr val="hlink">
                <a:alpha val="25098"/>
              </a:scheme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16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34841" name="Line 22"/>
            <p:cNvSpPr>
              <a:spLocks noChangeShapeType="1"/>
            </p:cNvSpPr>
            <p:nvPr/>
          </p:nvSpPr>
          <p:spPr bwMode="auto">
            <a:xfrm>
              <a:off x="2812" y="3045"/>
              <a:ext cx="49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  <p:sp>
          <p:nvSpPr>
            <p:cNvPr id="34842" name="Line 23"/>
            <p:cNvSpPr>
              <a:spLocks noChangeShapeType="1"/>
            </p:cNvSpPr>
            <p:nvPr/>
          </p:nvSpPr>
          <p:spPr bwMode="auto">
            <a:xfrm>
              <a:off x="2812" y="3317"/>
              <a:ext cx="49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60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0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60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0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6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he-IL" b="1" dirty="0">
                <a:solidFill>
                  <a:srgbClr val="FFFF00"/>
                </a:solidFill>
              </a:rPr>
              <a:t>יתרונות וחסרונות</a:t>
            </a:r>
            <a:endParaRPr lang="en-GB" b="1" dirty="0">
              <a:solidFill>
                <a:srgbClr val="FFFF00"/>
              </a:solidFill>
            </a:endParaRPr>
          </a:p>
        </p:txBody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40960" cy="47085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he-IL" sz="2800" b="1" dirty="0" smtClean="0"/>
              <a:t>יצירת חוט יעילה יותר</a:t>
            </a:r>
          </a:p>
          <a:p>
            <a:pPr lvl="1">
              <a:lnSpc>
                <a:spcPct val="90000"/>
              </a:lnSpc>
              <a:buFont typeface="Verdana" pitchFamily="34" charset="0"/>
              <a:buChar char="–"/>
            </a:pPr>
            <a:r>
              <a:rPr lang="he-IL" sz="2400" b="1" dirty="0" smtClean="0"/>
              <a:t>רק יצירת </a:t>
            </a:r>
            <a:r>
              <a:rPr lang="en-US" sz="2400" b="1" dirty="0" smtClean="0"/>
              <a:t>thread control block</a:t>
            </a:r>
            <a:r>
              <a:rPr lang="he-IL" sz="2400" b="1" dirty="0" smtClean="0"/>
              <a:t> והקצאת מחסנית</a:t>
            </a:r>
          </a:p>
          <a:p>
            <a:pPr lvl="1">
              <a:lnSpc>
                <a:spcPct val="90000"/>
              </a:lnSpc>
              <a:buFont typeface="Verdana" pitchFamily="34" charset="0"/>
              <a:buChar char="–"/>
            </a:pPr>
            <a:r>
              <a:rPr lang="he-IL" sz="2400" b="1" dirty="0" smtClean="0"/>
              <a:t>החלפת הקשר בין חוטים של אותו תהליך מהירה יותר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he-IL" sz="2800" b="1" dirty="0" smtClean="0"/>
              <a:t>ניצול טוב יותר של משאבים</a:t>
            </a:r>
          </a:p>
          <a:p>
            <a:pPr lvl="1">
              <a:lnSpc>
                <a:spcPct val="90000"/>
              </a:lnSpc>
              <a:buFont typeface="Verdana" pitchFamily="34" charset="0"/>
              <a:buChar char="–"/>
            </a:pPr>
            <a:r>
              <a:rPr lang="he-IL" sz="2400" b="1" dirty="0" smtClean="0"/>
              <a:t>חוט אחד נחסם (למשל על </a:t>
            </a:r>
            <a:r>
              <a:rPr lang="en-US" sz="2400" b="1" dirty="0" smtClean="0"/>
              <a:t>IO</a:t>
            </a:r>
            <a:r>
              <a:rPr lang="he-IL" sz="2400" b="1" dirty="0" smtClean="0"/>
              <a:t>), חוטים אחרים של אותו תהליך ממשיכים לרוץ</a:t>
            </a:r>
          </a:p>
          <a:p>
            <a:pPr lvl="1">
              <a:lnSpc>
                <a:spcPct val="90000"/>
              </a:lnSpc>
              <a:buFont typeface="Verdana" pitchFamily="34" charset="0"/>
              <a:buChar char="–"/>
            </a:pPr>
            <a:r>
              <a:rPr lang="he-IL" sz="2400" b="1" dirty="0" smtClean="0"/>
              <a:t>מקביליות </a:t>
            </a:r>
            <a:r>
              <a:rPr lang="he-IL" sz="2400" b="1" dirty="0" err="1" smtClean="0"/>
              <a:t>אמיתית</a:t>
            </a:r>
            <a:r>
              <a:rPr lang="he-IL" sz="2400" b="1" dirty="0" smtClean="0"/>
              <a:t> במערכות מרובות מעבדים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he-IL" sz="2800" b="1" dirty="0" smtClean="0"/>
              <a:t>תקשורת נוחה יותר בין חוטים השייכים לאותו תהליך</a:t>
            </a:r>
          </a:p>
          <a:p>
            <a:pPr lvl="1">
              <a:lnSpc>
                <a:spcPct val="90000"/>
              </a:lnSpc>
              <a:buFont typeface="Verdana" pitchFamily="34" charset="0"/>
              <a:buChar char="–"/>
            </a:pPr>
            <a:r>
              <a:rPr lang="he-IL" sz="2400" b="1" dirty="0" smtClean="0"/>
              <a:t>זיכרון משותף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he-IL" sz="2800" b="1" dirty="0" smtClean="0"/>
              <a:t>תכנות מובנה יותר</a:t>
            </a:r>
          </a:p>
          <a:p>
            <a:pPr>
              <a:lnSpc>
                <a:spcPct val="90000"/>
              </a:lnSpc>
              <a:buSzTx/>
              <a:buFont typeface="Wingdings" pitchFamily="2" charset="2"/>
              <a:buChar char="û"/>
            </a:pPr>
            <a:r>
              <a:rPr lang="he-IL" sz="2800" b="1" dirty="0" smtClean="0"/>
              <a:t>חוסר הגנה בין חוטים באותו תהליך</a:t>
            </a:r>
          </a:p>
          <a:p>
            <a:pPr lvl="1">
              <a:lnSpc>
                <a:spcPct val="90000"/>
              </a:lnSpc>
              <a:buFont typeface="Verdana" pitchFamily="34" charset="0"/>
              <a:buChar char="–"/>
            </a:pPr>
            <a:r>
              <a:rPr lang="he-IL" sz="2400" b="1" dirty="0" smtClean="0"/>
              <a:t>חוט עלול לדרוס את המחסנית של חוט אחר</a:t>
            </a:r>
          </a:p>
          <a:p>
            <a:pPr lvl="1">
              <a:lnSpc>
                <a:spcPct val="90000"/>
              </a:lnSpc>
              <a:buFont typeface="Verdana" pitchFamily="34" charset="0"/>
              <a:buChar char="–"/>
            </a:pPr>
            <a:r>
              <a:rPr lang="he-IL" sz="2400" b="1" dirty="0" smtClean="0"/>
              <a:t>גישה לא מתואמת למשתנים גלובליים</a:t>
            </a:r>
            <a:endParaRPr lang="en-US" sz="24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64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dirty="0">
                <a:solidFill>
                  <a:srgbClr val="FFFF00"/>
                </a:solidFill>
              </a:rPr>
              <a:t>חוטי משתמש וחוטי מערכת</a:t>
            </a:r>
            <a:endParaRPr lang="en-GB" sz="4800" b="1" dirty="0">
              <a:solidFill>
                <a:srgbClr val="FFFF00"/>
              </a:solidFill>
            </a:endParaRPr>
          </a:p>
        </p:txBody>
      </p:sp>
      <p:sp>
        <p:nvSpPr>
          <p:cNvPr id="106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6238"/>
            <a:ext cx="843528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sz="2800" b="1" dirty="0" smtClean="0"/>
              <a:t>חוט משתמש </a:t>
            </a:r>
            <a:r>
              <a:rPr lang="en-US" sz="2800" b="1" dirty="0" smtClean="0"/>
              <a:t>(</a:t>
            </a:r>
            <a:r>
              <a:rPr lang="en-US" sz="2400" b="1" dirty="0" smtClean="0"/>
              <a:t>user threads</a:t>
            </a:r>
            <a:r>
              <a:rPr lang="en-US" sz="2800" b="1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he-IL" sz="2400" b="1" dirty="0" smtClean="0"/>
              <a:t>מוגדרים ע"י סביבת התכנות</a:t>
            </a:r>
          </a:p>
          <a:p>
            <a:pPr lvl="2">
              <a:lnSpc>
                <a:spcPct val="90000"/>
              </a:lnSpc>
            </a:pPr>
            <a:r>
              <a:rPr lang="he-IL" sz="2000" b="1" dirty="0" smtClean="0"/>
              <a:t>לא דורשים קריאות מערכת</a:t>
            </a:r>
          </a:p>
          <a:p>
            <a:pPr lvl="2">
              <a:lnSpc>
                <a:spcPct val="90000"/>
              </a:lnSpc>
            </a:pPr>
            <a:r>
              <a:rPr lang="he-IL" sz="2000" b="1" dirty="0" smtClean="0"/>
              <a:t>זימון בשיתוף פעולה (ע"י פקודת </a:t>
            </a:r>
            <a:r>
              <a:rPr lang="en-US" sz="2000" b="1" dirty="0" smtClean="0"/>
              <a:t>yield</a:t>
            </a:r>
            <a:r>
              <a:rPr lang="he-IL" sz="2000" b="1" dirty="0" smtClean="0"/>
              <a:t>)</a:t>
            </a:r>
            <a:endParaRPr lang="en-US" sz="2000" b="1" dirty="0" smtClean="0"/>
          </a:p>
          <a:p>
            <a:pPr lvl="2">
              <a:lnSpc>
                <a:spcPct val="90000"/>
              </a:lnSpc>
            </a:pPr>
            <a:r>
              <a:rPr lang="he-IL" sz="2000" b="1" dirty="0" smtClean="0"/>
              <a:t>אין החלפת הקשר בגרעין</a:t>
            </a:r>
          </a:p>
          <a:p>
            <a:pPr lvl="1">
              <a:lnSpc>
                <a:spcPct val="90000"/>
              </a:lnSpc>
            </a:pPr>
            <a:r>
              <a:rPr lang="he-IL" sz="2400" b="1" dirty="0" smtClean="0"/>
              <a:t>מה קורה כאשר חוט נחסם?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2400" b="1" dirty="0" smtClean="0"/>
          </a:p>
          <a:p>
            <a:pPr>
              <a:lnSpc>
                <a:spcPct val="90000"/>
              </a:lnSpc>
            </a:pPr>
            <a:r>
              <a:rPr lang="he-IL" sz="2800" b="1" dirty="0" smtClean="0"/>
              <a:t>חוט מערכת </a:t>
            </a:r>
            <a:r>
              <a:rPr lang="en-US" sz="2800" b="1" dirty="0" smtClean="0"/>
              <a:t>(</a:t>
            </a:r>
            <a:r>
              <a:rPr lang="en-US" sz="2400" b="1" dirty="0" smtClean="0"/>
              <a:t>kernel threads</a:t>
            </a:r>
            <a:r>
              <a:rPr lang="en-US" sz="2800" b="1" dirty="0" smtClean="0"/>
              <a:t>)</a:t>
            </a:r>
            <a:endParaRPr lang="he-IL" sz="2800" b="1" dirty="0" smtClean="0"/>
          </a:p>
          <a:p>
            <a:pPr lvl="1">
              <a:lnSpc>
                <a:spcPct val="90000"/>
              </a:lnSpc>
            </a:pPr>
            <a:r>
              <a:rPr lang="he-IL" sz="2400" b="1" dirty="0" smtClean="0"/>
              <a:t>מוכרים למערכת ההפעלה</a:t>
            </a:r>
          </a:p>
          <a:p>
            <a:pPr lvl="1">
              <a:lnSpc>
                <a:spcPct val="90000"/>
              </a:lnSpc>
            </a:pPr>
            <a:r>
              <a:rPr lang="he-IL" sz="2400" b="1" dirty="0" smtClean="0"/>
              <a:t>נקראים </a:t>
            </a:r>
            <a:r>
              <a:rPr lang="en-US" sz="2000" b="1" dirty="0" smtClean="0"/>
              <a:t>lightweight processes</a:t>
            </a:r>
            <a:endParaRPr lang="he-IL" sz="2000" b="1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2400" b="1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he-IL" sz="2400" b="1" dirty="0" smtClean="0"/>
              <a:t>חוטי משתמש מאפשרים לאפליקציה לחקות ריבוי חוטים גם במערכת הפעלה </a:t>
            </a:r>
            <a:r>
              <a:rPr lang="en-US" sz="2400" b="1" dirty="0" smtClean="0"/>
              <a:t>single-threaded</a:t>
            </a:r>
            <a:r>
              <a:rPr lang="he-IL" sz="2400" b="1" dirty="0" smtClean="0"/>
              <a:t>.</a:t>
            </a:r>
            <a:endParaRPr lang="en-US" sz="2400" b="1" dirty="0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34484" y="1744527"/>
            <a:ext cx="3777475" cy="3989372"/>
            <a:chOff x="267" y="1621"/>
            <a:chExt cx="1968" cy="1460"/>
          </a:xfrm>
        </p:grpSpPr>
        <p:sp>
          <p:nvSpPr>
            <p:cNvPr id="36872" name="Rectangle 5"/>
            <p:cNvSpPr>
              <a:spLocks noChangeArrowheads="1"/>
            </p:cNvSpPr>
            <p:nvPr/>
          </p:nvSpPr>
          <p:spPr bwMode="auto">
            <a:xfrm>
              <a:off x="267" y="2325"/>
              <a:ext cx="1968" cy="624"/>
            </a:xfrm>
            <a:prstGeom prst="rect">
              <a:avLst/>
            </a:prstGeom>
            <a:solidFill>
              <a:schemeClr val="hlink">
                <a:alpha val="79999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73" name="Rectangle 6"/>
            <p:cNvSpPr>
              <a:spLocks noChangeArrowheads="1"/>
            </p:cNvSpPr>
            <p:nvPr/>
          </p:nvSpPr>
          <p:spPr bwMode="auto">
            <a:xfrm>
              <a:off x="363" y="1797"/>
              <a:ext cx="624" cy="624"/>
            </a:xfrm>
            <a:prstGeom prst="rect">
              <a:avLst/>
            </a:prstGeom>
            <a:solidFill>
              <a:schemeClr val="accent1">
                <a:alpha val="6705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24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74" name="Rectangle 7"/>
            <p:cNvSpPr>
              <a:spLocks noChangeArrowheads="1"/>
            </p:cNvSpPr>
            <p:nvPr/>
          </p:nvSpPr>
          <p:spPr bwMode="auto">
            <a:xfrm>
              <a:off x="1083" y="1797"/>
              <a:ext cx="240" cy="624"/>
            </a:xfrm>
            <a:prstGeom prst="rect">
              <a:avLst/>
            </a:prstGeom>
            <a:solidFill>
              <a:schemeClr val="accent1">
                <a:alpha val="6705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75" name="Rectangle 8"/>
            <p:cNvSpPr>
              <a:spLocks noChangeArrowheads="1"/>
            </p:cNvSpPr>
            <p:nvPr/>
          </p:nvSpPr>
          <p:spPr bwMode="auto">
            <a:xfrm>
              <a:off x="1467" y="1797"/>
              <a:ext cx="720" cy="624"/>
            </a:xfrm>
            <a:prstGeom prst="rect">
              <a:avLst/>
            </a:prstGeom>
            <a:solidFill>
              <a:schemeClr val="accent1">
                <a:alpha val="6705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76" name="Freeform 9"/>
            <p:cNvSpPr>
              <a:spLocks/>
            </p:cNvSpPr>
            <p:nvPr/>
          </p:nvSpPr>
          <p:spPr bwMode="auto">
            <a:xfrm>
              <a:off x="459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77" name="Freeform 10"/>
            <p:cNvSpPr>
              <a:spLocks/>
            </p:cNvSpPr>
            <p:nvPr/>
          </p:nvSpPr>
          <p:spPr bwMode="auto">
            <a:xfrm>
              <a:off x="555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78" name="Freeform 11"/>
            <p:cNvSpPr>
              <a:spLocks/>
            </p:cNvSpPr>
            <p:nvPr/>
          </p:nvSpPr>
          <p:spPr bwMode="auto">
            <a:xfrm>
              <a:off x="843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79" name="Freeform 12"/>
            <p:cNvSpPr>
              <a:spLocks/>
            </p:cNvSpPr>
            <p:nvPr/>
          </p:nvSpPr>
          <p:spPr bwMode="auto">
            <a:xfrm>
              <a:off x="1179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0" name="Freeform 13"/>
            <p:cNvSpPr>
              <a:spLocks/>
            </p:cNvSpPr>
            <p:nvPr/>
          </p:nvSpPr>
          <p:spPr bwMode="auto">
            <a:xfrm>
              <a:off x="1563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1" name="Freeform 14"/>
            <p:cNvSpPr>
              <a:spLocks/>
            </p:cNvSpPr>
            <p:nvPr/>
          </p:nvSpPr>
          <p:spPr bwMode="auto">
            <a:xfrm>
              <a:off x="1659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2" name="Freeform 15"/>
            <p:cNvSpPr>
              <a:spLocks/>
            </p:cNvSpPr>
            <p:nvPr/>
          </p:nvSpPr>
          <p:spPr bwMode="auto">
            <a:xfrm>
              <a:off x="2091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3" name="Freeform 16"/>
            <p:cNvSpPr>
              <a:spLocks/>
            </p:cNvSpPr>
            <p:nvPr/>
          </p:nvSpPr>
          <p:spPr bwMode="auto">
            <a:xfrm>
              <a:off x="2043" y="1845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4" name="Freeform 17"/>
            <p:cNvSpPr>
              <a:spLocks/>
            </p:cNvSpPr>
            <p:nvPr/>
          </p:nvSpPr>
          <p:spPr bwMode="auto">
            <a:xfrm>
              <a:off x="507" y="2469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5" name="Freeform 18"/>
            <p:cNvSpPr>
              <a:spLocks/>
            </p:cNvSpPr>
            <p:nvPr/>
          </p:nvSpPr>
          <p:spPr bwMode="auto">
            <a:xfrm>
              <a:off x="843" y="2469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6" name="Freeform 19"/>
            <p:cNvSpPr>
              <a:spLocks/>
            </p:cNvSpPr>
            <p:nvPr/>
          </p:nvSpPr>
          <p:spPr bwMode="auto">
            <a:xfrm>
              <a:off x="1179" y="2469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7" name="Freeform 20"/>
            <p:cNvSpPr>
              <a:spLocks/>
            </p:cNvSpPr>
            <p:nvPr/>
          </p:nvSpPr>
          <p:spPr bwMode="auto">
            <a:xfrm>
              <a:off x="1659" y="2469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8" name="Freeform 21"/>
            <p:cNvSpPr>
              <a:spLocks/>
            </p:cNvSpPr>
            <p:nvPr/>
          </p:nvSpPr>
          <p:spPr bwMode="auto">
            <a:xfrm>
              <a:off x="2091" y="2469"/>
              <a:ext cx="48" cy="384"/>
            </a:xfrm>
            <a:custGeom>
              <a:avLst/>
              <a:gdLst>
                <a:gd name="T0" fmla="*/ 0 w 48"/>
                <a:gd name="T1" fmla="*/ 0 h 528"/>
                <a:gd name="T2" fmla="*/ 48 w 48"/>
                <a:gd name="T3" fmla="*/ 55 h 528"/>
                <a:gd name="T4" fmla="*/ 0 w 48"/>
                <a:gd name="T5" fmla="*/ 111 h 528"/>
                <a:gd name="T6" fmla="*/ 48 w 48"/>
                <a:gd name="T7" fmla="*/ 148 h 528"/>
                <a:gd name="T8" fmla="*/ 0 w 48"/>
                <a:gd name="T9" fmla="*/ 20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28"/>
                <a:gd name="T17" fmla="*/ 48 w 4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28">
                  <a:moveTo>
                    <a:pt x="0" y="0"/>
                  </a:moveTo>
                  <a:lnTo>
                    <a:pt x="48" y="144"/>
                  </a:lnTo>
                  <a:lnTo>
                    <a:pt x="0" y="288"/>
                  </a:lnTo>
                  <a:lnTo>
                    <a:pt x="48" y="384"/>
                  </a:lnTo>
                  <a:lnTo>
                    <a:pt x="0" y="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89" name="Text Box 22"/>
            <p:cNvSpPr txBox="1">
              <a:spLocks noChangeArrowheads="1"/>
            </p:cNvSpPr>
            <p:nvPr/>
          </p:nvSpPr>
          <p:spPr bwMode="auto">
            <a:xfrm>
              <a:off x="1045" y="2939"/>
              <a:ext cx="411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 dirty="0">
                  <a:solidFill>
                    <a:srgbClr val="FFFF00"/>
                  </a:solidFill>
                  <a:latin typeface="Arial" pitchFamily="34" charset="0"/>
                </a:rPr>
                <a:t>kernel</a:t>
              </a:r>
            </a:p>
          </p:txBody>
        </p:sp>
        <p:sp>
          <p:nvSpPr>
            <p:cNvPr id="36890" name="Text Box 23"/>
            <p:cNvSpPr txBox="1">
              <a:spLocks noChangeArrowheads="1"/>
            </p:cNvSpPr>
            <p:nvPr/>
          </p:nvSpPr>
          <p:spPr bwMode="auto">
            <a:xfrm>
              <a:off x="284" y="1621"/>
              <a:ext cx="53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en-US" sz="1600" b="1" dirty="0" smtClean="0">
                  <a:solidFill>
                    <a:srgbClr val="FFFF00"/>
                  </a:solidFill>
                  <a:latin typeface="Arial" pitchFamily="34" charset="0"/>
                </a:rPr>
                <a:t>process</a:t>
              </a:r>
              <a:r>
                <a:rPr lang="he-IL" sz="1600" b="1" dirty="0" smtClean="0">
                  <a:solidFill>
                    <a:srgbClr val="FFFF00"/>
                  </a:solidFill>
                  <a:latin typeface="Arial" pitchFamily="34" charset="0"/>
                </a:rPr>
                <a:t> </a:t>
              </a:r>
              <a:endParaRPr lang="en-US" sz="1600" b="1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36891" name="Line 24"/>
            <p:cNvSpPr>
              <a:spLocks noChangeShapeType="1"/>
            </p:cNvSpPr>
            <p:nvPr/>
          </p:nvSpPr>
          <p:spPr bwMode="auto">
            <a:xfrm>
              <a:off x="459" y="2277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92" name="Line 25"/>
            <p:cNvSpPr>
              <a:spLocks noChangeShapeType="1"/>
            </p:cNvSpPr>
            <p:nvPr/>
          </p:nvSpPr>
          <p:spPr bwMode="auto">
            <a:xfrm flipH="1">
              <a:off x="507" y="2277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93" name="Line 26"/>
            <p:cNvSpPr>
              <a:spLocks noChangeShapeType="1"/>
            </p:cNvSpPr>
            <p:nvPr/>
          </p:nvSpPr>
          <p:spPr bwMode="auto">
            <a:xfrm>
              <a:off x="843" y="227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94" name="Line 27"/>
            <p:cNvSpPr>
              <a:spLocks noChangeShapeType="1"/>
            </p:cNvSpPr>
            <p:nvPr/>
          </p:nvSpPr>
          <p:spPr bwMode="auto">
            <a:xfrm>
              <a:off x="1179" y="227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95" name="Line 28"/>
            <p:cNvSpPr>
              <a:spLocks noChangeShapeType="1"/>
            </p:cNvSpPr>
            <p:nvPr/>
          </p:nvSpPr>
          <p:spPr bwMode="auto">
            <a:xfrm>
              <a:off x="1563" y="2277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96" name="Line 29"/>
            <p:cNvSpPr>
              <a:spLocks noChangeShapeType="1"/>
            </p:cNvSpPr>
            <p:nvPr/>
          </p:nvSpPr>
          <p:spPr bwMode="auto">
            <a:xfrm>
              <a:off x="1659" y="227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97" name="Line 30"/>
            <p:cNvSpPr>
              <a:spLocks noChangeShapeType="1"/>
            </p:cNvSpPr>
            <p:nvPr/>
          </p:nvSpPr>
          <p:spPr bwMode="auto">
            <a:xfrm>
              <a:off x="2043" y="2277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36898" name="Line 31"/>
            <p:cNvSpPr>
              <a:spLocks noChangeShapeType="1"/>
            </p:cNvSpPr>
            <p:nvPr/>
          </p:nvSpPr>
          <p:spPr bwMode="auto">
            <a:xfrm>
              <a:off x="2091" y="227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</p:grpSp>
      <p:sp>
        <p:nvSpPr>
          <p:cNvPr id="36" name="Text Box 23"/>
          <p:cNvSpPr txBox="1">
            <a:spLocks noChangeArrowheads="1"/>
          </p:cNvSpPr>
          <p:nvPr/>
        </p:nvSpPr>
        <p:spPr bwMode="auto">
          <a:xfrm>
            <a:off x="2944162" y="1746987"/>
            <a:ext cx="969322" cy="38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sz="1600" b="1" dirty="0">
                <a:solidFill>
                  <a:srgbClr val="FFFF00"/>
                </a:solidFill>
                <a:latin typeface="Arial" pitchFamily="34" charset="0"/>
              </a:rPr>
              <a:t>process</a:t>
            </a:r>
          </a:p>
        </p:txBody>
      </p:sp>
      <p:sp>
        <p:nvSpPr>
          <p:cNvPr id="37" name="Text Box 23"/>
          <p:cNvSpPr txBox="1">
            <a:spLocks noChangeArrowheads="1"/>
          </p:cNvSpPr>
          <p:nvPr/>
        </p:nvSpPr>
        <p:spPr bwMode="auto">
          <a:xfrm>
            <a:off x="1763688" y="1744849"/>
            <a:ext cx="969322" cy="38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/>
            <a:r>
              <a:rPr lang="en-US" sz="1600" b="1" dirty="0">
                <a:solidFill>
                  <a:srgbClr val="FFFF00"/>
                </a:solidFill>
                <a:latin typeface="Arial" pitchFamily="34" charset="0"/>
              </a:rPr>
              <a:t>process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67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i="1" dirty="0">
                <a:solidFill>
                  <a:srgbClr val="FFFF00"/>
                </a:solidFill>
              </a:rPr>
              <a:t>תמיכת מערכת הפעלה בחוטים</a:t>
            </a:r>
            <a:endParaRPr lang="en-GB" sz="4800" b="1" i="1" dirty="0">
              <a:solidFill>
                <a:srgbClr val="FFFF00"/>
              </a:solidFill>
            </a:endParaRPr>
          </a:p>
        </p:txBody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e-IL" b="1" dirty="0" smtClean="0"/>
              <a:t>יצירת והריסת חוטים, לדוגמא</a:t>
            </a:r>
          </a:p>
          <a:p>
            <a:pPr lvl="1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thread_create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(char *stack)</a:t>
            </a:r>
          </a:p>
          <a:p>
            <a:pPr lvl="1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thread_exit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(…)</a:t>
            </a:r>
            <a:endParaRPr lang="he-IL" sz="2400" b="1" dirty="0" smtClean="0">
              <a:latin typeface="Courier New" pitchFamily="49" charset="0"/>
              <a:cs typeface="Courier New" pitchFamily="49" charset="0"/>
            </a:endParaRPr>
          </a:p>
          <a:p>
            <a:pPr lvl="1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thread_join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(…)</a:t>
            </a:r>
            <a:endParaRPr lang="he-IL" sz="2400" b="1" dirty="0" smtClean="0">
              <a:latin typeface="Courier New" pitchFamily="49" charset="0"/>
              <a:cs typeface="Courier New" pitchFamily="49" charset="0"/>
            </a:endParaRPr>
          </a:p>
          <a:p>
            <a:pPr lvl="1" algn="l" rtl="0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thread_kill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(…)</a:t>
            </a:r>
          </a:p>
          <a:p>
            <a:pPr>
              <a:lnSpc>
                <a:spcPct val="90000"/>
              </a:lnSpc>
            </a:pPr>
            <a:r>
              <a:rPr lang="he-IL" b="1" dirty="0" smtClean="0"/>
              <a:t>מבני נתונים פנימיים</a:t>
            </a:r>
          </a:p>
          <a:p>
            <a:pPr lvl="1">
              <a:lnSpc>
                <a:spcPct val="90000"/>
              </a:lnSpc>
            </a:pPr>
            <a:r>
              <a:rPr lang="en-US" sz="2000" b="1" dirty="0" smtClean="0"/>
              <a:t>thread control block</a:t>
            </a:r>
          </a:p>
          <a:p>
            <a:pPr lvl="1">
              <a:lnSpc>
                <a:spcPct val="90000"/>
              </a:lnSpc>
            </a:pPr>
            <a:r>
              <a:rPr lang="en-US" sz="2000" b="1" dirty="0" smtClean="0"/>
              <a:t>Program counter, stack, registers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he-IL" sz="2000" b="1" dirty="0" smtClean="0"/>
          </a:p>
          <a:p>
            <a:pPr>
              <a:lnSpc>
                <a:spcPct val="90000"/>
              </a:lnSpc>
            </a:pPr>
            <a:r>
              <a:rPr lang="he-IL" b="1" dirty="0" smtClean="0"/>
              <a:t>מנגנוני סנכרון</a:t>
            </a:r>
          </a:p>
          <a:p>
            <a:pPr lvl="1">
              <a:lnSpc>
                <a:spcPct val="90000"/>
              </a:lnSpc>
            </a:pPr>
            <a:r>
              <a:rPr lang="he-IL" b="1" dirty="0" smtClean="0"/>
              <a:t>למשל, תיאום גישה לזיכרון משותף</a:t>
            </a:r>
            <a:endParaRPr lang="en-US" sz="20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69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i="1" dirty="0">
                <a:solidFill>
                  <a:srgbClr val="FFFF00"/>
                </a:solidFill>
              </a:rPr>
              <a:t>דוגמא: חוטי </a:t>
            </a:r>
            <a:r>
              <a:rPr lang="en-US" sz="4800" b="1" i="1" dirty="0">
                <a:solidFill>
                  <a:srgbClr val="FFFF00"/>
                </a:solidFill>
              </a:rPr>
              <a:t>POSIX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6238"/>
            <a:ext cx="8435280" cy="4525962"/>
          </a:xfrm>
        </p:spPr>
        <p:txBody>
          <a:bodyPr/>
          <a:lstStyle/>
          <a:p>
            <a:r>
              <a:rPr lang="he-IL" sz="2800" b="1" dirty="0" smtClean="0"/>
              <a:t>ממשק סטנדרטי</a:t>
            </a:r>
            <a:r>
              <a:rPr lang="en-US" sz="2800" b="1" dirty="0" smtClean="0">
                <a:latin typeface="Comic Sans MS" pitchFamily="66" charset="0"/>
              </a:rPr>
              <a:t>IEEE 1003.1c</a:t>
            </a:r>
            <a:r>
              <a:rPr lang="en-US" sz="2800" b="1" dirty="0" smtClean="0"/>
              <a:t>) </a:t>
            </a:r>
            <a:r>
              <a:rPr lang="he-IL" sz="2800" b="1" dirty="0" smtClean="0"/>
              <a:t>) ליצירת וניהול חוטים.</a:t>
            </a:r>
          </a:p>
          <a:p>
            <a:pPr lvl="1"/>
            <a:r>
              <a:rPr lang="he-IL" sz="2400" b="1" dirty="0" smtClean="0"/>
              <a:t>רק </a:t>
            </a:r>
            <a:r>
              <a:rPr lang="en-US" sz="2000" b="1" dirty="0" smtClean="0"/>
              <a:t>Application Program Interface</a:t>
            </a:r>
            <a:r>
              <a:rPr lang="he-IL" sz="2400" b="1" dirty="0" smtClean="0"/>
              <a:t>.</a:t>
            </a:r>
          </a:p>
          <a:p>
            <a:r>
              <a:rPr lang="he-IL" sz="2800" b="1" dirty="0" smtClean="0"/>
              <a:t>דומה מאוד לפעולות המתאימות עבור ניהול תהליכים:</a:t>
            </a:r>
          </a:p>
          <a:p>
            <a:pPr lvl="1" algn="l" rtl="0">
              <a:buFont typeface="Wingdings" pitchFamily="2" charset="2"/>
              <a:buNone/>
            </a:pPr>
            <a:r>
              <a:rPr lang="en-US" sz="2400" b="1" dirty="0" smtClean="0"/>
              <a:t>		</a:t>
            </a:r>
            <a:r>
              <a:rPr lang="en-US" sz="2400" b="1" dirty="0" err="1" smtClean="0"/>
              <a:t>pthread_create</a:t>
            </a:r>
            <a:endParaRPr lang="en-US" sz="2400" b="1" dirty="0" smtClean="0"/>
          </a:p>
          <a:p>
            <a:pPr lvl="1" algn="l" rtl="0">
              <a:buFont typeface="Wingdings" pitchFamily="2" charset="2"/>
              <a:buNone/>
            </a:pPr>
            <a:r>
              <a:rPr lang="en-US" sz="2400" b="1" dirty="0" smtClean="0"/>
              <a:t>		</a:t>
            </a:r>
            <a:r>
              <a:rPr lang="en-US" sz="2400" b="1" dirty="0" err="1" smtClean="0"/>
              <a:t>pthread_exit</a:t>
            </a:r>
            <a:endParaRPr lang="en-US" sz="2400" b="1" dirty="0" smtClean="0"/>
          </a:p>
          <a:p>
            <a:pPr lvl="1" algn="l" rtl="0">
              <a:buFont typeface="Wingdings" pitchFamily="2" charset="2"/>
              <a:buNone/>
            </a:pPr>
            <a:r>
              <a:rPr lang="en-US" sz="2400" b="1" dirty="0" smtClean="0"/>
              <a:t>		</a:t>
            </a:r>
            <a:r>
              <a:rPr lang="en-US" sz="2400" b="1" dirty="0" err="1" smtClean="0"/>
              <a:t>pthread_join</a:t>
            </a:r>
            <a:endParaRPr lang="he-IL" sz="2400" b="1" dirty="0" smtClean="0"/>
          </a:p>
          <a:p>
            <a:r>
              <a:rPr lang="he-IL" sz="2800" b="1" dirty="0" smtClean="0"/>
              <a:t>כולל מנגנונים רבים לתיאום בין חוטים.</a:t>
            </a:r>
          </a:p>
          <a:p>
            <a:r>
              <a:rPr lang="he-IL" sz="2800" b="1" dirty="0" smtClean="0"/>
              <a:t>נתמך בהרבה מערכות </a:t>
            </a:r>
            <a:r>
              <a:rPr lang="en-US" sz="2800" b="1" dirty="0" smtClean="0">
                <a:latin typeface="Arial" pitchFamily="34" charset="0"/>
              </a:rPr>
              <a:t>“</a:t>
            </a:r>
            <a:r>
              <a:rPr lang="en-US" sz="2800" b="1" dirty="0" smtClean="0"/>
              <a:t>UNIX</a:t>
            </a:r>
            <a:r>
              <a:rPr lang="en-US" sz="2800" b="1" dirty="0" smtClean="0">
                <a:latin typeface="Arial" pitchFamily="34" charset="0"/>
              </a:rPr>
              <a:t>”</a:t>
            </a:r>
            <a:endParaRPr lang="he-IL" sz="2800" b="1" dirty="0" smtClean="0"/>
          </a:p>
          <a:p>
            <a:pPr lvl="1"/>
            <a:r>
              <a:rPr lang="he-IL" sz="2400" b="1" dirty="0" smtClean="0"/>
              <a:t>בפרט, </a:t>
            </a:r>
            <a:r>
              <a:rPr lang="en-US" sz="2400" b="1" dirty="0" smtClean="0"/>
              <a:t>NPTL</a:t>
            </a:r>
            <a:r>
              <a:rPr lang="he-IL" sz="2400" b="1" dirty="0" smtClean="0"/>
              <a:t> ב </a:t>
            </a:r>
            <a:r>
              <a:rPr lang="en-US" sz="2400" b="1" dirty="0" smtClean="0"/>
              <a:t>Linux</a:t>
            </a:r>
            <a:r>
              <a:rPr lang="he-IL" sz="2400" b="1" dirty="0" smtClean="0"/>
              <a:t> (שמחליפה את </a:t>
            </a:r>
            <a:r>
              <a:rPr lang="en-US" sz="2400" b="1" dirty="0" err="1" smtClean="0"/>
              <a:t>PThreads</a:t>
            </a:r>
            <a:r>
              <a:rPr lang="he-IL" sz="2400" b="1" dirty="0" smtClean="0"/>
              <a:t>)</a:t>
            </a:r>
            <a:endParaRPr lang="en-US" sz="2400" b="1" dirty="0" smtClean="0"/>
          </a:p>
          <a:p>
            <a:pPr lvl="1"/>
            <a:r>
              <a:rPr lang="he-IL" sz="2400" b="1" dirty="0" smtClean="0"/>
              <a:t>מימושים שונים</a:t>
            </a:r>
            <a:endParaRPr lang="en-US" sz="2400" b="1" dirty="0" smtClean="0"/>
          </a:p>
          <a:p>
            <a:r>
              <a:rPr lang="he-IL" sz="2800" b="1" dirty="0" smtClean="0"/>
              <a:t>נתמך גם ב </a:t>
            </a:r>
            <a:r>
              <a:rPr lang="en-US" sz="2800" b="1" dirty="0" smtClean="0"/>
              <a:t>Windows</a:t>
            </a:r>
            <a:endParaRPr lang="he-IL" sz="2800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4000"/>
            <a:ext cx="8229600" cy="65472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he-IL" sz="4800" b="1" i="1" dirty="0" smtClean="0">
                <a:solidFill>
                  <a:srgbClr val="FFFF00"/>
                </a:solidFill>
              </a:rPr>
              <a:t>מודלים לשימוש בחוטים</a:t>
            </a:r>
            <a:endParaRPr lang="en-US" sz="4800" b="1" i="1" dirty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pic>
        <p:nvPicPr>
          <p:cNvPr id="8" name="Picture 6" descr="4_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1179" y="980728"/>
            <a:ext cx="8519293" cy="538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0810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4000"/>
            <a:ext cx="8229600" cy="65472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he-IL" sz="4800" b="1" i="1" dirty="0" smtClean="0">
                <a:solidFill>
                  <a:srgbClr val="FFFF00"/>
                </a:solidFill>
              </a:rPr>
              <a:t>מודלים לשימוש בחוטים</a:t>
            </a:r>
            <a:endParaRPr lang="en-US" sz="4800" b="1" i="1" dirty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 bwMode="auto">
          <a:xfrm>
            <a:off x="179512" y="5229200"/>
            <a:ext cx="8496944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92100" indent="-292100" algn="r" rtl="1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Tx/>
              <a:buNone/>
            </a:pPr>
            <a:r>
              <a:rPr lang="he-IL" dirty="0" smtClean="0"/>
              <a:t>הפריטים משתפים חוטים הנמצאים בתהליך -------------&gt; </a:t>
            </a:r>
          </a:p>
          <a:p>
            <a:pPr algn="l" eaLnBrk="1" hangingPunct="1">
              <a:buFontTx/>
              <a:buNone/>
            </a:pPr>
            <a:r>
              <a:rPr lang="he-IL" dirty="0" smtClean="0"/>
              <a:t>&lt;----------------הפריטים משתמשים בחוט יחיד ללא שיתוף</a:t>
            </a:r>
            <a:endParaRPr lang="en-US" dirty="0" smtClean="0"/>
          </a:p>
        </p:txBody>
      </p:sp>
      <p:pic>
        <p:nvPicPr>
          <p:cNvPr id="9" name="Picture 18"/>
          <p:cNvPicPr>
            <a:picLocks noChangeAspect="1" noChangeArrowheads="1"/>
          </p:cNvPicPr>
          <p:nvPr/>
        </p:nvPicPr>
        <p:blipFill>
          <a:blip r:embed="rId3" cstate="print"/>
          <a:srcRect r="24895"/>
          <a:stretch>
            <a:fillRect/>
          </a:stretch>
        </p:blipFill>
        <p:spPr bwMode="auto">
          <a:xfrm>
            <a:off x="222696" y="908720"/>
            <a:ext cx="8669784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2289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700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i="1" dirty="0">
                <a:solidFill>
                  <a:srgbClr val="FFFF00"/>
                </a:solidFill>
              </a:rPr>
              <a:t>השוואת ביצועים </a:t>
            </a:r>
            <a:r>
              <a:rPr lang="en-US" sz="4800" b="1" i="1" dirty="0">
                <a:solidFill>
                  <a:srgbClr val="FFFF00"/>
                </a:solidFill>
              </a:rPr>
              <a:t>Solaris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he-IL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r>
              <a:rPr lang="he-IL" sz="2400" b="1" dirty="0" smtClean="0">
                <a:solidFill>
                  <a:srgbClr val="FFFF00"/>
                </a:solidFill>
              </a:rPr>
              <a:t>במיקרו שניות, על </a:t>
            </a:r>
            <a:r>
              <a:rPr lang="en-US" b="1" dirty="0" smtClean="0">
                <a:solidFill>
                  <a:srgbClr val="FFFF00"/>
                </a:solidFill>
              </a:rPr>
              <a:t>SPARCstation2</a:t>
            </a:r>
            <a:r>
              <a:rPr lang="he-IL" b="1" dirty="0" smtClean="0">
                <a:solidFill>
                  <a:srgbClr val="FFFF00"/>
                </a:solidFill>
              </a:rPr>
              <a:t> (</a:t>
            </a:r>
            <a:r>
              <a:rPr lang="en-US" b="1" dirty="0" smtClean="0">
                <a:solidFill>
                  <a:srgbClr val="FFFF00"/>
                </a:solidFill>
              </a:rPr>
              <a:t>Sun 4/75</a:t>
            </a:r>
            <a:r>
              <a:rPr lang="he-IL" b="1" dirty="0" smtClean="0">
                <a:solidFill>
                  <a:srgbClr val="FFFF00"/>
                </a:solidFill>
              </a:rPr>
              <a:t>). </a:t>
            </a:r>
            <a:endParaRPr lang="en-US" sz="2400" b="1" dirty="0" smtClean="0">
              <a:solidFill>
                <a:srgbClr val="FFFF00"/>
              </a:solidFill>
              <a:latin typeface="Comic Sans MS" pitchFamily="66" charset="0"/>
            </a:endParaRPr>
          </a:p>
          <a:p>
            <a:pPr algn="ctr">
              <a:buFont typeface="Wingdings" pitchFamily="2" charset="2"/>
              <a:buNone/>
            </a:pPr>
            <a:r>
              <a:rPr lang="en-US" sz="2400" dirty="0" smtClean="0">
                <a:latin typeface="Comic Sans MS" pitchFamily="66" charset="0"/>
              </a:rPr>
              <a:t>[Solaris Multithreading Guide]</a:t>
            </a:r>
            <a:endParaRPr lang="he-IL" sz="2400" dirty="0" smtClean="0">
              <a:latin typeface="Comic Sans MS" pitchFamily="66" charset="0"/>
            </a:endParaRPr>
          </a:p>
          <a:p>
            <a:pPr algn="ctr">
              <a:buFont typeface="Wingdings" pitchFamily="2" charset="2"/>
              <a:buNone/>
            </a:pPr>
            <a:r>
              <a:rPr lang="en-US" sz="2400" dirty="0" smtClean="0"/>
              <a:t>http://docs.sun.com/app/docs/doc/801-6659</a:t>
            </a:r>
          </a:p>
        </p:txBody>
      </p:sp>
      <p:graphicFrame>
        <p:nvGraphicFramePr>
          <p:cNvPr id="1700918" name="Group 5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42898170"/>
              </p:ext>
            </p:extLst>
          </p:nvPr>
        </p:nvGraphicFramePr>
        <p:xfrm>
          <a:off x="971599" y="1772816"/>
          <a:ext cx="7632848" cy="2808313"/>
        </p:xfrm>
        <a:graphic>
          <a:graphicData uri="http://schemas.openxmlformats.org/drawingml/2006/table">
            <a:tbl>
              <a:tblPr rtl="1"/>
              <a:tblGrid>
                <a:gridCol w="33473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27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427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8385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זמן יצירה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יחס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36637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תהליכים</a:t>
                      </a:r>
                      <a:endParaRPr kumimoji="0" lang="en-GB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209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חוטי גרעין</a:t>
                      </a:r>
                      <a:endParaRPr kumimoji="0" lang="en-GB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4573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חוטי משתמש</a:t>
                      </a:r>
                      <a:endParaRPr kumimoji="0" lang="en-GB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7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he-IL" sz="4800" b="1" i="1" dirty="0">
                <a:solidFill>
                  <a:srgbClr val="FFFF00"/>
                </a:solidFill>
              </a:rPr>
              <a:t>דוגמא: </a:t>
            </a:r>
            <a:r>
              <a:rPr lang="en-US" sz="4800" b="1" i="1" dirty="0" smtClean="0">
                <a:solidFill>
                  <a:srgbClr val="FFFF00"/>
                </a:solidFill>
              </a:rPr>
              <a:t>Windows</a:t>
            </a:r>
            <a:endParaRPr lang="en-US" sz="4800" b="1" i="1" dirty="0">
              <a:solidFill>
                <a:srgbClr val="FFFF00"/>
              </a:solidFill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46238"/>
            <a:ext cx="8435280" cy="4525962"/>
          </a:xfrm>
        </p:spPr>
        <p:txBody>
          <a:bodyPr/>
          <a:lstStyle/>
          <a:p>
            <a:r>
              <a:rPr lang="he-IL" b="1" dirty="0" smtClean="0"/>
              <a:t>היחידה הבסיסית</a:t>
            </a:r>
            <a:r>
              <a:rPr lang="en-US" b="1" dirty="0" smtClean="0"/>
              <a:t> </a:t>
            </a:r>
            <a:r>
              <a:rPr lang="he-IL" b="1" dirty="0" smtClean="0"/>
              <a:t>הינה תהליך.</a:t>
            </a:r>
          </a:p>
          <a:p>
            <a:r>
              <a:rPr lang="he-IL" b="1" dirty="0" smtClean="0"/>
              <a:t>תהליך יכול להכיל כמה </a:t>
            </a:r>
            <a:r>
              <a:rPr lang="he-IL" b="1" dirty="0" smtClean="0">
                <a:solidFill>
                  <a:srgbClr val="FFFF00"/>
                </a:solidFill>
              </a:rPr>
              <a:t>חוטים </a:t>
            </a:r>
            <a:r>
              <a:rPr lang="he-IL" b="1" dirty="0" smtClean="0"/>
              <a:t>– </a:t>
            </a:r>
            <a:r>
              <a:rPr lang="en-US" b="1" dirty="0" smtClean="0"/>
              <a:t>kernel threads</a:t>
            </a:r>
            <a:r>
              <a:rPr lang="he-IL" b="1" dirty="0" smtClean="0"/>
              <a:t>.</a:t>
            </a:r>
            <a:endParaRPr lang="en-US" b="1" dirty="0" smtClean="0"/>
          </a:p>
          <a:p>
            <a:r>
              <a:rPr lang="he-IL" b="1" dirty="0" smtClean="0"/>
              <a:t>חוט יכול להכיל כמה </a:t>
            </a:r>
            <a:r>
              <a:rPr lang="he-IL" b="1" dirty="0" smtClean="0">
                <a:solidFill>
                  <a:srgbClr val="FFFF00"/>
                </a:solidFill>
              </a:rPr>
              <a:t>סיבים</a:t>
            </a:r>
            <a:r>
              <a:rPr lang="he-IL" b="1" dirty="0" smtClean="0"/>
              <a:t> </a:t>
            </a:r>
            <a:r>
              <a:rPr lang="en-US" b="1" dirty="0" smtClean="0"/>
              <a:t>(fibers)</a:t>
            </a:r>
            <a:r>
              <a:rPr lang="he-IL" b="1" dirty="0" smtClean="0"/>
              <a:t>, </a:t>
            </a:r>
          </a:p>
          <a:p>
            <a:pPr>
              <a:buFont typeface="Wingdings" pitchFamily="2" charset="2"/>
              <a:buNone/>
            </a:pPr>
            <a:r>
              <a:rPr lang="he-IL" b="1" dirty="0" smtClean="0"/>
              <a:t>	שהם בעצם </a:t>
            </a:r>
            <a:r>
              <a:rPr lang="en-US" b="1" dirty="0" smtClean="0"/>
              <a:t>user threads</a:t>
            </a:r>
          </a:p>
          <a:p>
            <a:r>
              <a:rPr lang="he-IL" b="1" dirty="0" smtClean="0"/>
              <a:t>זימון נעשה ברמת החוטים</a:t>
            </a:r>
          </a:p>
          <a:p>
            <a:r>
              <a:rPr lang="he-IL" b="1" dirty="0" smtClean="0"/>
              <a:t>תהליך רק מגדיר את מרחב הזיכרון, ומהווה מיכל לחוטים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14381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i="1" dirty="0">
                <a:solidFill>
                  <a:srgbClr val="FFFF00"/>
                </a:solidFill>
              </a:rPr>
              <a:t>כמה חוטים ליצור בשרת?</a:t>
            </a:r>
            <a:endParaRPr lang="en-GB" sz="4800" b="1" i="1" dirty="0">
              <a:solidFill>
                <a:srgbClr val="FFFF00"/>
              </a:solidFill>
            </a:endParaRPr>
          </a:p>
        </p:txBody>
      </p:sp>
      <p:sp>
        <p:nvSpPr>
          <p:cNvPr id="1143814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395536" y="1600200"/>
            <a:ext cx="8291264" cy="4530725"/>
          </a:xfrm>
        </p:spPr>
        <p:txBody>
          <a:bodyPr/>
          <a:lstStyle/>
          <a:p>
            <a:pPr>
              <a:buSzTx/>
              <a:buFont typeface="Wingdings" pitchFamily="2" charset="2"/>
              <a:buChar char="E"/>
            </a:pPr>
            <a:r>
              <a:rPr lang="he-IL" sz="3200" b="1" dirty="0" smtClean="0"/>
              <a:t>אם כל חוט צריך </a:t>
            </a:r>
            <a:r>
              <a:rPr lang="en-US" sz="3200" b="1" dirty="0" err="1" smtClean="0"/>
              <a:t>t</a:t>
            </a:r>
            <a:r>
              <a:rPr lang="en-US" sz="3200" b="1" baseline="-25000" dirty="0" err="1" smtClean="0"/>
              <a:t>c</a:t>
            </a:r>
            <a:r>
              <a:rPr lang="he-IL" sz="3200" b="1" dirty="0" smtClean="0"/>
              <a:t> יחידות זמן ולתהליך מוקצים </a:t>
            </a:r>
            <a:r>
              <a:rPr lang="en-US" sz="3200" b="1" dirty="0" err="1" smtClean="0"/>
              <a:t>t</a:t>
            </a:r>
            <a:r>
              <a:rPr lang="en-US" sz="3200" b="1" baseline="-25000" dirty="0" err="1" smtClean="0"/>
              <a:t>p</a:t>
            </a:r>
            <a:r>
              <a:rPr lang="he-IL" sz="3200" b="1" dirty="0" smtClean="0"/>
              <a:t> יחידות  זמן (בכל שניה). כמה חוטים כדאי לתהליך לייצר? בכל מקרה אין טעם לייצר יותר מ- </a:t>
            </a:r>
            <a:r>
              <a:rPr lang="en-US" sz="3200" b="1" dirty="0" err="1" smtClean="0"/>
              <a:t>t</a:t>
            </a:r>
            <a:r>
              <a:rPr lang="en-US" sz="3200" b="1" baseline="-25000" dirty="0" err="1" smtClean="0"/>
              <a:t>p</a:t>
            </a:r>
            <a:r>
              <a:rPr lang="en-US" sz="3200" b="1" baseline="-25000" dirty="0" smtClean="0"/>
              <a:t> </a:t>
            </a:r>
            <a:r>
              <a:rPr lang="en-US" sz="3200" b="1" dirty="0" smtClean="0"/>
              <a:t>/ </a:t>
            </a:r>
            <a:r>
              <a:rPr lang="en-US" sz="3200" b="1" dirty="0" err="1" smtClean="0"/>
              <a:t>t</a:t>
            </a:r>
            <a:r>
              <a:rPr lang="en-US" sz="3200" b="1" baseline="-25000" dirty="0" err="1" smtClean="0"/>
              <a:t>c</a:t>
            </a:r>
            <a:r>
              <a:rPr lang="he-IL" sz="3200" b="1" dirty="0" smtClean="0"/>
              <a:t> חוטים.</a:t>
            </a:r>
          </a:p>
          <a:p>
            <a:r>
              <a:rPr lang="he-IL" b="1" dirty="0" smtClean="0"/>
              <a:t>ניצול מלא של זמן המעבד המוקצה לתהליך</a:t>
            </a:r>
          </a:p>
          <a:p>
            <a:r>
              <a:rPr lang="he-IL" b="1" dirty="0" smtClean="0"/>
              <a:t>פחות תקורה להחלפת הקשר</a:t>
            </a:r>
          </a:p>
          <a:p>
            <a:r>
              <a:rPr lang="he-IL" b="1" dirty="0" smtClean="0"/>
              <a:t>פחות פעולות </a:t>
            </a:r>
            <a:r>
              <a:rPr lang="he-IL" b="1" dirty="0" err="1" smtClean="0"/>
              <a:t>סינכרון</a:t>
            </a:r>
            <a:endParaRPr lang="he-IL" b="1" dirty="0" smtClean="0"/>
          </a:p>
          <a:p>
            <a:r>
              <a:rPr lang="he-IL" b="1" dirty="0" smtClean="0"/>
              <a:t>יותר מחסנית לכל חוט</a:t>
            </a:r>
          </a:p>
        </p:txBody>
      </p:sp>
      <p:grpSp>
        <p:nvGrpSpPr>
          <p:cNvPr id="43015" name="Group 28"/>
          <p:cNvGrpSpPr>
            <a:grpSpLocks/>
          </p:cNvGrpSpPr>
          <p:nvPr/>
        </p:nvGrpSpPr>
        <p:grpSpPr bwMode="auto">
          <a:xfrm>
            <a:off x="280232" y="4509916"/>
            <a:ext cx="4939840" cy="1871411"/>
            <a:chOff x="306" y="2158"/>
            <a:chExt cx="2575" cy="1680"/>
          </a:xfrm>
        </p:grpSpPr>
        <p:sp>
          <p:nvSpPr>
            <p:cNvPr id="43016" name="Rectangle 9"/>
            <p:cNvSpPr>
              <a:spLocks noChangeArrowheads="1"/>
            </p:cNvSpPr>
            <p:nvPr/>
          </p:nvSpPr>
          <p:spPr bwMode="auto">
            <a:xfrm>
              <a:off x="681" y="2158"/>
              <a:ext cx="2200" cy="1680"/>
            </a:xfrm>
            <a:prstGeom prst="rect">
              <a:avLst/>
            </a:prstGeom>
            <a:solidFill>
              <a:schemeClr val="accent2">
                <a:alpha val="45882"/>
              </a:schemeClr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43017" name="Rectangle 10"/>
            <p:cNvSpPr>
              <a:spLocks noChangeArrowheads="1"/>
            </p:cNvSpPr>
            <p:nvPr/>
          </p:nvSpPr>
          <p:spPr bwMode="auto">
            <a:xfrm>
              <a:off x="768" y="2590"/>
              <a:ext cx="336" cy="960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43018" name="Line 11"/>
            <p:cNvSpPr>
              <a:spLocks noChangeShapeType="1"/>
            </p:cNvSpPr>
            <p:nvPr/>
          </p:nvSpPr>
          <p:spPr bwMode="auto">
            <a:xfrm>
              <a:off x="306" y="3248"/>
              <a:ext cx="383" cy="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43019" name="Rectangle 12"/>
            <p:cNvSpPr>
              <a:spLocks noChangeArrowheads="1"/>
            </p:cNvSpPr>
            <p:nvPr/>
          </p:nvSpPr>
          <p:spPr bwMode="auto">
            <a:xfrm>
              <a:off x="2084" y="2430"/>
              <a:ext cx="720" cy="23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he-IL" b="1" dirty="0">
                  <a:solidFill>
                    <a:srgbClr val="FFFF00"/>
                  </a:solidFill>
                  <a:latin typeface="Arial" pitchFamily="34" charset="0"/>
                </a:rPr>
                <a:t>חוט עבודה</a:t>
              </a:r>
              <a:endParaRPr lang="en-GB" b="1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3020" name="Rectangle 13"/>
            <p:cNvSpPr>
              <a:spLocks noChangeArrowheads="1"/>
            </p:cNvSpPr>
            <p:nvPr/>
          </p:nvSpPr>
          <p:spPr bwMode="auto">
            <a:xfrm>
              <a:off x="2084" y="2787"/>
              <a:ext cx="720" cy="23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he-IL" b="1" dirty="0">
                  <a:solidFill>
                    <a:srgbClr val="FFFF00"/>
                  </a:solidFill>
                  <a:latin typeface="Arial" pitchFamily="34" charset="0"/>
                </a:rPr>
                <a:t>חוט עבודה</a:t>
              </a:r>
              <a:endParaRPr lang="en-GB" b="1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3021" name="Rectangle 17"/>
            <p:cNvSpPr>
              <a:spLocks noChangeArrowheads="1"/>
            </p:cNvSpPr>
            <p:nvPr/>
          </p:nvSpPr>
          <p:spPr bwMode="auto">
            <a:xfrm>
              <a:off x="768" y="2590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43022" name="Rectangle 18"/>
            <p:cNvSpPr>
              <a:spLocks noChangeArrowheads="1"/>
            </p:cNvSpPr>
            <p:nvPr/>
          </p:nvSpPr>
          <p:spPr bwMode="auto">
            <a:xfrm>
              <a:off x="768" y="2686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43023" name="Rectangle 19"/>
            <p:cNvSpPr>
              <a:spLocks noChangeArrowheads="1"/>
            </p:cNvSpPr>
            <p:nvPr/>
          </p:nvSpPr>
          <p:spPr bwMode="auto">
            <a:xfrm>
              <a:off x="768" y="2782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43024" name="Rectangle 20"/>
            <p:cNvSpPr>
              <a:spLocks noChangeArrowheads="1"/>
            </p:cNvSpPr>
            <p:nvPr/>
          </p:nvSpPr>
          <p:spPr bwMode="auto">
            <a:xfrm>
              <a:off x="768" y="2878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2000" b="1">
                <a:solidFill>
                  <a:srgbClr val="FFFF00"/>
                </a:solidFill>
              </a:endParaRPr>
            </a:p>
          </p:txBody>
        </p:sp>
        <p:sp>
          <p:nvSpPr>
            <p:cNvPr id="43025" name="Rectangle 24"/>
            <p:cNvSpPr>
              <a:spLocks noChangeArrowheads="1"/>
            </p:cNvSpPr>
            <p:nvPr/>
          </p:nvSpPr>
          <p:spPr bwMode="auto">
            <a:xfrm>
              <a:off x="2084" y="3150"/>
              <a:ext cx="720" cy="234"/>
            </a:xfrm>
            <a:prstGeom prst="rect">
              <a:avLst/>
            </a:prstGeom>
            <a:solidFill>
              <a:schemeClr val="hlink">
                <a:alpha val="25098"/>
              </a:schemeClr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145881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noFill/>
        </p:spPr>
        <p:txBody>
          <a:bodyPr/>
          <a:lstStyle/>
          <a:p>
            <a:pPr marL="533400" indent="-533400"/>
            <a:r>
              <a:rPr lang="he-IL" b="1" dirty="0" smtClean="0"/>
              <a:t>יוצרים מספר קבוע של חוטי עבודה וחוט ראשי אחד</a:t>
            </a:r>
          </a:p>
          <a:p>
            <a:pPr marL="533400" indent="-533400"/>
            <a:r>
              <a:rPr lang="he-IL" b="1" dirty="0" smtClean="0"/>
              <a:t>החוט הראשי מאכסן את הבקשות המגיעות בתור </a:t>
            </a:r>
            <a:r>
              <a:rPr lang="en-US" b="1" dirty="0" smtClean="0"/>
              <a:t>FIFO</a:t>
            </a:r>
            <a:endParaRPr lang="he-IL" b="1" dirty="0" smtClean="0"/>
          </a:p>
          <a:p>
            <a:pPr marL="533400" indent="-533400"/>
            <a:r>
              <a:rPr lang="he-IL" b="1" dirty="0" smtClean="0"/>
              <a:t>חוטי העבודה מריצים את הקוד הבא בלולאה אינסופית: </a:t>
            </a:r>
          </a:p>
          <a:p>
            <a:pPr marL="914400" lvl="1" indent="-457200"/>
            <a:r>
              <a:rPr lang="he-IL" b="1" dirty="0" smtClean="0"/>
              <a:t>קח משימה מהתור</a:t>
            </a:r>
          </a:p>
          <a:p>
            <a:pPr marL="914400" lvl="1" indent="-457200"/>
            <a:r>
              <a:rPr lang="he-IL" b="1" dirty="0" smtClean="0"/>
              <a:t>בצע את המשימה</a:t>
            </a:r>
          </a:p>
          <a:p>
            <a:pPr marL="914400" lvl="1" indent="-457200"/>
            <a:r>
              <a:rPr lang="he-IL" b="1" dirty="0" smtClean="0"/>
              <a:t>שלח תשובה ללקוח</a:t>
            </a:r>
          </a:p>
          <a:p>
            <a:pPr marL="914400" lvl="1" indent="-457200"/>
            <a:endParaRPr lang="he-IL" b="1" dirty="0" smtClean="0"/>
          </a:p>
          <a:p>
            <a:pPr marL="914400" lvl="1" indent="-457200"/>
            <a:endParaRPr lang="he-IL" b="1" dirty="0" smtClean="0"/>
          </a:p>
          <a:p>
            <a:pPr marL="914400" lvl="1" indent="-457200"/>
            <a:endParaRPr lang="he-IL" b="1" dirty="0" smtClean="0"/>
          </a:p>
          <a:p>
            <a:pPr marL="533400" indent="-533400">
              <a:buFont typeface="Wingdings" pitchFamily="2" charset="2"/>
              <a:buNone/>
            </a:pPr>
            <a:r>
              <a:rPr lang="he-IL" b="1" dirty="0" smtClean="0"/>
              <a:t>(כל חוטי העבודה במקביל)</a:t>
            </a:r>
          </a:p>
        </p:txBody>
      </p:sp>
      <p:sp>
        <p:nvSpPr>
          <p:cNvPr id="11458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i="1" dirty="0">
                <a:solidFill>
                  <a:srgbClr val="FFFF00"/>
                </a:solidFill>
              </a:rPr>
              <a:t>מאגר חוטים </a:t>
            </a:r>
            <a:r>
              <a:rPr lang="en-US" sz="4800" b="1" i="1" dirty="0">
                <a:solidFill>
                  <a:srgbClr val="FFFF00"/>
                </a:solidFill>
              </a:rPr>
              <a:t>thread pooling</a:t>
            </a:r>
          </a:p>
        </p:txBody>
      </p:sp>
      <p:grpSp>
        <p:nvGrpSpPr>
          <p:cNvPr id="44039" name="Group 47"/>
          <p:cNvGrpSpPr>
            <a:grpSpLocks/>
          </p:cNvGrpSpPr>
          <p:nvPr/>
        </p:nvGrpSpPr>
        <p:grpSpPr bwMode="auto">
          <a:xfrm>
            <a:off x="323850" y="3425825"/>
            <a:ext cx="5184774" cy="2667000"/>
            <a:chOff x="204" y="2158"/>
            <a:chExt cx="3266" cy="1680"/>
          </a:xfrm>
        </p:grpSpPr>
        <p:sp>
          <p:nvSpPr>
            <p:cNvPr id="44041" name="Text Box 5"/>
            <p:cNvSpPr txBox="1">
              <a:spLocks noChangeArrowheads="1"/>
            </p:cNvSpPr>
            <p:nvPr/>
          </p:nvSpPr>
          <p:spPr bwMode="auto">
            <a:xfrm>
              <a:off x="204" y="3247"/>
              <a:ext cx="4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he-IL" sz="1600" b="1" dirty="0">
                  <a:solidFill>
                    <a:srgbClr val="FFFF00"/>
                  </a:solidFill>
                  <a:latin typeface="Arial" pitchFamily="34" charset="0"/>
                </a:rPr>
                <a:t>משימה</a:t>
              </a:r>
              <a:endParaRPr lang="en-GB" sz="1600" b="1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4042" name="Rectangle 6"/>
            <p:cNvSpPr>
              <a:spLocks noChangeArrowheads="1"/>
            </p:cNvSpPr>
            <p:nvPr/>
          </p:nvSpPr>
          <p:spPr bwMode="auto">
            <a:xfrm>
              <a:off x="681" y="2158"/>
              <a:ext cx="2200" cy="1680"/>
            </a:xfrm>
            <a:prstGeom prst="rect">
              <a:avLst/>
            </a:prstGeom>
            <a:solidFill>
              <a:schemeClr val="accent2">
                <a:alpha val="45882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43" name="Rectangle 7"/>
            <p:cNvSpPr>
              <a:spLocks noChangeArrowheads="1"/>
            </p:cNvSpPr>
            <p:nvPr/>
          </p:nvSpPr>
          <p:spPr bwMode="auto">
            <a:xfrm>
              <a:off x="724" y="2590"/>
              <a:ext cx="336" cy="960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44" name="Line 8"/>
            <p:cNvSpPr>
              <a:spLocks noChangeShapeType="1"/>
            </p:cNvSpPr>
            <p:nvPr/>
          </p:nvSpPr>
          <p:spPr bwMode="auto">
            <a:xfrm flipV="1">
              <a:off x="341" y="3454"/>
              <a:ext cx="38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45" name="Rectangle 9"/>
            <p:cNvSpPr>
              <a:spLocks noChangeArrowheads="1"/>
            </p:cNvSpPr>
            <p:nvPr/>
          </p:nvSpPr>
          <p:spPr bwMode="auto">
            <a:xfrm>
              <a:off x="2110" y="2566"/>
              <a:ext cx="720" cy="14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he-IL" sz="1600" b="1">
                  <a:solidFill>
                    <a:srgbClr val="FFFF00"/>
                  </a:solidFill>
                  <a:latin typeface="Arial" pitchFamily="34" charset="0"/>
                </a:rPr>
                <a:t>חוט עבודה</a:t>
              </a:r>
              <a:endParaRPr lang="en-GB" sz="16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4046" name="Rectangle 10"/>
            <p:cNvSpPr>
              <a:spLocks noChangeArrowheads="1"/>
            </p:cNvSpPr>
            <p:nvPr/>
          </p:nvSpPr>
          <p:spPr bwMode="auto">
            <a:xfrm>
              <a:off x="2110" y="2830"/>
              <a:ext cx="720" cy="14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he-IL" sz="1600" b="1">
                  <a:solidFill>
                    <a:srgbClr val="FFFF00"/>
                  </a:solidFill>
                  <a:latin typeface="Arial" pitchFamily="34" charset="0"/>
                </a:rPr>
                <a:t>חוט עבודה</a:t>
              </a:r>
              <a:endParaRPr lang="en-GB" sz="16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4047" name="Line 11"/>
            <p:cNvSpPr>
              <a:spLocks noChangeShapeType="1"/>
            </p:cNvSpPr>
            <p:nvPr/>
          </p:nvSpPr>
          <p:spPr bwMode="auto">
            <a:xfrm>
              <a:off x="2836" y="2680"/>
              <a:ext cx="49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48" name="Line 12"/>
            <p:cNvSpPr>
              <a:spLocks noChangeShapeType="1"/>
            </p:cNvSpPr>
            <p:nvPr/>
          </p:nvSpPr>
          <p:spPr bwMode="auto">
            <a:xfrm>
              <a:off x="2830" y="2912"/>
              <a:ext cx="49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49" name="Text Box 13"/>
            <p:cNvSpPr txBox="1">
              <a:spLocks noChangeArrowheads="1"/>
            </p:cNvSpPr>
            <p:nvPr/>
          </p:nvSpPr>
          <p:spPr bwMode="auto">
            <a:xfrm>
              <a:off x="2898" y="2387"/>
              <a:ext cx="5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l" eaLnBrk="1" hangingPunct="1"/>
              <a:r>
                <a:rPr lang="he-IL" sz="1600" b="1" dirty="0">
                  <a:solidFill>
                    <a:srgbClr val="FFFF00"/>
                  </a:solidFill>
                  <a:latin typeface="Arial" pitchFamily="34" charset="0"/>
                </a:rPr>
                <a:t>תשובה</a:t>
              </a:r>
              <a:endParaRPr lang="en-GB" sz="1600" b="1" dirty="0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4050" name="Rectangle 14"/>
            <p:cNvSpPr>
              <a:spLocks noChangeArrowheads="1"/>
            </p:cNvSpPr>
            <p:nvPr/>
          </p:nvSpPr>
          <p:spPr bwMode="auto">
            <a:xfrm>
              <a:off x="724" y="2590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51" name="Rectangle 15"/>
            <p:cNvSpPr>
              <a:spLocks noChangeArrowheads="1"/>
            </p:cNvSpPr>
            <p:nvPr/>
          </p:nvSpPr>
          <p:spPr bwMode="auto">
            <a:xfrm>
              <a:off x="724" y="2686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52" name="Rectangle 16"/>
            <p:cNvSpPr>
              <a:spLocks noChangeArrowheads="1"/>
            </p:cNvSpPr>
            <p:nvPr/>
          </p:nvSpPr>
          <p:spPr bwMode="auto">
            <a:xfrm>
              <a:off x="724" y="2782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sp>
          <p:nvSpPr>
            <p:cNvPr id="44053" name="Rectangle 17"/>
            <p:cNvSpPr>
              <a:spLocks noChangeArrowheads="1"/>
            </p:cNvSpPr>
            <p:nvPr/>
          </p:nvSpPr>
          <p:spPr bwMode="auto">
            <a:xfrm>
              <a:off x="724" y="2878"/>
              <a:ext cx="336" cy="9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  <p:cxnSp>
          <p:nvCxnSpPr>
            <p:cNvPr id="44054" name="AutoShape 18"/>
            <p:cNvCxnSpPr>
              <a:cxnSpLocks noChangeShapeType="1"/>
              <a:stCxn id="44050" idx="3"/>
              <a:endCxn id="44045" idx="1"/>
            </p:cNvCxnSpPr>
            <p:nvPr/>
          </p:nvCxnSpPr>
          <p:spPr bwMode="auto">
            <a:xfrm>
              <a:off x="1069" y="2638"/>
              <a:ext cx="1041" cy="0"/>
            </a:xfrm>
            <a:prstGeom prst="straightConnector1">
              <a:avLst/>
            </a:prstGeom>
            <a:noFill/>
            <a:ln w="38100">
              <a:solidFill>
                <a:srgbClr val="66CC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55" name="AutoShape 19"/>
            <p:cNvCxnSpPr>
              <a:cxnSpLocks noChangeShapeType="1"/>
              <a:stCxn id="44051" idx="3"/>
              <a:endCxn id="44046" idx="1"/>
            </p:cNvCxnSpPr>
            <p:nvPr/>
          </p:nvCxnSpPr>
          <p:spPr bwMode="auto">
            <a:xfrm>
              <a:off x="1069" y="2734"/>
              <a:ext cx="1041" cy="168"/>
            </a:xfrm>
            <a:prstGeom prst="bentConnector3">
              <a:avLst>
                <a:gd name="adj1" fmla="val 49569"/>
              </a:avLst>
            </a:prstGeom>
            <a:noFill/>
            <a:ln w="38100">
              <a:solidFill>
                <a:srgbClr val="FFC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56" name="Rectangle 21"/>
            <p:cNvSpPr>
              <a:spLocks noChangeArrowheads="1"/>
            </p:cNvSpPr>
            <p:nvPr/>
          </p:nvSpPr>
          <p:spPr bwMode="auto">
            <a:xfrm>
              <a:off x="2110" y="3095"/>
              <a:ext cx="720" cy="144"/>
            </a:xfrm>
            <a:prstGeom prst="rect">
              <a:avLst/>
            </a:prstGeom>
            <a:solidFill>
              <a:schemeClr val="hlink">
                <a:alpha val="2509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e-IL" sz="1600" b="1">
                <a:solidFill>
                  <a:srgbClr val="FFFF00"/>
                </a:solidFill>
                <a:latin typeface="Arial" pitchFamily="34" charset="0"/>
              </a:endParaRPr>
            </a:p>
          </p:txBody>
        </p:sp>
        <p:sp>
          <p:nvSpPr>
            <p:cNvPr id="44057" name="Line 22"/>
            <p:cNvSpPr>
              <a:spLocks noChangeShapeType="1"/>
            </p:cNvSpPr>
            <p:nvPr/>
          </p:nvSpPr>
          <p:spPr bwMode="auto">
            <a:xfrm>
              <a:off x="2836" y="3179"/>
              <a:ext cx="49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he-IL" b="1">
                <a:solidFill>
                  <a:srgbClr val="FFFF00"/>
                </a:solidFill>
              </a:endParaRPr>
            </a:p>
          </p:txBody>
        </p:sp>
      </p:grpSp>
      <p:cxnSp>
        <p:nvCxnSpPr>
          <p:cNvPr id="44040" name="AutoShape 46"/>
          <p:cNvCxnSpPr>
            <a:cxnSpLocks noChangeShapeType="1"/>
            <a:stCxn id="44053" idx="3"/>
          </p:cNvCxnSpPr>
          <p:nvPr/>
        </p:nvCxnSpPr>
        <p:spPr bwMode="auto">
          <a:xfrm flipV="1">
            <a:off x="1697038" y="4271963"/>
            <a:ext cx="1647825" cy="373062"/>
          </a:xfrm>
          <a:prstGeom prst="bentConnector3">
            <a:avLst>
              <a:gd name="adj1" fmla="val 35838"/>
            </a:avLst>
          </a:prstGeom>
          <a:noFill/>
          <a:ln w="3810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he-IL" sz="4800" b="1" i="1" dirty="0">
                <a:solidFill>
                  <a:srgbClr val="FFFF00"/>
                </a:solidFill>
              </a:rPr>
              <a:t>מאגר חוטים בגודל דינאמי</a:t>
            </a:r>
            <a:endParaRPr lang="en-US" sz="4800" b="1" i="1" dirty="0">
              <a:solidFill>
                <a:srgbClr val="FFFF00"/>
              </a:solidFill>
            </a:endParaRPr>
          </a:p>
        </p:txBody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r>
              <a:rPr lang="he-IL" b="1" dirty="0" smtClean="0"/>
              <a:t> 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p</a:t>
            </a:r>
            <a:r>
              <a:rPr lang="he-IL" b="1" baseline="-25000" dirty="0" smtClean="0"/>
              <a:t> </a:t>
            </a:r>
            <a:r>
              <a:rPr lang="he-IL" b="1" dirty="0" smtClean="0"/>
              <a:t>ו 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c</a:t>
            </a:r>
            <a:r>
              <a:rPr lang="he-IL" b="1" dirty="0" smtClean="0"/>
              <a:t> אינם ידועים, ואולי אפילו אינם קבועים</a:t>
            </a:r>
          </a:p>
          <a:p>
            <a:r>
              <a:rPr lang="he-IL" b="1" dirty="0" smtClean="0"/>
              <a:t>ערכו של 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c</a:t>
            </a:r>
            <a:r>
              <a:rPr lang="he-IL" b="1" dirty="0" smtClean="0"/>
              <a:t>  עשוי לקבוע את </a:t>
            </a:r>
            <a:r>
              <a:rPr lang="en-US" b="1" dirty="0" err="1" smtClean="0"/>
              <a:t>t</a:t>
            </a:r>
            <a:r>
              <a:rPr lang="en-US" b="1" baseline="-25000" dirty="0" err="1" smtClean="0"/>
              <a:t>p</a:t>
            </a:r>
            <a:endParaRPr lang="en-US" b="1" dirty="0" smtClean="0"/>
          </a:p>
          <a:p>
            <a:pPr>
              <a:buSzTx/>
              <a:buFont typeface="Wingdings" pitchFamily="2" charset="2"/>
              <a:buChar char="G"/>
            </a:pPr>
            <a:r>
              <a:rPr lang="en-US" b="1" dirty="0" smtClean="0"/>
              <a:t>pool</a:t>
            </a:r>
            <a:r>
              <a:rPr lang="he-IL" b="1" dirty="0" smtClean="0"/>
              <a:t> דינאמי</a:t>
            </a:r>
            <a:endParaRPr lang="en-GB" b="1" dirty="0" smtClean="0"/>
          </a:p>
          <a:p>
            <a:pPr lvl="1"/>
            <a:r>
              <a:rPr lang="he-IL" b="1" dirty="0" smtClean="0"/>
              <a:t>מתחילים עם מספר חוטים קבוע</a:t>
            </a:r>
          </a:p>
          <a:p>
            <a:pPr lvl="1"/>
            <a:r>
              <a:rPr lang="he-IL" b="1" dirty="0" smtClean="0"/>
              <a:t>אם אורך תור המשימות גדל והתהליך לא מנצל את כל מנת הזמן שלו, מגדילים את מספר החוטים</a:t>
            </a:r>
          </a:p>
          <a:p>
            <a:pPr lvl="2"/>
            <a:r>
              <a:rPr lang="he-IL" b="1" dirty="0" smtClean="0"/>
              <a:t>תוספת קבועה או כפלית</a:t>
            </a:r>
          </a:p>
          <a:p>
            <a:pPr lvl="2"/>
            <a:r>
              <a:rPr lang="he-IL" b="1" dirty="0" smtClean="0"/>
              <a:t>עד לסף עליון קבוע</a:t>
            </a:r>
          </a:p>
          <a:p>
            <a:pPr lvl="1"/>
            <a:r>
              <a:rPr lang="he-IL" b="1" dirty="0" smtClean="0"/>
              <a:t>אם יש הרבה חוטים מובטלים, ניתן לבטל חוטים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5736" y="5711527"/>
            <a:ext cx="6515100" cy="8858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he-IL" b="1" dirty="0" smtClean="0"/>
              <a:t>חבילת חוטים ברמת משתמש הקצה </a:t>
            </a:r>
            <a:endParaRPr lang="en-US" b="1" dirty="0" smtClean="0"/>
          </a:p>
        </p:txBody>
      </p:sp>
      <p:pic>
        <p:nvPicPr>
          <p:cNvPr id="79877" name="Picture 6" descr="2-13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255712"/>
            <a:ext cx="8352928" cy="438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he-IL" sz="4000" b="1" dirty="0" smtClean="0">
                <a:solidFill>
                  <a:srgbClr val="FFFF00"/>
                </a:solidFill>
                <a:effectLst/>
              </a:rPr>
              <a:t>מימוש השימוש בחוטים אצל המשתמש</a:t>
            </a:r>
            <a:endParaRPr lang="en-US" sz="3200" b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7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8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1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95312" y="116632"/>
            <a:ext cx="8229600" cy="139442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he-IL" sz="4800" b="1" i="1" dirty="0" smtClean="0">
                <a:solidFill>
                  <a:srgbClr val="FFFF00"/>
                </a:solidFill>
              </a:rPr>
              <a:t>מימוש השימוש בחוטים ברמת המשתמש הבודד</a:t>
            </a:r>
            <a:endParaRPr lang="en-US" sz="4800" b="1" i="1" dirty="0">
              <a:solidFill>
                <a:srgbClr val="FFFF00"/>
              </a:solidFill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199118" y="1511052"/>
            <a:ext cx="8688263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92100" indent="-292100" algn="r" rtl="1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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1905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82563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73736" algn="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Char char="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lnSpc>
                <a:spcPct val="150000"/>
              </a:lnSpc>
            </a:pPr>
            <a:r>
              <a:rPr lang="he-IL" sz="3600" b="1" dirty="0" smtClean="0">
                <a:solidFill>
                  <a:srgbClr val="FFFF00"/>
                </a:solidFill>
              </a:rPr>
              <a:t>יתרונות:</a:t>
            </a:r>
          </a:p>
          <a:p>
            <a:pPr lvl="1" algn="just" eaLnBrk="1" hangingPunct="1">
              <a:lnSpc>
                <a:spcPct val="150000"/>
              </a:lnSpc>
              <a:spcBef>
                <a:spcPts val="1200"/>
              </a:spcBef>
            </a:pPr>
            <a:r>
              <a:rPr lang="he-IL" sz="3200" b="1" dirty="0" smtClean="0"/>
              <a:t>המימוש בא לידי שימוש רק באמצעות מערכת הפעלה.</a:t>
            </a:r>
          </a:p>
          <a:p>
            <a:pPr lvl="1" algn="just" eaLnBrk="1" hangingPunct="1">
              <a:lnSpc>
                <a:spcPct val="150000"/>
              </a:lnSpc>
              <a:spcBef>
                <a:spcPts val="1200"/>
              </a:spcBef>
            </a:pPr>
            <a:r>
              <a:rPr lang="he-IL" sz="3200" b="1" dirty="0" smtClean="0"/>
              <a:t>אי שימוש בקריאות מערכת ההפעלה דורש פחות משאבי צוות ומאפשר החלפת תהליכים מהירה.</a:t>
            </a:r>
          </a:p>
          <a:p>
            <a:pPr lvl="1" algn="just" eaLnBrk="1" hangingPunct="1">
              <a:lnSpc>
                <a:spcPct val="150000"/>
              </a:lnSpc>
              <a:spcBef>
                <a:spcPts val="1200"/>
              </a:spcBef>
            </a:pPr>
            <a:r>
              <a:rPr lang="he-IL" sz="3200" b="1" dirty="0" smtClean="0"/>
              <a:t>לכל תהליך יש אלגוריתם מתזמן אישי משלו.</a:t>
            </a:r>
            <a:endParaRPr lang="en-US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127180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3"/>
          <p:cNvSpPr>
            <a:spLocks noGrp="1" noChangeArrowheads="1"/>
          </p:cNvSpPr>
          <p:nvPr>
            <p:ph type="title"/>
          </p:nvPr>
        </p:nvSpPr>
        <p:spPr>
          <a:xfrm>
            <a:off x="771525" y="548680"/>
            <a:ext cx="7772400" cy="86064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400" b="1" i="1" dirty="0" smtClean="0">
                <a:solidFill>
                  <a:srgbClr val="FFFF00"/>
                </a:solidFill>
                <a:effectLst/>
              </a:rPr>
              <a:t>מימוש חוטים ברמת המשתמש</a:t>
            </a:r>
            <a:endParaRPr lang="en-US" sz="4000" dirty="0" smtClean="0"/>
          </a:p>
        </p:txBody>
      </p:sp>
      <p:sp>
        <p:nvSpPr>
          <p:cNvPr id="8192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536" y="1477963"/>
            <a:ext cx="8424936" cy="4618037"/>
          </a:xfrm>
        </p:spPr>
        <p:txBody>
          <a:bodyPr/>
          <a:lstStyle/>
          <a:p>
            <a:pPr eaLnBrk="1" hangingPunct="1"/>
            <a:r>
              <a:rPr lang="he-IL" b="1" dirty="0" smtClean="0">
                <a:solidFill>
                  <a:srgbClr val="FFFF00"/>
                </a:solidFill>
              </a:rPr>
              <a:t> חסרונות:</a:t>
            </a:r>
          </a:p>
          <a:p>
            <a:pPr lvl="1" eaLnBrk="1" hangingPunct="1"/>
            <a:r>
              <a:rPr lang="he-IL" sz="3000" b="1" dirty="0" smtClean="0"/>
              <a:t>כאשר חוט חסום בעקבות קריאת פעולת קלט / פלט כל התהליך ייחסם.</a:t>
            </a:r>
          </a:p>
          <a:p>
            <a:pPr lvl="1" eaLnBrk="1" hangingPunct="1"/>
            <a:r>
              <a:rPr lang="he-IL" sz="3000" b="1" dirty="0" smtClean="0"/>
              <a:t>כאשר החוט נמצא במצב של שגיאת עמוד כל התהליך ייחסם.</a:t>
            </a:r>
          </a:p>
          <a:p>
            <a:pPr lvl="1" eaLnBrk="1" hangingPunct="1"/>
            <a:r>
              <a:rPr lang="he-IL" sz="3200" b="1" dirty="0" smtClean="0"/>
              <a:t>תהליכים אשר נוטים להיחסם הם אלה שעבורם אנו צריכים את השימוש בחוטים.</a:t>
            </a:r>
          </a:p>
          <a:p>
            <a:pPr eaLnBrk="1" hangingPunct="1"/>
            <a:r>
              <a:rPr lang="he-IL" b="1" dirty="0" smtClean="0">
                <a:solidFill>
                  <a:srgbClr val="FFFF00"/>
                </a:solidFill>
              </a:rPr>
              <a:t> הפתרון:</a:t>
            </a:r>
            <a:r>
              <a:rPr lang="he-IL" b="1" dirty="0" smtClean="0"/>
              <a:t> שימוש בקריאות מערכת בלתי חסימות אשר לא תגרומנה לחסימת תהליכים.</a:t>
            </a:r>
            <a:endParaRPr lang="en-US" b="1" dirty="0" smtClean="0"/>
          </a:p>
        </p:txBody>
      </p:sp>
      <p:sp>
        <p:nvSpPr>
          <p:cNvPr id="6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7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1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16075"/>
            <a:ext cx="7940675" cy="447992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he-IL" sz="4000" dirty="0" smtClean="0"/>
              <a:t> </a:t>
            </a:r>
            <a:r>
              <a:rPr lang="he-IL" b="1" dirty="0" smtClean="0"/>
              <a:t>הגרעין מתחזק את התוכן של החוטים</a:t>
            </a:r>
          </a:p>
          <a:p>
            <a:pPr algn="just" eaLnBrk="1" hangingPunct="1">
              <a:lnSpc>
                <a:spcPct val="150000"/>
              </a:lnSpc>
            </a:pPr>
            <a:r>
              <a:rPr lang="he-IL" b="1" dirty="0" smtClean="0"/>
              <a:t> הוא מכיל את כל המידע והנתונים עבור כל החוטים והתהליכים.</a:t>
            </a:r>
          </a:p>
          <a:p>
            <a:pPr algn="just" eaLnBrk="1" hangingPunct="1">
              <a:lnSpc>
                <a:spcPct val="150000"/>
              </a:lnSpc>
            </a:pPr>
            <a:r>
              <a:rPr lang="he-IL" b="1" dirty="0" smtClean="0"/>
              <a:t>תזמון התהליכים מתבצע על בסיס כל חוט בנפרד</a:t>
            </a:r>
          </a:p>
          <a:p>
            <a:pPr algn="just" eaLnBrk="1" hangingPunct="1">
              <a:lnSpc>
                <a:spcPct val="150000"/>
              </a:lnSpc>
            </a:pPr>
            <a:r>
              <a:rPr lang="he-IL" b="1" dirty="0" smtClean="0"/>
              <a:t>התופעה קיימת היום במרבית מערכות ההפעלה </a:t>
            </a:r>
          </a:p>
          <a:p>
            <a:pPr algn="just" eaLnBrk="1" hangingPunct="1">
              <a:lnSpc>
                <a:spcPct val="150000"/>
              </a:lnSpc>
            </a:pPr>
            <a:endParaRPr lang="he-IL" sz="4000" dirty="0" smtClean="0"/>
          </a:p>
          <a:p>
            <a:pPr algn="just" eaLnBrk="1" hangingPunct="1">
              <a:lnSpc>
                <a:spcPct val="150000"/>
              </a:lnSpc>
            </a:pPr>
            <a:endParaRPr lang="en-US" sz="4000" dirty="0" smtClean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>
          <a:xfrm>
            <a:off x="771525" y="548680"/>
            <a:ext cx="7772400" cy="86064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400" b="1" i="1" dirty="0" smtClean="0">
                <a:solidFill>
                  <a:srgbClr val="FFFF00"/>
                </a:solidFill>
                <a:effectLst/>
              </a:rPr>
              <a:t>מימוש חוטים ברמת הגרעין</a:t>
            </a:r>
            <a:endParaRPr lang="en-US" sz="4000" dirty="0" smtClean="0"/>
          </a:p>
        </p:txBody>
      </p:sp>
      <p:sp>
        <p:nvSpPr>
          <p:cNvPr id="8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9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13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350" y="5779440"/>
            <a:ext cx="8361114" cy="673896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he-IL" b="1" dirty="0" smtClean="0">
                <a:solidFill>
                  <a:srgbClr val="FFFF00"/>
                </a:solidFill>
              </a:rPr>
              <a:t>כל מארז החוטים מנוהל ע"י הגרעין של מערכת ההפעלה</a:t>
            </a:r>
            <a:endParaRPr lang="en-US" b="1" dirty="0" smtClean="0">
              <a:solidFill>
                <a:srgbClr val="FFFF00"/>
              </a:solidFill>
            </a:endParaRPr>
          </a:p>
        </p:txBody>
      </p:sp>
      <p:pic>
        <p:nvPicPr>
          <p:cNvPr id="83974" name="Picture 5" descr="2-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7350" y="1556793"/>
            <a:ext cx="8361114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771525" y="548680"/>
            <a:ext cx="7772400" cy="86064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000" dirty="0" smtClean="0"/>
              <a:t/>
            </a:r>
            <a:br>
              <a:rPr lang="he-IL" sz="4000" dirty="0" smtClean="0"/>
            </a:br>
            <a:r>
              <a:rPr lang="he-IL" sz="4000" dirty="0"/>
              <a:t/>
            </a:r>
            <a:br>
              <a:rPr lang="he-IL" sz="4000" dirty="0"/>
            </a:br>
            <a:r>
              <a:rPr lang="he-IL" sz="4400" b="1" i="1" dirty="0" smtClean="0">
                <a:solidFill>
                  <a:srgbClr val="FFFF00"/>
                </a:solidFill>
                <a:effectLst/>
              </a:rPr>
              <a:t>מימוש חוטים ברמת הגרעין</a:t>
            </a:r>
            <a:endParaRPr lang="en-US" sz="4000" dirty="0" smtClean="0"/>
          </a:p>
        </p:txBody>
      </p:sp>
      <p:sp>
        <p:nvSpPr>
          <p:cNvPr id="11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12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6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e-IL" sz="4000" b="1" i="1" dirty="0" smtClean="0">
                <a:solidFill>
                  <a:srgbClr val="FFFF00"/>
                </a:solidFill>
                <a:effectLst/>
              </a:rPr>
              <a:t>חוטים ברמת הגרעין</a:t>
            </a:r>
            <a:endParaRPr lang="en-US" sz="4000" b="1" i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8499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536" y="1556792"/>
            <a:ext cx="8422704" cy="4844007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70000"/>
              </a:lnSpc>
              <a:spcBef>
                <a:spcPts val="1200"/>
              </a:spcBef>
            </a:pPr>
            <a:r>
              <a:rPr lang="he-IL" sz="3600" b="1" dirty="0" smtClean="0"/>
              <a:t>אין מערכת ריצת זמן.</a:t>
            </a:r>
          </a:p>
          <a:p>
            <a:pPr algn="just" eaLnBrk="1" hangingPunct="1">
              <a:lnSpc>
                <a:spcPct val="170000"/>
              </a:lnSpc>
              <a:spcBef>
                <a:spcPts val="1200"/>
              </a:spcBef>
            </a:pPr>
            <a:r>
              <a:rPr lang="he-IL" sz="3600" b="1" dirty="0" smtClean="0"/>
              <a:t>כל התייחסות של חוט לפעילות היא ברמת קריאת מערכת הפעלה. (זה חסכוני יותר, תהליכים מוחלפים לתוך ומתוך גרעין מערכת ההפעלה)</a:t>
            </a:r>
          </a:p>
          <a:p>
            <a:pPr algn="just" eaLnBrk="1" hangingPunct="1">
              <a:lnSpc>
                <a:spcPct val="170000"/>
              </a:lnSpc>
              <a:spcBef>
                <a:spcPts val="1200"/>
              </a:spcBef>
            </a:pPr>
            <a:r>
              <a:rPr lang="en-US" sz="3600" b="1" dirty="0" smtClean="0"/>
              <a:t> </a:t>
            </a:r>
            <a:r>
              <a:rPr lang="he-IL" sz="3600" b="1" dirty="0" smtClean="0"/>
              <a:t>נושא החסימות בא לידי פתרון ע"י עבודת מערכת ההפעלה ברמת הטיפול בחוט הבודד. (יודגם בהמשך)</a:t>
            </a:r>
            <a:endParaRPr lang="en-US" sz="3600" b="1" dirty="0" smtClean="0"/>
          </a:p>
          <a:p>
            <a:pPr algn="just" eaLnBrk="1" hangingPunct="1">
              <a:lnSpc>
                <a:spcPct val="170000"/>
              </a:lnSpc>
              <a:spcBef>
                <a:spcPts val="1200"/>
              </a:spcBef>
            </a:pPr>
            <a:endParaRPr lang="en-US" sz="4000" b="1" dirty="0" smtClean="0"/>
          </a:p>
        </p:txBody>
      </p:sp>
      <p:sp>
        <p:nvSpPr>
          <p:cNvPr id="6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7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42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3568" y="1412776"/>
            <a:ext cx="7772400" cy="4896544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1200"/>
              </a:spcBef>
            </a:pPr>
            <a:r>
              <a:rPr lang="he-IL" sz="4400" dirty="0" smtClean="0"/>
              <a:t> </a:t>
            </a:r>
            <a:r>
              <a:rPr lang="he-IL" sz="3600" b="1" dirty="0" smtClean="0">
                <a:solidFill>
                  <a:srgbClr val="FFFF00"/>
                </a:solidFill>
              </a:rPr>
              <a:t>יתרונות:</a:t>
            </a:r>
          </a:p>
          <a:p>
            <a:pPr lvl="1" algn="just" eaLnBrk="1" hangingPunct="1">
              <a:lnSpc>
                <a:spcPct val="150000"/>
              </a:lnSpc>
              <a:spcBef>
                <a:spcPts val="1200"/>
              </a:spcBef>
            </a:pPr>
            <a:r>
              <a:rPr lang="he-IL" sz="3200" b="1" dirty="0" smtClean="0"/>
              <a:t>במידה וחוט נחסם עבור פעילות קלט / פלט כל התהליך לא ייחסם אלא רק הקישור לחוט.</a:t>
            </a:r>
            <a:endParaRPr lang="en-US" sz="3200" b="1" dirty="0" smtClean="0"/>
          </a:p>
          <a:p>
            <a:pPr lvl="1" algn="just" eaLnBrk="1" hangingPunct="1">
              <a:lnSpc>
                <a:spcPct val="150000"/>
              </a:lnSpc>
              <a:spcBef>
                <a:spcPts val="1200"/>
              </a:spcBef>
            </a:pPr>
            <a:r>
              <a:rPr lang="he-IL" sz="3200" b="1" dirty="0" smtClean="0"/>
              <a:t>במידה ומתקיימת שגיאת עמוד כל התהליך לא ייחסם אלא רק הקריאה לאותו דף</a:t>
            </a:r>
            <a:r>
              <a:rPr lang="he-IL" sz="3600" b="1" dirty="0" smtClean="0"/>
              <a:t>.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1200"/>
              </a:spcBef>
              <a:buNone/>
            </a:pPr>
            <a:endParaRPr lang="en-US" sz="3600" b="1" dirty="0" smtClean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540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he-IL" sz="4000" b="1" i="1" dirty="0" smtClean="0">
                <a:solidFill>
                  <a:srgbClr val="FFFF00"/>
                </a:solidFill>
                <a:effectLst/>
              </a:rPr>
              <a:t>חוטים ברמת הגרעין</a:t>
            </a:r>
            <a:endParaRPr lang="en-US" sz="4000" b="1" i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8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/>
          </a:p>
        </p:txBody>
      </p:sp>
      <p:sp>
        <p:nvSpPr>
          <p:cNvPr id="9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99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679542" cy="4916016"/>
          </a:xfrm>
        </p:spPr>
        <p:txBody>
          <a:bodyPr/>
          <a:lstStyle/>
          <a:p>
            <a:pPr marL="0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he-IL" sz="2800" dirty="0" smtClean="0"/>
              <a:t> </a:t>
            </a:r>
            <a:r>
              <a:rPr lang="he-IL" sz="2800" b="1" dirty="0" smtClean="0">
                <a:solidFill>
                  <a:srgbClr val="FFFF00"/>
                </a:solidFill>
              </a:rPr>
              <a:t>חסרונות:</a:t>
            </a:r>
          </a:p>
          <a:p>
            <a:pPr marL="0"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he-IL" sz="2800" b="1" dirty="0" smtClean="0"/>
              <a:t>מחיר יקר, כל הקמה של חוט דורשת משאבי מערכת. הפתרון לכך הוא מחזור של חוטים קיימים.</a:t>
            </a:r>
          </a:p>
          <a:p>
            <a:pPr marL="0"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he-IL" sz="2800" b="1" dirty="0" smtClean="0"/>
              <a:t>מה מתרחש כאשר קיים ריבוי חוטים משכפל עצמו שוב ושוב?</a:t>
            </a:r>
          </a:p>
          <a:p>
            <a:pPr marL="0" lvl="1"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he-IL" sz="2800" b="1" dirty="0" smtClean="0"/>
              <a:t>כאשר מתקבל אות שנשלח (כזה שנשלח לתהליך, לא לחוט!) איזה חוט מטפל בו? מי המחליט? מה קורה במקרים בהם שני חוטים נרשמים לאותו אות?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540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he-IL" sz="4000" b="1" i="1" dirty="0" smtClean="0">
                <a:solidFill>
                  <a:srgbClr val="FFFF00"/>
                </a:solidFill>
                <a:effectLst/>
              </a:rPr>
              <a:t>חוטים ברמת הגרעין</a:t>
            </a:r>
            <a:endParaRPr lang="en-US" sz="4000" b="1" i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8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 dirty="0"/>
          </a:p>
        </p:txBody>
      </p:sp>
      <p:sp>
        <p:nvSpPr>
          <p:cNvPr id="9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9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76672"/>
            <a:ext cx="8229600" cy="798736"/>
          </a:xfrm>
        </p:spPr>
        <p:txBody>
          <a:bodyPr>
            <a:normAutofit/>
          </a:bodyPr>
          <a:lstStyle/>
          <a:p>
            <a:pPr eaLnBrk="1" hangingPunct="1"/>
            <a:r>
              <a:rPr lang="he-IL" sz="4000" b="1" dirty="0" smtClean="0">
                <a:solidFill>
                  <a:srgbClr val="FFFF00"/>
                </a:solidFill>
                <a:effectLst/>
              </a:rPr>
              <a:t>הפתרון מימוש ע"י מערכת היברידית</a:t>
            </a:r>
            <a:endParaRPr lang="en-US" sz="4000" b="1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7500" y="5466457"/>
            <a:ext cx="8674100" cy="113089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he-IL" sz="2800" b="1" dirty="0" smtClean="0">
                <a:solidFill>
                  <a:srgbClr val="FFFF00"/>
                </a:solidFill>
              </a:rPr>
              <a:t>מערכת בעלת גישה משולבת – חוטים ברמת המשתמש בשילוב חוטים ברמת הגרעין (באופן משולב ומלא</a:t>
            </a:r>
            <a:r>
              <a:rPr lang="en-GB" sz="2800" b="1" dirty="0" smtClean="0">
                <a:solidFill>
                  <a:srgbClr val="FFFF00"/>
                </a:solidFill>
              </a:rPr>
              <a:t>(</a:t>
            </a:r>
            <a:endParaRPr lang="en-US" sz="2800" dirty="0" smtClean="0"/>
          </a:p>
        </p:txBody>
      </p:sp>
      <p:pic>
        <p:nvPicPr>
          <p:cNvPr id="88070" name="Picture 5" descr="2-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80264"/>
            <a:ext cx="8640960" cy="4036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 dirty="0"/>
          </a:p>
        </p:txBody>
      </p:sp>
      <p:sp>
        <p:nvSpPr>
          <p:cNvPr id="8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4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585448" cy="4824536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he-IL" b="1" dirty="0" smtClean="0"/>
              <a:t>דוגמה למערכת הפעלה עם מערכת היברידית היא </a:t>
            </a:r>
            <a:r>
              <a:rPr lang="en-GB" b="1" dirty="0" smtClean="0"/>
              <a:t>Solaris</a:t>
            </a:r>
            <a:r>
              <a:rPr lang="he-IL" b="1" dirty="0" smtClean="0"/>
              <a:t>.</a:t>
            </a:r>
          </a:p>
          <a:p>
            <a:pPr algn="just" eaLnBrk="1" hangingPunct="1">
              <a:lnSpc>
                <a:spcPct val="150000"/>
              </a:lnSpc>
            </a:pPr>
            <a:r>
              <a:rPr lang="he-IL" b="1" dirty="0" smtClean="0"/>
              <a:t>זו מערכת מבוססת </a:t>
            </a:r>
            <a:r>
              <a:rPr lang="en-US" b="1" dirty="0" smtClean="0"/>
              <a:t>UNIX</a:t>
            </a:r>
            <a:r>
              <a:rPr lang="he-IL" b="1" dirty="0" smtClean="0"/>
              <a:t>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GB" b="1" dirty="0"/>
              <a:t>Solaris </a:t>
            </a:r>
            <a:r>
              <a:rPr lang="he-IL" b="1" dirty="0" smtClean="0"/>
              <a:t> - מפעילה כמה סוגי חוטים במקביל אשר חלקם מבוססי גרעין הנוצרים רצים ומתוזמנים ע"י מערכת ההפעלה.</a:t>
            </a:r>
          </a:p>
        </p:txBody>
      </p:sp>
      <p:sp>
        <p:nvSpPr>
          <p:cNvPr id="8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 dirty="0"/>
          </a:p>
        </p:txBody>
      </p:sp>
      <p:sp>
        <p:nvSpPr>
          <p:cNvPr id="9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95536" y="476672"/>
            <a:ext cx="8229600" cy="798736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lvl1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rgbClr val="E7EACB"/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2pPr>
            <a:lvl3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3pPr>
            <a:lvl4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4pPr>
            <a:lvl5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5pPr>
            <a:lvl6pPr marL="5111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6pPr>
            <a:lvl7pPr marL="9683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7pPr>
            <a:lvl8pPr marL="14255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8pPr>
            <a:lvl9pPr marL="18827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9pPr>
            <a:extLst/>
          </a:lstStyle>
          <a:p>
            <a:pPr eaLnBrk="1" hangingPunct="1"/>
            <a:r>
              <a:rPr lang="he-IL" sz="4000" b="1" dirty="0" smtClean="0">
                <a:solidFill>
                  <a:srgbClr val="FFFF00"/>
                </a:solidFill>
                <a:effectLst/>
              </a:rPr>
              <a:t>מערכת היברידית</a:t>
            </a:r>
            <a:endParaRPr lang="en-US" sz="4000" b="1" dirty="0" smtClean="0"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536998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585448" cy="4824536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he-IL" b="1" dirty="0" smtClean="0"/>
              <a:t>רוב תהליך יצירת החוטים נעשה ברמת המשתמש ובמיקום הזיכרון שהוקצה עבורו.</a:t>
            </a:r>
          </a:p>
          <a:p>
            <a:pPr algn="just" eaLnBrk="1" hangingPunct="1">
              <a:lnSpc>
                <a:spcPct val="150000"/>
              </a:lnSpc>
            </a:pPr>
            <a:r>
              <a:rPr lang="he-IL" b="1" dirty="0" smtClean="0"/>
              <a:t> רוב התזמון והסנכרון של החוטים נעשה בתוך האפליקציה.</a:t>
            </a:r>
            <a:endParaRPr lang="en-US" b="1" dirty="0" smtClean="0"/>
          </a:p>
        </p:txBody>
      </p:sp>
      <p:sp>
        <p:nvSpPr>
          <p:cNvPr id="8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 dirty="0"/>
          </a:p>
        </p:txBody>
      </p:sp>
      <p:sp>
        <p:nvSpPr>
          <p:cNvPr id="9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95536" y="476672"/>
            <a:ext cx="8229600" cy="798736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lvl1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rgbClr val="E7EACB"/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2pPr>
            <a:lvl3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3pPr>
            <a:lvl4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4pPr>
            <a:lvl5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5pPr>
            <a:lvl6pPr marL="5111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6pPr>
            <a:lvl7pPr marL="9683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7pPr>
            <a:lvl8pPr marL="14255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8pPr>
            <a:lvl9pPr marL="18827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9pPr>
            <a:extLst/>
          </a:lstStyle>
          <a:p>
            <a:pPr eaLnBrk="1" hangingPunct="1"/>
            <a:r>
              <a:rPr lang="he-IL" sz="4000" b="1" dirty="0" smtClean="0">
                <a:solidFill>
                  <a:srgbClr val="FFFF00"/>
                </a:solidFill>
                <a:effectLst/>
              </a:rPr>
              <a:t>מערכת היברידית (המשך)</a:t>
            </a:r>
            <a:endParaRPr lang="en-US" sz="4000" b="1" dirty="0" smtClean="0"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52618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6" name="Picture 2" descr="4_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484784"/>
            <a:ext cx="8553648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 dirty="0"/>
          </a:p>
        </p:txBody>
      </p:sp>
      <p:sp>
        <p:nvSpPr>
          <p:cNvPr id="6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5536" y="476672"/>
            <a:ext cx="8229600" cy="798736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lvl1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rgbClr val="E7EACB"/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2pPr>
            <a:lvl3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3pPr>
            <a:lvl4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4pPr>
            <a:lvl5pPr marL="53975" indent="-53975" algn="r" rtl="1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5pPr>
            <a:lvl6pPr marL="5111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6pPr>
            <a:lvl7pPr marL="9683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7pPr>
            <a:lvl8pPr marL="14255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8pPr>
            <a:lvl9pPr marL="1882775" indent="-53975" algn="r" rtl="1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rgbClr val="E7EACB"/>
                </a:solidFill>
                <a:latin typeface="Rockwell" pitchFamily="18" charset="0"/>
              </a:defRPr>
            </a:lvl9pPr>
            <a:extLst/>
          </a:lstStyle>
          <a:p>
            <a:pPr eaLnBrk="1" hangingPunct="1"/>
            <a:r>
              <a:rPr lang="he-IL" sz="4000" b="1" dirty="0" smtClean="0">
                <a:solidFill>
                  <a:srgbClr val="FFFF00"/>
                </a:solidFill>
                <a:effectLst/>
              </a:rPr>
              <a:t>מימוש מערכת היברידית</a:t>
            </a:r>
            <a:endParaRPr lang="en-US" sz="4000" b="1" dirty="0" smtClean="0"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6581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9776"/>
            <a:ext cx="7992888" cy="1143000"/>
          </a:xfrm>
        </p:spPr>
        <p:txBody>
          <a:bodyPr>
            <a:normAutofit/>
          </a:bodyPr>
          <a:lstStyle/>
          <a:p>
            <a:pPr algn="r" eaLnBrk="1" hangingPunct="1"/>
            <a:r>
              <a:rPr lang="he-IL" sz="4000" b="1" dirty="0" smtClean="0">
                <a:solidFill>
                  <a:srgbClr val="FFFF00"/>
                </a:solidFill>
                <a:effectLst/>
              </a:rPr>
              <a:t>חוטי - </a:t>
            </a:r>
            <a:r>
              <a:rPr lang="en-US" sz="4000" b="1" dirty="0" smtClean="0">
                <a:solidFill>
                  <a:srgbClr val="FFFF00"/>
                </a:solidFill>
                <a:effectLst/>
              </a:rPr>
              <a:t>Pop-Up</a:t>
            </a:r>
          </a:p>
        </p:txBody>
      </p:sp>
      <p:sp>
        <p:nvSpPr>
          <p:cNvPr id="91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556792"/>
            <a:ext cx="8568952" cy="45735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he-IL" b="1" dirty="0" smtClean="0"/>
              <a:t>מנגנון הפצת ההודעות מבוזר ונותן שירותים בכל מקום במערכת, שולח מידע ומסונכרן.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he-IL" b="1" dirty="0" smtClean="0"/>
              <a:t>מנגנון מסורתי אשר אחראי על חסימת בלוקים עד אשר מתקבלת הודעה לשחרר אותם.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he-IL" b="1" dirty="0" smtClean="0"/>
              <a:t>המנגנון יכול להביא לייצור חוט חדש קטן המיועד אך ורק לקבלת הודעות במקום חוט גדול יותר וכבד יותר לניהול תהליך:</a:t>
            </a:r>
          </a:p>
          <a:p>
            <a:pPr lvl="1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he-IL" b="1" dirty="0" smtClean="0"/>
              <a:t>יודע להתנהל מול מנגנון ההודעות, אך אינו שומר את המידע.</a:t>
            </a:r>
          </a:p>
          <a:p>
            <a:pPr lvl="1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he-IL" b="1" dirty="0" smtClean="0"/>
              <a:t>יכול לרוץ גם במקום שהוקצה לטובת גרעין מערכת ההפעלה.</a:t>
            </a:r>
            <a:endParaRPr lang="en-US" b="1" dirty="0" smtClean="0"/>
          </a:p>
        </p:txBody>
      </p:sp>
      <p:sp>
        <p:nvSpPr>
          <p:cNvPr id="6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 dirty="0"/>
          </a:p>
        </p:txBody>
      </p:sp>
      <p:sp>
        <p:nvSpPr>
          <p:cNvPr id="7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12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5" name="Picture 4" descr="2-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760" y="1484784"/>
            <a:ext cx="8607719" cy="4544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6" name="Rectangle 5"/>
          <p:cNvSpPr>
            <a:spLocks noChangeArrowheads="1"/>
          </p:cNvSpPr>
          <p:nvPr/>
        </p:nvSpPr>
        <p:spPr bwMode="auto">
          <a:xfrm>
            <a:off x="252536" y="6029474"/>
            <a:ext cx="8891464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algn="l">
              <a:lnSpc>
                <a:spcPct val="90000"/>
              </a:lnSpc>
            </a:pPr>
            <a:r>
              <a:rPr lang="en-US" b="1" dirty="0"/>
              <a:t>(a) before message arrives, </a:t>
            </a:r>
            <a:r>
              <a:rPr lang="en-GB" b="1" dirty="0" smtClean="0"/>
              <a:t>                </a:t>
            </a:r>
            <a:r>
              <a:rPr lang="en-US" b="1" dirty="0" smtClean="0"/>
              <a:t>(</a:t>
            </a:r>
            <a:r>
              <a:rPr lang="en-US" b="1" dirty="0"/>
              <a:t>b) after message arrives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9776"/>
            <a:ext cx="7992888" cy="1143000"/>
          </a:xfrm>
        </p:spPr>
        <p:txBody>
          <a:bodyPr>
            <a:normAutofit/>
          </a:bodyPr>
          <a:lstStyle/>
          <a:p>
            <a:pPr algn="r" eaLnBrk="1" hangingPunct="1"/>
            <a:r>
              <a:rPr lang="he-IL" sz="4000" b="1" dirty="0" smtClean="0">
                <a:solidFill>
                  <a:srgbClr val="FFFF00"/>
                </a:solidFill>
                <a:effectLst/>
              </a:rPr>
              <a:t>חוטי - </a:t>
            </a:r>
            <a:r>
              <a:rPr lang="en-US" sz="4000" b="1" dirty="0" smtClean="0">
                <a:solidFill>
                  <a:srgbClr val="FFFF00"/>
                </a:solidFill>
                <a:effectLst/>
              </a:rPr>
              <a:t>Pop-Up</a:t>
            </a:r>
          </a:p>
        </p:txBody>
      </p:sp>
      <p:sp>
        <p:nvSpPr>
          <p:cNvPr id="9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295400" y="6400800"/>
            <a:ext cx="4211638" cy="274638"/>
          </a:xfrm>
        </p:spPr>
        <p:txBody>
          <a:bodyPr/>
          <a:lstStyle/>
          <a:p>
            <a:pPr>
              <a:defRPr/>
            </a:pPr>
            <a:r>
              <a:rPr lang="en-GB" smtClean="0"/>
              <a:t>OS Chapter 3 - Threads</a:t>
            </a:r>
            <a:endParaRPr lang="en-US" dirty="0"/>
          </a:p>
        </p:txBody>
      </p:sp>
      <p:sp>
        <p:nvSpPr>
          <p:cNvPr id="10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5562600" y="6400800"/>
            <a:ext cx="3001963" cy="274638"/>
          </a:xfrm>
        </p:spPr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3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Carnival">
      <a:dk1>
        <a:sysClr val="windowText" lastClr="000000"/>
      </a:dk1>
      <a:lt1>
        <a:sysClr val="window" lastClr="FFFFFF"/>
      </a:lt1>
      <a:dk2>
        <a:srgbClr val="2A2D6C"/>
      </a:dk2>
      <a:lt2>
        <a:srgbClr val="FCED90"/>
      </a:lt2>
      <a:accent1>
        <a:srgbClr val="E0B602"/>
      </a:accent1>
      <a:accent2>
        <a:srgbClr val="C77D00"/>
      </a:accent2>
      <a:accent3>
        <a:srgbClr val="C43D1F"/>
      </a:accent3>
      <a:accent4>
        <a:srgbClr val="B42469"/>
      </a:accent4>
      <a:accent5>
        <a:srgbClr val="7B309B"/>
      </a:accent5>
      <a:accent6>
        <a:srgbClr val="4560AD"/>
      </a:accent6>
      <a:hlink>
        <a:srgbClr val="118FBF"/>
      </a:hlink>
      <a:folHlink>
        <a:srgbClr val="0CA15F"/>
      </a:folHlink>
    </a:clrScheme>
    <a:fontScheme name="Office קלאסי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4314</TotalTime>
  <Words>2603</Words>
  <Application>Microsoft Office PowerPoint</Application>
  <PresentationFormat>‫הצגה על המסך (4:3)</PresentationFormat>
  <Paragraphs>560</Paragraphs>
  <Slides>55</Slides>
  <Notes>37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55</vt:i4>
      </vt:variant>
    </vt:vector>
  </HeadingPairs>
  <TitlesOfParts>
    <vt:vector size="56" baseType="lpstr">
      <vt:lpstr>Foundry</vt:lpstr>
      <vt:lpstr>פרק 3 -תהליכים קלי משקל Threads</vt:lpstr>
      <vt:lpstr>תהליכים רגילים  ותהליכים קלי משקל</vt:lpstr>
      <vt:lpstr>תהליכים רגילים  ותהליכים קלי משקל</vt:lpstr>
      <vt:lpstr>טבלת החוטים קלי המשקל</vt:lpstr>
      <vt:lpstr>טבלת התהליכים</vt:lpstr>
      <vt:lpstr>מבנה הנתונים בתהליכים ובתהליכים קלי משקל</vt:lpstr>
      <vt:lpstr>מדוע נדרשים תהליכים  קלי משקל</vt:lpstr>
      <vt:lpstr>אפיונים של תהליכים קלי משקל</vt:lpstr>
      <vt:lpstr>אפיונים של תהליכים קלי משקל</vt:lpstr>
      <vt:lpstr>אפיונים של תהליכים קלי משקל </vt:lpstr>
      <vt:lpstr>תהליך קל משקל של משימה/מטלה</vt:lpstr>
      <vt:lpstr>דוגמה לשימוש בשלושה חוטים במעבד תמלילים word</vt:lpstr>
      <vt:lpstr>דוגמה לשימוש בריבוי חוטים בשרת אינטרנט</vt:lpstr>
      <vt:lpstr>תהליך קל משקל בודד  מול ריבוי תהליכים קלי משקל</vt:lpstr>
      <vt:lpstr>יתרונות בכתיבת ריבוי תהליכים  קלי משקל</vt:lpstr>
      <vt:lpstr>מקביליות Parallelism</vt:lpstr>
      <vt:lpstr>Throughput</vt:lpstr>
      <vt:lpstr>Responsiveness   היענות </vt:lpstr>
      <vt:lpstr>תקשורתיות Communications</vt:lpstr>
      <vt:lpstr>עלות ריבוי תהליכים</vt:lpstr>
      <vt:lpstr>הכי טבעי לי מקבילי</vt:lpstr>
      <vt:lpstr>שומרי משקל</vt:lpstr>
      <vt:lpstr>תהליכים-דייאט = חוטים</vt:lpstr>
      <vt:lpstr>תזכורת: מרחב הכתובות של תהליך</vt:lpstr>
      <vt:lpstr>מרחב הכתובות של תהליך מרובה-חוטים</vt:lpstr>
      <vt:lpstr>חוטים לעומת תהליכים</vt:lpstr>
      <vt:lpstr>תהליך מרובה חוטים: תרשים</vt:lpstr>
      <vt:lpstr>דוגמה: שרת קבצים</vt:lpstr>
      <vt:lpstr>שרת קבצים: מימוש עם חוט יחיד</vt:lpstr>
      <vt:lpstr>מימוש באמצעות חוטים</vt:lpstr>
      <vt:lpstr>יתרונות וחסרונות</vt:lpstr>
      <vt:lpstr>חוטי משתמש וחוטי מערכת</vt:lpstr>
      <vt:lpstr>תמיכת מערכת הפעלה בחוטים</vt:lpstr>
      <vt:lpstr>דוגמא: חוטי POSIX</vt:lpstr>
      <vt:lpstr>מודלים לשימוש בחוטים</vt:lpstr>
      <vt:lpstr>מודלים לשימוש בחוטים</vt:lpstr>
      <vt:lpstr>השוואת ביצועים Solaris</vt:lpstr>
      <vt:lpstr>דוגמא: Windows</vt:lpstr>
      <vt:lpstr>כמה חוטים ליצור בשרת?</vt:lpstr>
      <vt:lpstr>מאגר חוטים thread pooling</vt:lpstr>
      <vt:lpstr>מאגר חוטים בגודל דינאמי</vt:lpstr>
      <vt:lpstr>מימוש השימוש בחוטים אצל המשתמש</vt:lpstr>
      <vt:lpstr>מימוש השימוש בחוטים ברמת המשתמש הבודד</vt:lpstr>
      <vt:lpstr>        מימוש חוטים ברמת המשתמש</vt:lpstr>
      <vt:lpstr>        מימוש חוטים ברמת הגרעין</vt:lpstr>
      <vt:lpstr>        מימוש חוטים ברמת הגרעין</vt:lpstr>
      <vt:lpstr>חוטים ברמת הגרעין</vt:lpstr>
      <vt:lpstr>חוטים ברמת הגרעין</vt:lpstr>
      <vt:lpstr>חוטים ברמת הגרעין</vt:lpstr>
      <vt:lpstr>הפתרון מימוש ע"י מערכת היברידית</vt:lpstr>
      <vt:lpstr>מצגת של PowerPoint</vt:lpstr>
      <vt:lpstr>מצגת של PowerPoint</vt:lpstr>
      <vt:lpstr>מצגת של PowerPoint</vt:lpstr>
      <vt:lpstr>חוטי - Pop-Up</vt:lpstr>
      <vt:lpstr>חוטי - Pop-Up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OS6</dc:title>
  <dc:creator>Shayke Bilu</dc:creator>
  <cp:lastModifiedBy>Shayke Bilu PhD</cp:lastModifiedBy>
  <cp:revision>227</cp:revision>
  <cp:lastPrinted>1998-02-12T08:14:48Z</cp:lastPrinted>
  <dcterms:created xsi:type="dcterms:W3CDTF">1998-02-10T14:37:26Z</dcterms:created>
  <dcterms:modified xsi:type="dcterms:W3CDTF">2018-03-29T06:18:58Z</dcterms:modified>
</cp:coreProperties>
</file>