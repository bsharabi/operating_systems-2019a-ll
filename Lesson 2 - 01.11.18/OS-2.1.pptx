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987" r:id="rId1"/>
  </p:sldMasterIdLst>
  <p:notesMasterIdLst>
    <p:notesMasterId r:id="rId43"/>
  </p:notesMasterIdLst>
  <p:handoutMasterIdLst>
    <p:handoutMasterId r:id="rId44"/>
  </p:handoutMasterIdLst>
  <p:sldIdLst>
    <p:sldId id="267" r:id="rId2"/>
    <p:sldId id="704" r:id="rId3"/>
    <p:sldId id="268" r:id="rId4"/>
    <p:sldId id="705" r:id="rId5"/>
    <p:sldId id="269" r:id="rId6"/>
    <p:sldId id="706" r:id="rId7"/>
    <p:sldId id="272" r:id="rId8"/>
    <p:sldId id="712" r:id="rId9"/>
    <p:sldId id="273" r:id="rId10"/>
    <p:sldId id="274" r:id="rId11"/>
    <p:sldId id="275" r:id="rId12"/>
    <p:sldId id="276" r:id="rId13"/>
    <p:sldId id="279" r:id="rId14"/>
    <p:sldId id="309" r:id="rId15"/>
    <p:sldId id="715" r:id="rId16"/>
    <p:sldId id="310" r:id="rId17"/>
    <p:sldId id="311" r:id="rId18"/>
    <p:sldId id="312" r:id="rId19"/>
    <p:sldId id="313" r:id="rId20"/>
    <p:sldId id="716" r:id="rId21"/>
    <p:sldId id="315" r:id="rId22"/>
    <p:sldId id="317" r:id="rId23"/>
    <p:sldId id="318" r:id="rId24"/>
    <p:sldId id="283" r:id="rId25"/>
    <p:sldId id="718" r:id="rId26"/>
    <p:sldId id="672" r:id="rId27"/>
    <p:sldId id="673" r:id="rId28"/>
    <p:sldId id="674" r:id="rId29"/>
    <p:sldId id="675" r:id="rId30"/>
    <p:sldId id="676" r:id="rId31"/>
    <p:sldId id="677" r:id="rId32"/>
    <p:sldId id="678" r:id="rId33"/>
    <p:sldId id="679" r:id="rId34"/>
    <p:sldId id="681" r:id="rId35"/>
    <p:sldId id="682" r:id="rId36"/>
    <p:sldId id="683" r:id="rId37"/>
    <p:sldId id="684" r:id="rId38"/>
    <p:sldId id="685" r:id="rId39"/>
    <p:sldId id="686" r:id="rId40"/>
    <p:sldId id="687" r:id="rId41"/>
    <p:sldId id="719" r:id="rId42"/>
  </p:sldIdLst>
  <p:sldSz cx="9144000" cy="6858000" type="screen4x3"/>
  <p:notesSz cx="6858000" cy="9144000"/>
  <p:defaultTextStyle>
    <a:defPPr>
      <a:defRPr lang="en-AU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FF99"/>
    <a:srgbClr val="66CCFF"/>
    <a:srgbClr val="0033CC"/>
    <a:srgbClr val="008000"/>
    <a:srgbClr val="CCFFFF"/>
    <a:srgbClr val="0066FF"/>
    <a:srgbClr val="FF99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43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blackWhite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hangingPunct="0">
              <a:defRPr sz="1200" b="1" i="1"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blackWhite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rtl="0" eaLnBrk="0" hangingPunct="0">
              <a:defRPr sz="1200" b="1" i="1"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blackWhite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hangingPunct="0">
              <a:defRPr sz="1200" b="1" i="1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he-IL" altLang="en-US"/>
              <a:t>Bilu.S.Shay</a:t>
            </a:r>
            <a:endParaRPr lang="en-US" altLang="en-US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blackWhite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0" eaLnBrk="0" hangingPunct="0">
              <a:defRPr sz="1200" b="1" i="1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81361BBF-9DA2-4C4E-99AB-C6D7D8748DB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1296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7922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90048661-4B08-4A5E-98BF-9248CE2261DC}" type="slidenum">
              <a:rPr lang="he-IL"/>
              <a:pPr eaLnBrk="1" hangingPunct="1"/>
              <a:t>2</a:t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74451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46A2B24E-C876-442B-8200-4D7A0A3F10A1}" type="slidenum">
              <a:rPr lang="he-IL"/>
              <a:pPr eaLnBrk="1" hangingPunct="1"/>
              <a:t>4</a:t>
            </a:fld>
            <a:endParaRPr lang="en-US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2491427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29A0DDFE-E152-46BC-8C9C-14B64B5BA0F6}" type="slidenum">
              <a:rPr lang="he-IL"/>
              <a:pPr eaLnBrk="1" hangingPunct="1"/>
              <a:t>6</a:t>
            </a:fld>
            <a:endParaRPr lang="en-US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3063794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40EA773F-D1DB-4AB7-92F7-C51DE6624D2C}" type="slidenum">
              <a:rPr lang="he-IL"/>
              <a:pPr eaLnBrk="1" hangingPunct="1"/>
              <a:t>25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r>
              <a:rPr lang="he-IL" smtClean="0"/>
              <a:t>כיום, מקובל להשתמש במודולים דינמיים, שניתן לטעון ולהסיר אותם מהזיכרון לפי דרישה. שיטה זו מאפשרת למנוע מהגרעין "להתנפח" ללא צורך בזיכרון המחשב, ולטעון רכיבי קוד ונתונים לפי דרישה. לדוגמה: אם נחבר למחשב מצלמה דיגיטלית, רק אז יטרח גרעין מערכת ההפעלה לטעון קוד המאפשר את תפעול המצלמה ע"י המחשב (רכיבי קוד לתפעול חומרה נקראים </a:t>
            </a:r>
            <a:r>
              <a:rPr lang="en-US" smtClean="0"/>
              <a:t>drivers</a:t>
            </a:r>
            <a:r>
              <a:rPr lang="he-IL" smtClean="0"/>
              <a:t>). לאחר שננתק את המצלמה, יסיר הגרעין את ה-</a:t>
            </a:r>
            <a:r>
              <a:rPr lang="en-US" smtClean="0"/>
              <a:t>driver</a:t>
            </a:r>
            <a:r>
              <a:rPr lang="he-IL" smtClean="0"/>
              <a:t> מהזיכרון.</a:t>
            </a:r>
          </a:p>
          <a:p>
            <a:r>
              <a:rPr lang="he-IL" smtClean="0"/>
              <a:t>רכיבי קוד דינמיים של בגרעין נקראים ב-</a:t>
            </a:r>
            <a:r>
              <a:rPr lang="en-US" smtClean="0"/>
              <a:t>Linux</a:t>
            </a:r>
            <a:r>
              <a:rPr lang="he-IL" smtClean="0"/>
              <a:t> בשם </a:t>
            </a:r>
            <a:r>
              <a:rPr lang="en-US" smtClean="0"/>
              <a:t>Kernel Modules</a:t>
            </a:r>
            <a:r>
              <a:rPr lang="he-IL" smtClean="0"/>
              <a:t>. ב-</a:t>
            </a:r>
            <a:r>
              <a:rPr lang="en-US" smtClean="0"/>
              <a:t>Windows</a:t>
            </a:r>
            <a:r>
              <a:rPr lang="he-IL" smtClean="0"/>
              <a:t> הם נקראים </a:t>
            </a:r>
            <a:r>
              <a:rPr lang="en-US" smtClean="0"/>
              <a:t>Dynamic Device Drivers</a:t>
            </a:r>
            <a:r>
              <a:rPr lang="he-IL" smtClean="0"/>
              <a:t>.</a:t>
            </a:r>
            <a:endParaRPr lang="en-GB" smtClean="0"/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32535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40EA773F-D1DB-4AB7-92F7-C51DE6624D2C}" type="slidenum">
              <a:rPr lang="he-IL"/>
              <a:pPr eaLnBrk="1" hangingPunct="1"/>
              <a:t>26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r>
              <a:rPr lang="he-IL" smtClean="0"/>
              <a:t>כיום, מקובל להשתמש במודולים דינמיים, שניתן לטעון ולהסיר אותם מהזיכרון לפי דרישה. שיטה זו מאפשרת למנוע מהגרעין "להתנפח" ללא צורך בזיכרון המחשב, ולטעון רכיבי קוד ונתונים לפי דרישה. לדוגמה: אם נחבר למחשב מצלמה דיגיטלית, רק אז יטרח גרעין מערכת ההפעלה לטעון קוד המאפשר את תפעול המצלמה ע"י המחשב (רכיבי קוד לתפעול חומרה נקראים </a:t>
            </a:r>
            <a:r>
              <a:rPr lang="en-US" smtClean="0"/>
              <a:t>drivers</a:t>
            </a:r>
            <a:r>
              <a:rPr lang="he-IL" smtClean="0"/>
              <a:t>). לאחר שננתק את המצלמה, יסיר הגרעין את ה-</a:t>
            </a:r>
            <a:r>
              <a:rPr lang="en-US" smtClean="0"/>
              <a:t>driver</a:t>
            </a:r>
            <a:r>
              <a:rPr lang="he-IL" smtClean="0"/>
              <a:t> מהזיכרון.</a:t>
            </a:r>
          </a:p>
          <a:p>
            <a:r>
              <a:rPr lang="he-IL" smtClean="0"/>
              <a:t>רכיבי קוד דינמיים של בגרעין נקראים ב-</a:t>
            </a:r>
            <a:r>
              <a:rPr lang="en-US" smtClean="0"/>
              <a:t>Linux</a:t>
            </a:r>
            <a:r>
              <a:rPr lang="he-IL" smtClean="0"/>
              <a:t> בשם </a:t>
            </a:r>
            <a:r>
              <a:rPr lang="en-US" smtClean="0"/>
              <a:t>Kernel Modules</a:t>
            </a:r>
            <a:r>
              <a:rPr lang="he-IL" smtClean="0"/>
              <a:t>. ב-</a:t>
            </a:r>
            <a:r>
              <a:rPr lang="en-US" smtClean="0"/>
              <a:t>Windows</a:t>
            </a:r>
            <a:r>
              <a:rPr lang="he-IL" smtClean="0"/>
              <a:t> הם נקראים </a:t>
            </a:r>
            <a:r>
              <a:rPr lang="en-US" smtClean="0"/>
              <a:t>Dynamic Device Drivers</a:t>
            </a:r>
            <a:r>
              <a:rPr lang="he-IL" smtClean="0"/>
              <a:t>.</a:t>
            </a:r>
            <a:endParaRPr lang="en-GB" smtClean="0"/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3751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76CCDC57-30A0-4F6D-91A9-71114D4AC816}" type="slidenum">
              <a:rPr lang="he-IL"/>
              <a:pPr eaLnBrk="1" hangingPunct="1"/>
              <a:t>27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788745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FBF2C1BA-D7F2-4F15-83EF-EFE305C2B075}" type="slidenum">
              <a:rPr lang="he-IL"/>
              <a:pPr eaLnBrk="1" hangingPunct="1"/>
              <a:t>28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85800"/>
            <a:ext cx="4575175" cy="34305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32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1766789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2221B34C-A779-456B-9B8B-DCAC199558A9}" type="slidenum">
              <a:rPr lang="he-IL"/>
              <a:pPr eaLnBrk="1" hangingPunct="1"/>
              <a:t>29</a:t>
            </a:fld>
            <a:endParaRPr 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2275735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3746EAE4-037E-4EBF-83B0-7CCFE4C00EF2}" type="slidenum">
              <a:rPr lang="he-IL"/>
              <a:pPr eaLnBrk="1" hangingPunct="1"/>
              <a:t>30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895120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EA86CD98-5909-44B1-BC85-759640BAB8F8}" type="slidenum">
              <a:rPr lang="he-IL"/>
              <a:pPr eaLnBrk="1" hangingPunct="1"/>
              <a:t>31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883262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7038659A-83FF-4E32-B8C6-B6856E7DA92D}" type="slidenum">
              <a:rPr lang="he-IL"/>
              <a:pPr eaLnBrk="1" hangingPunct="1"/>
              <a:t>32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r>
              <a:rPr lang="he-IL" smtClean="0"/>
              <a:t>למה טובים ארבעת המצבים האלה? יותר בתרגול.</a:t>
            </a:r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2584608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6F6C53B2-ADE5-4474-9A81-DE6DC117B5A7}" type="slidenum">
              <a:rPr lang="he-IL"/>
              <a:pPr eaLnBrk="1" hangingPunct="1"/>
              <a:t>33</a:t>
            </a:fld>
            <a:endParaRPr 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1175110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8C4A1635-5E10-48B2-9B88-2AE1BAC442A8}" type="slidenum">
              <a:rPr lang="he-IL"/>
              <a:pPr eaLnBrk="1" hangingPunct="1"/>
              <a:t>34</a:t>
            </a:fld>
            <a:endParaRPr 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36037808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CC1B2B50-6854-45AC-AA53-D87D01D05E58}" type="slidenum">
              <a:rPr lang="he-IL"/>
              <a:pPr eaLnBrk="1" hangingPunct="1"/>
              <a:t>35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r>
              <a:rPr lang="he-IL" smtClean="0"/>
              <a:t>לא לחשוב יותר מידי על המינוח של פסיקות וכו' (כי אינו אחיד), לפעמים </a:t>
            </a:r>
            <a:r>
              <a:rPr lang="en-US" smtClean="0"/>
              <a:t>traps</a:t>
            </a:r>
            <a:r>
              <a:rPr lang="he-IL" smtClean="0"/>
              <a:t>,</a:t>
            </a:r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2324238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F26CD002-2099-41E6-8171-143D0F55953A}" type="slidenum">
              <a:rPr lang="he-IL"/>
              <a:pPr eaLnBrk="1" hangingPunct="1"/>
              <a:t>36</a:t>
            </a:fld>
            <a:endParaRPr lang="en-US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r>
              <a:rPr lang="he-IL" smtClean="0"/>
              <a:t>השאלה לגבי רכיבי מערכת ההפעלה היא לפעמים שאלה משפטית...</a:t>
            </a:r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156273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5563DF40-2873-4FE9-B967-788E8BAC2D7E}" type="slidenum">
              <a:rPr lang="he-IL"/>
              <a:pPr eaLnBrk="1" hangingPunct="1"/>
              <a:t>37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2224924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43B1DD3E-FF0C-48B9-97E9-B3F1DF47264C}" type="slidenum">
              <a:rPr lang="he-IL"/>
              <a:pPr eaLnBrk="1" hangingPunct="1"/>
              <a:t>38</a:t>
            </a:fld>
            <a:endParaRPr lang="en-US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3761143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DC03CF1B-7A32-4DFF-A0CB-66115EFA3EDB}" type="slidenum">
              <a:rPr lang="he-IL"/>
              <a:pPr eaLnBrk="1" hangingPunct="1"/>
              <a:t>39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2425666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82CD3628-B202-47C7-84B7-44D1B196F161}" type="slidenum">
              <a:rPr lang="he-IL"/>
              <a:pPr eaLnBrk="1" hangingPunct="1"/>
              <a:t>40</a:t>
            </a:fld>
            <a:endParaRPr lang="en-US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r>
              <a:rPr lang="he-IL" dirty="0" smtClean="0"/>
              <a:t>כיום, מקובל להשתמש במודולים דינמיים, שניתן לטעון ולהסיר אותם מהזיכרון לפי דרישה. שיטה זו מאפשרת למנוע מהגרעין "להתנפח" ללא צורך בזיכרון המחשב, ולטעון רכיבי קוד ונתונים לפי דרישה. לדוגמה: אם נחבר למחשב מצלמה דיגיטלית, רק אז יטרח גרעין מערכת ההפעלה לטעון קוד המאפשר את תפעול המצלמה ע"י המחשב (רכיבי קוד לתפעול חומרה נקראים </a:t>
            </a:r>
            <a:r>
              <a:rPr lang="en-US" dirty="0" smtClean="0"/>
              <a:t>drivers</a:t>
            </a:r>
            <a:r>
              <a:rPr lang="he-IL" dirty="0" smtClean="0"/>
              <a:t>). לאחר שננתק את המצלמה, יסיר הגרעין את ה-</a:t>
            </a:r>
            <a:r>
              <a:rPr lang="en-US" dirty="0" smtClean="0"/>
              <a:t>driver</a:t>
            </a:r>
            <a:r>
              <a:rPr lang="he-IL" dirty="0" smtClean="0"/>
              <a:t> מהזיכרון.</a:t>
            </a:r>
          </a:p>
          <a:p>
            <a:r>
              <a:rPr lang="he-IL" dirty="0" smtClean="0"/>
              <a:t>רכיבי קוד דינמיים של בגרעין נקראים ב-</a:t>
            </a:r>
            <a:r>
              <a:rPr lang="en-US" dirty="0" smtClean="0"/>
              <a:t>Linux</a:t>
            </a:r>
            <a:r>
              <a:rPr lang="he-IL" dirty="0" smtClean="0"/>
              <a:t> בשם </a:t>
            </a:r>
            <a:r>
              <a:rPr lang="en-US" dirty="0" smtClean="0"/>
              <a:t>Kernel Modules</a:t>
            </a:r>
            <a:r>
              <a:rPr lang="he-IL" dirty="0" smtClean="0"/>
              <a:t>. ב-</a:t>
            </a:r>
            <a:r>
              <a:rPr lang="en-US" dirty="0" smtClean="0"/>
              <a:t>Windows</a:t>
            </a:r>
            <a:r>
              <a:rPr lang="he-IL" dirty="0" smtClean="0"/>
              <a:t> הם נקראים </a:t>
            </a:r>
            <a:r>
              <a:rPr lang="en-US" dirty="0" smtClean="0"/>
              <a:t>Dynamic Device Drivers</a:t>
            </a:r>
            <a:r>
              <a:rPr lang="he-IL" dirty="0" smtClean="0"/>
              <a:t>.</a:t>
            </a:r>
            <a:endParaRPr lang="en-GB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475987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82CD3628-B202-47C7-84B7-44D1B196F161}" type="slidenum">
              <a:rPr lang="he-IL"/>
              <a:pPr eaLnBrk="1" hangingPunct="1"/>
              <a:t>41</a:t>
            </a:fld>
            <a:endParaRPr lang="en-US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r>
              <a:rPr lang="he-IL" dirty="0" smtClean="0"/>
              <a:t>כיום, מקובל להשתמש במודולים דינמיים, שניתן לטעון ולהסיר אותם מהזיכרון לפי דרישה. שיטה זו מאפשרת למנוע מהגרעין "להתנפח" ללא צורך בזיכרון המחשב, ולטעון רכיבי קוד ונתונים לפי דרישה. לדוגמה: אם נחבר למחשב מצלמה דיגיטלית, רק אז יטרח גרעין מערכת ההפעלה לטעון קוד המאפשר את תפעול המצלמה ע"י המחשב (רכיבי קוד לתפעול חומרה נקראים </a:t>
            </a:r>
            <a:r>
              <a:rPr lang="en-US" dirty="0" smtClean="0"/>
              <a:t>drivers</a:t>
            </a:r>
            <a:r>
              <a:rPr lang="he-IL" dirty="0" smtClean="0"/>
              <a:t>). לאחר שננתק את המצלמה, יסיר הגרעין את ה-</a:t>
            </a:r>
            <a:r>
              <a:rPr lang="en-US" dirty="0" smtClean="0"/>
              <a:t>driver</a:t>
            </a:r>
            <a:r>
              <a:rPr lang="he-IL" dirty="0" smtClean="0"/>
              <a:t> מהזיכרון.</a:t>
            </a:r>
          </a:p>
          <a:p>
            <a:r>
              <a:rPr lang="he-IL" dirty="0" smtClean="0"/>
              <a:t>רכיבי קוד דינמיים של בגרעין נקראים ב-</a:t>
            </a:r>
            <a:r>
              <a:rPr lang="en-US" dirty="0" smtClean="0"/>
              <a:t>Linux</a:t>
            </a:r>
            <a:r>
              <a:rPr lang="he-IL" dirty="0" smtClean="0"/>
              <a:t> בשם </a:t>
            </a:r>
            <a:r>
              <a:rPr lang="en-US" dirty="0" smtClean="0"/>
              <a:t>Kernel Modules</a:t>
            </a:r>
            <a:r>
              <a:rPr lang="he-IL" dirty="0" smtClean="0"/>
              <a:t>. ב-</a:t>
            </a:r>
            <a:r>
              <a:rPr lang="en-US" dirty="0" smtClean="0"/>
              <a:t>Windows</a:t>
            </a:r>
            <a:r>
              <a:rPr lang="he-IL" dirty="0" smtClean="0"/>
              <a:t> הם נקראים </a:t>
            </a:r>
            <a:r>
              <a:rPr lang="en-US" dirty="0" smtClean="0"/>
              <a:t>Dynamic Device Drivers</a:t>
            </a:r>
            <a:r>
              <a:rPr lang="he-IL" dirty="0" smtClean="0"/>
              <a:t>.</a:t>
            </a:r>
            <a:endParaRPr lang="en-GB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53363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7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/>
          <a:lstStyle>
            <a:lvl1pPr marL="0" algn="r">
              <a:defRPr sz="480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8750"/>
            <a:ext cx="3001963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9175" y="6508750"/>
            <a:ext cx="463550" cy="274638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EA64DCA9-DE65-4A37-B978-701DC56ED7F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8750"/>
            <a:ext cx="3906838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7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7274206-C09D-4EB0-BD37-1A3EEF6116AA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7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/>
          <p:nvPr/>
        </p:nvSpPr>
        <p:spPr>
          <a:xfrm>
            <a:off x="1000125" y="3267075"/>
            <a:ext cx="7407275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513"/>
            <a:ext cx="3001963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9175" y="6513513"/>
            <a:ext cx="463550" cy="274637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7B477ED1-A05C-4884-92E2-0C15361E35DB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513"/>
            <a:ext cx="3906838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37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0763" y="6515100"/>
            <a:ext cx="465137" cy="27305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2865DBC-D705-40D2-92B7-1C8DF840364F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2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/>
        </p:nvSpPr>
        <p:spPr>
          <a:xfrm>
            <a:off x="617538" y="2165350"/>
            <a:ext cx="3748087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8"/>
          <p:cNvSpPr/>
          <p:nvPr/>
        </p:nvSpPr>
        <p:spPr>
          <a:xfrm>
            <a:off x="4800600" y="2165350"/>
            <a:ext cx="3749675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0763" y="6515100"/>
            <a:ext cx="465137" cy="27305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5E0EB7E-8ECE-4288-AA0A-0F7C03A33D4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90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4C23D87-C5D8-48DB-9EFF-0C81FE54651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0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1D1AD-9301-49E0-A5B5-236D7CC10AB0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4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5057775" y="1057275"/>
            <a:ext cx="3748088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/>
          <a:lstStyle>
            <a:lvl1pPr marL="0" algn="r">
              <a:buNone/>
              <a:defRPr sz="20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513"/>
            <a:ext cx="3001963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9175" y="6513513"/>
            <a:ext cx="463550" cy="274637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AF4F4341-2968-447B-9FDC-FDFB3F2AB8B7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513"/>
            <a:ext cx="3906838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22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/>
          <a:lstStyle>
            <a:lvl1pPr marL="0" algn="r">
              <a:buNone/>
              <a:defRPr sz="20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8750"/>
            <a:ext cx="3001963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9175" y="6508750"/>
            <a:ext cx="463550" cy="274638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80B48145-740D-48C5-812B-A25741F7BD5A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8750"/>
            <a:ext cx="3906838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73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001F6-207A-4192-BED6-E4247D591D4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50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EA562-0579-452F-BE25-3357EAFBA6D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92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כותרת, תוכן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314575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Dr Shayke Bilu</a:t>
            </a:r>
            <a:endParaRPr lang="en-GB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Chapter 1 - Introduction</a:t>
            </a:r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6625A-66FE-4B36-8BAE-15BC56F75543}" type="slidenum">
              <a:rPr lang="he-IL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03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1638" cy="274638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  <a:cs typeface="Arial" pitchFamily="34" charset="0"/>
              </a:defRPr>
            </a:lvl1pPr>
            <a:extLst/>
          </a:lstStyle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1963" cy="274638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  <a:cs typeface="Arial" pitchFamily="34" charset="0"/>
              </a:defRPr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9175" y="6515100"/>
            <a:ext cx="463550" cy="27305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  <a:cs typeface="Arial" pitchFamily="34" charset="0"/>
              </a:defRPr>
            </a:lvl1pPr>
            <a:extLst/>
          </a:lstStyle>
          <a:p>
            <a:pPr>
              <a:defRPr/>
            </a:pPr>
            <a:fld id="{09EA48ED-C418-4C96-8B09-E50F5C84D74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4000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3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462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325" r:id="rId1"/>
    <p:sldLayoutId id="2147484326" r:id="rId2"/>
    <p:sldLayoutId id="2147484327" r:id="rId3"/>
    <p:sldLayoutId id="2147484328" r:id="rId4"/>
    <p:sldLayoutId id="2147484329" r:id="rId5"/>
    <p:sldLayoutId id="2147484330" r:id="rId6"/>
    <p:sldLayoutId id="2147484322" r:id="rId7"/>
    <p:sldLayoutId id="2147484331" r:id="rId8"/>
    <p:sldLayoutId id="2147484332" r:id="rId9"/>
    <p:sldLayoutId id="2147484323" r:id="rId10"/>
    <p:sldLayoutId id="2147484324" r:id="rId11"/>
    <p:sldLayoutId id="2147484333" r:id="rId12"/>
  </p:sldLayoutIdLst>
  <p:hf hdr="0"/>
  <p:txStyles>
    <p:titleStyle>
      <a:lvl1pPr marL="53975" indent="-53975" algn="r" rtl="1" eaLnBrk="0" fontAlgn="base" hangingPunct="0">
        <a:spcBef>
          <a:spcPct val="0"/>
        </a:spcBef>
        <a:spcAft>
          <a:spcPct val="0"/>
        </a:spcAft>
        <a:defRPr sz="4600" kern="1200">
          <a:solidFill>
            <a:srgbClr val="E7EACB"/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lvl2pPr marL="53975" indent="-53975" algn="r" rtl="1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2pPr>
      <a:lvl3pPr marL="53975" indent="-53975" algn="r" rtl="1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3pPr>
      <a:lvl4pPr marL="53975" indent="-53975" algn="r" rtl="1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4pPr>
      <a:lvl5pPr marL="53975" indent="-53975" algn="r" rtl="1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5pPr>
      <a:lvl6pPr marL="511175" indent="-53975" algn="r" rtl="1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6pPr>
      <a:lvl7pPr marL="968375" indent="-53975" algn="r" rtl="1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7pPr>
      <a:lvl8pPr marL="1425575" indent="-53975" algn="r" rtl="1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8pPr>
      <a:lvl9pPr marL="1882775" indent="-53975" algn="r" rtl="1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9pPr>
      <a:extLst/>
    </p:titleStyle>
    <p:bodyStyle>
      <a:lvl1pPr marL="292100" indent="-292100" algn="r" rtl="1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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28600" algn="r" rtl="1" eaLnBrk="0" fontAlgn="base" hangingPunct="0">
        <a:spcBef>
          <a:spcPts val="400"/>
        </a:spcBef>
        <a:spcAft>
          <a:spcPct val="0"/>
        </a:spcAft>
        <a:buClr>
          <a:schemeClr val="accent2"/>
        </a:buClr>
        <a:buSzPct val="9000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190500" algn="r" rtl="1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r" rtl="1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82563" algn="r" rtl="1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435280" cy="1135888"/>
          </a:xfrm>
        </p:spPr>
        <p:txBody>
          <a:bodyPr lIns="90488" tIns="44450" rIns="90488" bIns="44450" anchor="ctr"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en-US" sz="4800" b="1" i="1" dirty="0" smtClean="0">
                <a:solidFill>
                  <a:srgbClr val="FFFF00"/>
                </a:solidFill>
              </a:rPr>
              <a:t>מהי חשיבותה של מערכת ההפעלה?</a:t>
            </a:r>
            <a:endParaRPr lang="en-US" altLang="en-AU" sz="4800" b="1" i="1" dirty="0" smtClean="0">
              <a:solidFill>
                <a:srgbClr val="FFFF00"/>
              </a:solidFill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676400"/>
            <a:ext cx="8115300" cy="4648200"/>
          </a:xfrm>
        </p:spPr>
        <p:txBody>
          <a:bodyPr lIns="90488" tIns="44450" rIns="90488" bIns="44450"/>
          <a:lstStyle/>
          <a:p>
            <a:pPr algn="just" eaLnBrk="1" hangingPunct="1"/>
            <a:r>
              <a:rPr lang="he-IL" altLang="en-AU" b="1" dirty="0" smtClean="0"/>
              <a:t>בסיס איתן כל </a:t>
            </a:r>
            <a:r>
              <a:rPr lang="he-IL" altLang="en-AU" b="1" dirty="0" smtClean="0"/>
              <a:t>עבודות המחשוב.</a:t>
            </a:r>
            <a:endParaRPr lang="en-US" altLang="en-AU" b="1" dirty="0" smtClean="0"/>
          </a:p>
          <a:p>
            <a:pPr algn="just" eaLnBrk="1" hangingPunct="1"/>
            <a:r>
              <a:rPr lang="he-IL" altLang="en-AU" b="1" dirty="0" smtClean="0"/>
              <a:t>מידע וידע על התוכן הפנימי, מורכבות התכנון ועקרונות ההפעלה של מערכות הפעלה הוא חיוני על מנת להשיג יעילות בנושאים הבאים:</a:t>
            </a:r>
            <a:endParaRPr lang="en-US" altLang="en-AU" b="1" dirty="0" smtClean="0"/>
          </a:p>
          <a:p>
            <a:pPr lvl="1" algn="just" eaLnBrk="1" hangingPunct="1">
              <a:buFont typeface="Wingdings" pitchFamily="2" charset="2"/>
              <a:buNone/>
            </a:pPr>
            <a:r>
              <a:rPr lang="he-IL" altLang="he-IL" sz="2800" b="1" dirty="0" smtClean="0">
                <a:solidFill>
                  <a:srgbClr val="FFFF00"/>
                </a:solidFill>
              </a:rPr>
              <a:t>1. </a:t>
            </a:r>
            <a:r>
              <a:rPr lang="he-IL" altLang="en-AU" sz="2800" b="1" dirty="0" smtClean="0">
                <a:solidFill>
                  <a:srgbClr val="FFFF00"/>
                </a:solidFill>
              </a:rPr>
              <a:t>בניית יישומים אפליקטיביים ונוחים למשתמש.</a:t>
            </a:r>
            <a:endParaRPr lang="en-US" altLang="en-AU" sz="2800" b="1" dirty="0" smtClean="0">
              <a:solidFill>
                <a:srgbClr val="FFFF00"/>
              </a:solidFill>
            </a:endParaRPr>
          </a:p>
          <a:p>
            <a:pPr lvl="1" algn="just" eaLnBrk="1" hangingPunct="1">
              <a:buFont typeface="Wingdings" pitchFamily="2" charset="2"/>
              <a:buNone/>
            </a:pPr>
            <a:r>
              <a:rPr lang="he-IL" altLang="en-AU" sz="2800" b="1" dirty="0" smtClean="0">
                <a:solidFill>
                  <a:srgbClr val="FFFF00"/>
                </a:solidFill>
              </a:rPr>
              <a:t>2. החלטה על איזה מחשב ניתן להריץ איזו תוכנה.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he-IL" altLang="he-IL" sz="2800" b="1" dirty="0" smtClean="0">
                <a:solidFill>
                  <a:srgbClr val="FFFF00"/>
                </a:solidFill>
              </a:rPr>
              <a:t>3. ניתוח, תכנון, תכנות וניהול מערכות מידע באופן יעיל.</a:t>
            </a:r>
            <a:endParaRPr lang="en-US" altLang="he-IL" sz="2800" b="1" dirty="0" smtClean="0">
              <a:solidFill>
                <a:srgbClr val="FFFF00"/>
              </a:solidFill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800" b="1" dirty="0">
                <a:solidFill>
                  <a:srgbClr val="FFFF00"/>
                </a:solidFill>
              </a:rPr>
              <a:t>תפקיד מערכת ההפעלה</a:t>
            </a:r>
            <a:endParaRPr lang="en-US" sz="4800" b="1" dirty="0">
              <a:solidFill>
                <a:srgbClr val="FFFF00"/>
              </a:solidFill>
            </a:endParaRPr>
          </a:p>
        </p:txBody>
      </p:sp>
      <p:sp>
        <p:nvSpPr>
          <p:cNvPr id="67590" name="Rectangle 5"/>
          <p:cNvSpPr>
            <a:spLocks noChangeArrowheads="1"/>
          </p:cNvSpPr>
          <p:nvPr/>
        </p:nvSpPr>
        <p:spPr bwMode="auto">
          <a:xfrm>
            <a:off x="4283968" y="2924944"/>
            <a:ext cx="4536504" cy="698500"/>
          </a:xfrm>
          <a:prstGeom prst="rect">
            <a:avLst/>
          </a:prstGeom>
          <a:solidFill>
            <a:schemeClr val="accent1">
              <a:alpha val="38039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he-IL"/>
          </a:p>
        </p:txBody>
      </p:sp>
      <p:sp>
        <p:nvSpPr>
          <p:cNvPr id="67591" name="Text Box 6"/>
          <p:cNvSpPr txBox="1">
            <a:spLocks noChangeArrowheads="1"/>
          </p:cNvSpPr>
          <p:nvPr/>
        </p:nvSpPr>
        <p:spPr bwMode="auto">
          <a:xfrm>
            <a:off x="5220072" y="2924944"/>
            <a:ext cx="26420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sz="3200" b="1" dirty="0"/>
              <a:t>מערכת הפעלה</a:t>
            </a:r>
            <a:endParaRPr lang="en-US" sz="3200" b="1" dirty="0"/>
          </a:p>
        </p:txBody>
      </p:sp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4283968" y="2199958"/>
            <a:ext cx="1008112" cy="584775"/>
          </a:xfrm>
          <a:prstGeom prst="rect">
            <a:avLst/>
          </a:prstGeom>
          <a:solidFill>
            <a:srgbClr val="FFFF99">
              <a:alpha val="34117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he-IL" sz="1600" b="1" dirty="0">
                <a:solidFill>
                  <a:srgbClr val="FFFF00"/>
                </a:solidFill>
              </a:rPr>
              <a:t>אפליקציה 1</a:t>
            </a:r>
            <a:endParaRPr lang="en-US" sz="1600" b="1" dirty="0">
              <a:solidFill>
                <a:srgbClr val="FFFF00"/>
              </a:solidFill>
            </a:endParaRPr>
          </a:p>
        </p:txBody>
      </p:sp>
      <p:sp>
        <p:nvSpPr>
          <p:cNvPr id="67593" name="Rectangle 10"/>
          <p:cNvSpPr>
            <a:spLocks noChangeArrowheads="1"/>
          </p:cNvSpPr>
          <p:nvPr/>
        </p:nvSpPr>
        <p:spPr bwMode="auto">
          <a:xfrm>
            <a:off x="4283968" y="3789040"/>
            <a:ext cx="4536504" cy="2376264"/>
          </a:xfrm>
          <a:prstGeom prst="rect">
            <a:avLst/>
          </a:prstGeom>
          <a:solidFill>
            <a:srgbClr val="FFFF00">
              <a:alpha val="6313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he-IL">
              <a:solidFill>
                <a:srgbClr val="FFFF00"/>
              </a:solidFill>
            </a:endParaRPr>
          </a:p>
        </p:txBody>
      </p:sp>
      <p:sp>
        <p:nvSpPr>
          <p:cNvPr id="67594" name="Text Box 11"/>
          <p:cNvSpPr txBox="1">
            <a:spLocks noChangeArrowheads="1"/>
          </p:cNvSpPr>
          <p:nvPr/>
        </p:nvSpPr>
        <p:spPr bwMode="auto">
          <a:xfrm>
            <a:off x="4499992" y="5227274"/>
            <a:ext cx="12314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3600" b="1" dirty="0">
                <a:solidFill>
                  <a:schemeClr val="bg1"/>
                </a:solidFill>
              </a:rPr>
              <a:t>CPU</a:t>
            </a:r>
          </a:p>
        </p:txBody>
      </p:sp>
      <p:sp>
        <p:nvSpPr>
          <p:cNvPr id="67595" name="Text Box 12"/>
          <p:cNvSpPr txBox="1">
            <a:spLocks noChangeArrowheads="1"/>
          </p:cNvSpPr>
          <p:nvPr/>
        </p:nvSpPr>
        <p:spPr bwMode="auto">
          <a:xfrm>
            <a:off x="6228184" y="5158933"/>
            <a:ext cx="25147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600" b="1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67596" name="Text Box 13"/>
          <p:cNvSpPr txBox="1">
            <a:spLocks noChangeArrowheads="1"/>
          </p:cNvSpPr>
          <p:nvPr/>
        </p:nvSpPr>
        <p:spPr bwMode="auto">
          <a:xfrm>
            <a:off x="4427984" y="4184650"/>
            <a:ext cx="117690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400" b="1" dirty="0">
                <a:solidFill>
                  <a:schemeClr val="bg1"/>
                </a:solidFill>
              </a:rPr>
              <a:t>Disk controller</a:t>
            </a:r>
          </a:p>
        </p:txBody>
      </p:sp>
      <p:sp>
        <p:nvSpPr>
          <p:cNvPr id="67597" name="Text Box 14"/>
          <p:cNvSpPr txBox="1">
            <a:spLocks noChangeArrowheads="1"/>
          </p:cNvSpPr>
          <p:nvPr/>
        </p:nvSpPr>
        <p:spPr bwMode="auto">
          <a:xfrm>
            <a:off x="7812360" y="4178300"/>
            <a:ext cx="854721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400" b="1" dirty="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67598" name="Text Box 15"/>
          <p:cNvSpPr txBox="1">
            <a:spLocks noChangeArrowheads="1"/>
          </p:cNvSpPr>
          <p:nvPr/>
        </p:nvSpPr>
        <p:spPr bwMode="auto">
          <a:xfrm>
            <a:off x="6006107" y="4175125"/>
            <a:ext cx="1446213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400" b="1" dirty="0">
                <a:solidFill>
                  <a:schemeClr val="bg1"/>
                </a:solidFill>
              </a:rPr>
              <a:t>Printer controller</a:t>
            </a:r>
          </a:p>
        </p:txBody>
      </p:sp>
      <p:sp>
        <p:nvSpPr>
          <p:cNvPr id="67599" name="Rectangle 17"/>
          <p:cNvSpPr>
            <a:spLocks noChangeArrowheads="1"/>
          </p:cNvSpPr>
          <p:nvPr/>
        </p:nvSpPr>
        <p:spPr bwMode="auto">
          <a:xfrm>
            <a:off x="5436097" y="2201060"/>
            <a:ext cx="1116123" cy="584775"/>
          </a:xfrm>
          <a:prstGeom prst="rect">
            <a:avLst/>
          </a:prstGeom>
          <a:solidFill>
            <a:srgbClr val="FFFF99">
              <a:alpha val="34117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he-IL" sz="1600" b="1" dirty="0">
                <a:solidFill>
                  <a:srgbClr val="FFFF00"/>
                </a:solidFill>
              </a:rPr>
              <a:t>אפליקציה 2</a:t>
            </a:r>
            <a:endParaRPr lang="en-US" sz="1600" b="1" dirty="0">
              <a:solidFill>
                <a:srgbClr val="FFFF00"/>
              </a:solidFill>
            </a:endParaRPr>
          </a:p>
        </p:txBody>
      </p:sp>
      <p:sp>
        <p:nvSpPr>
          <p:cNvPr id="67600" name="Rectangle 18"/>
          <p:cNvSpPr>
            <a:spLocks noChangeArrowheads="1"/>
          </p:cNvSpPr>
          <p:nvPr/>
        </p:nvSpPr>
        <p:spPr bwMode="auto">
          <a:xfrm>
            <a:off x="6656199" y="2199880"/>
            <a:ext cx="1012145" cy="584775"/>
          </a:xfrm>
          <a:prstGeom prst="rect">
            <a:avLst/>
          </a:prstGeom>
          <a:solidFill>
            <a:srgbClr val="FFFF99">
              <a:alpha val="34117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he-IL" sz="1600" b="1" dirty="0">
                <a:solidFill>
                  <a:srgbClr val="FFFF00"/>
                </a:solidFill>
              </a:rPr>
              <a:t>אפליקציה 3</a:t>
            </a:r>
            <a:endParaRPr lang="en-US" sz="1600" b="1" dirty="0">
              <a:solidFill>
                <a:srgbClr val="FFFF00"/>
              </a:solidFill>
            </a:endParaRPr>
          </a:p>
        </p:txBody>
      </p:sp>
      <p:sp>
        <p:nvSpPr>
          <p:cNvPr id="67601" name="Rectangle 19"/>
          <p:cNvSpPr>
            <a:spLocks noChangeArrowheads="1"/>
          </p:cNvSpPr>
          <p:nvPr/>
        </p:nvSpPr>
        <p:spPr bwMode="auto">
          <a:xfrm>
            <a:off x="7740352" y="2199879"/>
            <a:ext cx="1146050" cy="584775"/>
          </a:xfrm>
          <a:prstGeom prst="rect">
            <a:avLst/>
          </a:prstGeom>
          <a:solidFill>
            <a:srgbClr val="FFFF99">
              <a:alpha val="34117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he-IL" sz="1600" b="1" dirty="0">
                <a:solidFill>
                  <a:srgbClr val="FFFF00"/>
                </a:solidFill>
              </a:rPr>
              <a:t>אפליקציה 4</a:t>
            </a:r>
            <a:endParaRPr lang="en-US" sz="1600" b="1" dirty="0">
              <a:solidFill>
                <a:srgbClr val="FFFF00"/>
              </a:solidFill>
            </a:endParaRPr>
          </a:p>
        </p:txBody>
      </p:sp>
      <p:sp>
        <p:nvSpPr>
          <p:cNvPr id="900117" name="Rectangle 21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1709155"/>
            <a:ext cx="4104456" cy="4735090"/>
          </a:xfrm>
        </p:spPr>
        <p:txBody>
          <a:bodyPr/>
          <a:lstStyle/>
          <a:p>
            <a:r>
              <a:rPr lang="he-IL" b="1" dirty="0" smtClean="0"/>
              <a:t>מאפשרת להריץ אפליקציות</a:t>
            </a:r>
          </a:p>
          <a:p>
            <a:r>
              <a:rPr lang="he-IL" b="1" dirty="0" smtClean="0"/>
              <a:t>מבטיחה נכונות.</a:t>
            </a:r>
          </a:p>
          <a:p>
            <a:pPr lvl="1"/>
            <a:r>
              <a:rPr lang="he-IL" b="1" dirty="0" smtClean="0"/>
              <a:t>גבולות זיכרון</a:t>
            </a:r>
          </a:p>
          <a:p>
            <a:pPr lvl="1"/>
            <a:r>
              <a:rPr lang="he-IL" b="1" dirty="0" smtClean="0"/>
              <a:t>עדיפויות</a:t>
            </a:r>
          </a:p>
          <a:p>
            <a:pPr lvl="1"/>
            <a:r>
              <a:rPr lang="he-IL" b="1" dirty="0" smtClean="0"/>
              <a:t>מצב יציב</a:t>
            </a:r>
          </a:p>
          <a:p>
            <a:r>
              <a:rPr lang="he-IL" b="1" dirty="0" smtClean="0"/>
              <a:t>מספקת נוחיות.</a:t>
            </a:r>
          </a:p>
          <a:p>
            <a:pPr lvl="1"/>
            <a:r>
              <a:rPr lang="he-IL" b="1" dirty="0" smtClean="0"/>
              <a:t>הסתרת פרטים</a:t>
            </a:r>
          </a:p>
          <a:p>
            <a:pPr lvl="1"/>
            <a:r>
              <a:rPr lang="he-IL" b="1" dirty="0" smtClean="0"/>
              <a:t>תיאום</a:t>
            </a:r>
          </a:p>
          <a:p>
            <a:pPr lvl="1"/>
            <a:r>
              <a:rPr lang="he-IL" b="1" dirty="0" smtClean="0"/>
              <a:t>קריאות מערכת-הפעלה</a:t>
            </a:r>
          </a:p>
          <a:p>
            <a:pPr lvl="1"/>
            <a:r>
              <a:rPr lang="he-IL" b="1" dirty="0" smtClean="0"/>
              <a:t>מערכת קבצים</a:t>
            </a:r>
            <a:endParaRPr lang="en-US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65DBC-D705-40D2-92B7-1C8DF840364F}" type="slidenum">
              <a:rPr lang="he-IL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66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0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0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00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00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00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00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0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0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00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00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00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0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0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0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00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00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00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00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00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00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4664"/>
            <a:ext cx="8229600" cy="991872"/>
          </a:xfrm>
        </p:spPr>
        <p:txBody>
          <a:bodyPr lIns="90488" tIns="44450" rIns="90488" bIns="44450" anchor="ctr"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en-AU" sz="4800" b="1" dirty="0" smtClean="0">
                <a:solidFill>
                  <a:srgbClr val="FFFF00"/>
                </a:solidFill>
                <a:effectLst/>
              </a:rPr>
              <a:t>מהי מערכת הפעלה?</a:t>
            </a:r>
            <a:endParaRPr lang="en-US" altLang="he-IL" sz="4800" b="1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1898650"/>
            <a:ext cx="8320409" cy="4049713"/>
          </a:xfrm>
        </p:spPr>
        <p:txBody>
          <a:bodyPr lIns="90488" tIns="44450" rIns="90488" bIns="44450"/>
          <a:lstStyle/>
          <a:p>
            <a:pPr algn="just" eaLnBrk="1" hangingPunct="1"/>
            <a:r>
              <a:rPr lang="he-IL" altLang="en-US" b="1" dirty="0" smtClean="0"/>
              <a:t>חבילת תוכנה גדולה (יחסית) ומורכבת ממספר תוכנות שונות המשולבות יחד.</a:t>
            </a:r>
            <a:endParaRPr lang="en-US" altLang="en-US" b="1" dirty="0" smtClean="0"/>
          </a:p>
          <a:p>
            <a:pPr algn="just" eaLnBrk="1" hangingPunct="1"/>
            <a:r>
              <a:rPr lang="he-IL" altLang="en-US" b="1" dirty="0" smtClean="0"/>
              <a:t>תוכנה בעלת שני עקרונות בסיסיים:</a:t>
            </a:r>
            <a:endParaRPr lang="en-US" altLang="en-US" b="1" dirty="0" smtClean="0"/>
          </a:p>
          <a:p>
            <a:pPr lvl="1" algn="just" eaLnBrk="1" hangingPunct="1">
              <a:buFont typeface="Wingdings" pitchFamily="2" charset="2"/>
              <a:buNone/>
            </a:pPr>
            <a:r>
              <a:rPr lang="he-IL" altLang="en-US" sz="2800" b="1" dirty="0" smtClean="0">
                <a:solidFill>
                  <a:srgbClr val="FFFF00"/>
                </a:solidFill>
              </a:rPr>
              <a:t>1. משמשת כמישק בין המשתמש והחומרה, ע”י הדמיה  של מכונה וירטואלית למשתמש.</a:t>
            </a:r>
            <a:endParaRPr lang="en-US" altLang="en-US" sz="2800" b="1" dirty="0" smtClean="0">
              <a:solidFill>
                <a:srgbClr val="FFFF00"/>
              </a:solidFill>
            </a:endParaRPr>
          </a:p>
          <a:p>
            <a:pPr lvl="1" algn="just" eaLnBrk="1" hangingPunct="1">
              <a:buFont typeface="Wingdings" pitchFamily="2" charset="2"/>
              <a:buNone/>
            </a:pPr>
            <a:r>
              <a:rPr lang="he-IL" altLang="en-US" sz="2800" b="1" dirty="0" smtClean="0">
                <a:solidFill>
                  <a:srgbClr val="FFFF00"/>
                </a:solidFill>
              </a:rPr>
              <a:t>2. מאפשרת ניהול יעיל של כלל משאבי המחשב שברשות המשתמש, פנימיים וחיצונים גם יחד.</a:t>
            </a:r>
            <a:endParaRPr lang="en-US" altLang="en-AU" sz="2800" b="1" dirty="0" smtClean="0">
              <a:solidFill>
                <a:srgbClr val="FFFF00"/>
              </a:solidFill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800" b="1" dirty="0">
                <a:solidFill>
                  <a:srgbClr val="FFFF00"/>
                </a:solidFill>
              </a:rPr>
              <a:t>מהי מערכת הפעלה?</a:t>
            </a:r>
            <a:endParaRPr lang="en-US" sz="4800" b="1" dirty="0">
              <a:solidFill>
                <a:srgbClr val="FFFF00"/>
              </a:solidFill>
            </a:endParaRPr>
          </a:p>
        </p:txBody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sz="3600" b="1" dirty="0" smtClean="0"/>
              <a:t>שכבת תוכנה לניהול והסתרת פרטים של חומרת המחשב.</a:t>
            </a:r>
          </a:p>
          <a:p>
            <a:r>
              <a:rPr lang="he-IL" sz="3600" b="1" dirty="0" smtClean="0"/>
              <a:t>מספקת לאפליקציה אבסטרקציה של מכונה וירטואלית ייעודית וחזקה (זיכרון עצום, מעבד ייעודי חזק מאוד...)</a:t>
            </a:r>
          </a:p>
          <a:p>
            <a:pPr lvl="2" algn="l" rtl="0"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FFFF00"/>
                </a:solidFill>
              </a:rPr>
              <a:t>"Computer Science is the art of abstraction"</a:t>
            </a:r>
            <a:endParaRPr lang="he-IL" sz="2400" b="1" dirty="0" smtClean="0">
              <a:solidFill>
                <a:srgbClr val="FFFF00"/>
              </a:solidFill>
            </a:endParaRPr>
          </a:p>
          <a:p>
            <a:r>
              <a:rPr lang="he-IL" sz="3600" b="1" dirty="0" smtClean="0"/>
              <a:t>מנהלת את משאבי המערכת ומשתפת אותם בין תהליכים, תוכניות, ומשתמשים.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6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1063880"/>
          </a:xfrm>
        </p:spPr>
        <p:txBody>
          <a:bodyPr lIns="90488" tIns="44450" rIns="90488" bIns="44450" anchor="ctr"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en-AU" sz="4800" b="1" dirty="0" smtClean="0">
                <a:solidFill>
                  <a:srgbClr val="FFFF00"/>
                </a:solidFill>
                <a:effectLst/>
              </a:rPr>
              <a:t>החיים ללא מערכת הפעלה</a:t>
            </a:r>
            <a:endParaRPr lang="en-US" altLang="he-IL" sz="4800" b="1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1824038"/>
            <a:ext cx="8067675" cy="3908425"/>
          </a:xfrm>
        </p:spPr>
        <p:txBody>
          <a:bodyPr lIns="90488" tIns="44450" rIns="90488" bIns="44450"/>
          <a:lstStyle/>
          <a:p>
            <a:pPr algn="just" eaLnBrk="1" hangingPunct="1"/>
            <a:r>
              <a:rPr lang="he-IL" altLang="en-AU" b="1" smtClean="0"/>
              <a:t> </a:t>
            </a:r>
            <a:r>
              <a:rPr lang="he-IL" altLang="en-AU" b="1" smtClean="0">
                <a:solidFill>
                  <a:srgbClr val="FFFF00"/>
                </a:solidFill>
              </a:rPr>
              <a:t>כל מתכנת היה חייב:</a:t>
            </a:r>
            <a:endParaRPr lang="en-US" altLang="en-AU" b="1" smtClean="0">
              <a:solidFill>
                <a:srgbClr val="FFFF00"/>
              </a:solidFill>
            </a:endParaRPr>
          </a:p>
          <a:p>
            <a:pPr lvl="1" algn="just" eaLnBrk="1" hangingPunct="1">
              <a:buFont typeface="Wingdings" pitchFamily="2" charset="2"/>
              <a:buNone/>
            </a:pPr>
            <a:r>
              <a:rPr lang="he-IL" altLang="en-AU" sz="3200" b="1" smtClean="0"/>
              <a:t>1. להכיר את החומרה אותה הפעיל לעומק.</a:t>
            </a:r>
            <a:endParaRPr lang="en-US" altLang="en-AU" sz="3200" b="1" smtClean="0"/>
          </a:p>
          <a:p>
            <a:pPr lvl="1" algn="just" eaLnBrk="1" hangingPunct="1">
              <a:buFont typeface="Wingdings" pitchFamily="2" charset="2"/>
              <a:buNone/>
            </a:pPr>
            <a:r>
              <a:rPr lang="he-IL" altLang="en-AU" sz="3200" b="1" smtClean="0"/>
              <a:t>2. להיות מסוגל להגיע לחומרה ולנהל אותה פיזית.  </a:t>
            </a:r>
            <a:endParaRPr lang="en-US" altLang="en-AU" sz="3200" b="1" smtClean="0"/>
          </a:p>
          <a:p>
            <a:pPr algn="just" eaLnBrk="1" hangingPunct="1"/>
            <a:endParaRPr lang="en-US" altLang="en-AU" b="1" smtClean="0"/>
          </a:p>
          <a:p>
            <a:pPr algn="just" eaLnBrk="1" hangingPunct="1"/>
            <a:r>
              <a:rPr lang="he-IL" altLang="en-AU" b="1" smtClean="0"/>
              <a:t> </a:t>
            </a:r>
            <a:r>
              <a:rPr lang="he-IL" altLang="en-AU" b="1" smtClean="0">
                <a:solidFill>
                  <a:srgbClr val="FFFF00"/>
                </a:solidFill>
              </a:rPr>
              <a:t>כל תוכנית הייתה: </a:t>
            </a:r>
            <a:endParaRPr lang="en-US" altLang="en-AU" b="1" smtClean="0">
              <a:solidFill>
                <a:srgbClr val="FFFF00"/>
              </a:solidFill>
            </a:endParaRPr>
          </a:p>
          <a:p>
            <a:pPr lvl="1" algn="just" eaLnBrk="1" hangingPunct="1">
              <a:buFont typeface="Wingdings" pitchFamily="2" charset="2"/>
              <a:buNone/>
            </a:pPr>
            <a:r>
              <a:rPr lang="he-IL" altLang="he-IL" sz="3200" b="1" smtClean="0"/>
              <a:t>1. </a:t>
            </a:r>
            <a:r>
              <a:rPr lang="he-IL" altLang="en-AU" sz="3200" b="1" smtClean="0"/>
              <a:t>צריכה להכיל קוד עבור ביצוע כל תהליך.</a:t>
            </a:r>
            <a:endParaRPr lang="en-US" altLang="en-AU" sz="3200" b="1" smtClean="0"/>
          </a:p>
          <a:p>
            <a:pPr lvl="1" algn="just" eaLnBrk="1" hangingPunct="1">
              <a:buFont typeface="Wingdings" pitchFamily="2" charset="2"/>
              <a:buNone/>
            </a:pPr>
            <a:r>
              <a:rPr lang="he-IL" altLang="he-IL" sz="3200" b="1" smtClean="0"/>
              <a:t>2. </a:t>
            </a:r>
            <a:r>
              <a:rPr lang="he-IL" altLang="en-AU" sz="3200" b="1" smtClean="0"/>
              <a:t>מבצעת טעות אחת או יותר בעת הריצה.</a:t>
            </a:r>
            <a:endParaRPr lang="en-US" altLang="he-IL" sz="3200" b="1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800" b="1" dirty="0">
                <a:solidFill>
                  <a:srgbClr val="FFFF00"/>
                </a:solidFill>
              </a:rPr>
              <a:t>שיתוף משאבים</a:t>
            </a:r>
            <a:endParaRPr lang="en-US" sz="4800" b="1" dirty="0">
              <a:solidFill>
                <a:srgbClr val="FFFF00"/>
              </a:solidFill>
            </a:endParaRPr>
          </a:p>
        </p:txBody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6238"/>
            <a:ext cx="8229600" cy="4663082"/>
          </a:xfrm>
        </p:spPr>
        <p:txBody>
          <a:bodyPr/>
          <a:lstStyle/>
          <a:p>
            <a:r>
              <a:rPr lang="he-IL" sz="3600" b="1" dirty="0" smtClean="0"/>
              <a:t>אפליקציה רוצה את כל המשאבים:</a:t>
            </a:r>
          </a:p>
          <a:p>
            <a:pPr lvl="1"/>
            <a:r>
              <a:rPr lang="he-IL" sz="3600" b="1" dirty="0" smtClean="0">
                <a:solidFill>
                  <a:srgbClr val="FFFF00"/>
                </a:solidFill>
              </a:rPr>
              <a:t>זמן מעבד</a:t>
            </a:r>
          </a:p>
          <a:p>
            <a:pPr lvl="1"/>
            <a:r>
              <a:rPr lang="he-IL" sz="3600" b="1" dirty="0" smtClean="0">
                <a:solidFill>
                  <a:srgbClr val="FFFF00"/>
                </a:solidFill>
              </a:rPr>
              <a:t>זיכרון</a:t>
            </a:r>
          </a:p>
          <a:p>
            <a:pPr lvl="1"/>
            <a:r>
              <a:rPr lang="he-IL" sz="3600" b="1" dirty="0" smtClean="0">
                <a:solidFill>
                  <a:srgbClr val="FFFF00"/>
                </a:solidFill>
              </a:rPr>
              <a:t>קבצים</a:t>
            </a:r>
          </a:p>
          <a:p>
            <a:pPr lvl="1"/>
            <a:r>
              <a:rPr lang="he-IL" sz="3600" b="1" dirty="0" smtClean="0">
                <a:solidFill>
                  <a:srgbClr val="FFFF00"/>
                </a:solidFill>
              </a:rPr>
              <a:t>אמצעי קלט / פלט</a:t>
            </a:r>
          </a:p>
          <a:p>
            <a:pPr lvl="1"/>
            <a:r>
              <a:rPr lang="he-IL" sz="3600" b="1" dirty="0" smtClean="0">
                <a:solidFill>
                  <a:srgbClr val="FFFF00"/>
                </a:solidFill>
              </a:rPr>
              <a:t>שעון</a:t>
            </a:r>
          </a:p>
          <a:p>
            <a:r>
              <a:rPr lang="he-IL" sz="3600" b="1" dirty="0" smtClean="0"/>
              <a:t>מערכת ההפעלה נותנת לכל אפליקציה </a:t>
            </a:r>
            <a:r>
              <a:rPr lang="he-IL" sz="3600" b="1" dirty="0" smtClean="0">
                <a:solidFill>
                  <a:srgbClr val="FFFF00"/>
                </a:solidFill>
              </a:rPr>
              <a:t>אשליה</a:t>
            </a:r>
            <a:r>
              <a:rPr lang="he-IL" sz="3600" b="1" dirty="0" smtClean="0"/>
              <a:t> של מערכת שלמה משל עצמו.</a:t>
            </a:r>
            <a:endParaRPr lang="en-US" sz="3600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1152128"/>
          </a:xfrm>
        </p:spPr>
        <p:txBody>
          <a:bodyPr lIns="90488" tIns="44450" rIns="90488" bIns="44450" anchor="ctr"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en-AU" sz="4800" b="1" dirty="0" smtClean="0">
                <a:solidFill>
                  <a:srgbClr val="FFFF00"/>
                </a:solidFill>
                <a:effectLst/>
              </a:rPr>
              <a:t>המבנה הגראפי של מערכת ההפעלה</a:t>
            </a:r>
            <a:endParaRPr lang="en-US" altLang="he-IL" sz="4800" b="1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20484" name="Oval 3"/>
          <p:cNvSpPr>
            <a:spLocks noChangeArrowheads="1"/>
          </p:cNvSpPr>
          <p:nvPr/>
        </p:nvSpPr>
        <p:spPr bwMode="auto">
          <a:xfrm>
            <a:off x="3635896" y="1614488"/>
            <a:ext cx="1577280" cy="1171575"/>
          </a:xfrm>
          <a:prstGeom prst="ellipse">
            <a:avLst/>
          </a:prstGeom>
          <a:gradFill rotWithShape="0">
            <a:gsLst>
              <a:gs pos="0">
                <a:srgbClr val="4A1E26"/>
              </a:gs>
              <a:gs pos="100000">
                <a:srgbClr val="F76681"/>
              </a:gs>
            </a:gsLst>
            <a:lin ang="18900000" scaled="1"/>
          </a:gradFill>
          <a:ln w="508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 b="1" dirty="0" smtClean="0"/>
              <a:t>APLICATION</a:t>
            </a:r>
            <a:endParaRPr lang="he-IL" sz="1600" b="1" dirty="0"/>
          </a:p>
        </p:txBody>
      </p:sp>
      <p:sp>
        <p:nvSpPr>
          <p:cNvPr id="20485" name="Oval 4"/>
          <p:cNvSpPr>
            <a:spLocks noChangeArrowheads="1"/>
          </p:cNvSpPr>
          <p:nvPr/>
        </p:nvSpPr>
        <p:spPr bwMode="auto">
          <a:xfrm>
            <a:off x="5436096" y="1614488"/>
            <a:ext cx="1577280" cy="1171575"/>
          </a:xfrm>
          <a:prstGeom prst="ellipse">
            <a:avLst/>
          </a:prstGeom>
          <a:gradFill rotWithShape="0">
            <a:gsLst>
              <a:gs pos="0">
                <a:srgbClr val="4A1E26"/>
              </a:gs>
              <a:gs pos="100000">
                <a:srgbClr val="F76681"/>
              </a:gs>
            </a:gsLst>
            <a:lin ang="18900000" scaled="1"/>
          </a:gradFill>
          <a:ln w="508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 b="1" dirty="0" smtClean="0"/>
              <a:t>APLICATION</a:t>
            </a:r>
            <a:endParaRPr lang="he-IL" sz="1600" b="1" dirty="0"/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571500" y="4365104"/>
            <a:ext cx="8072438" cy="1862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auto">
          <a:xfrm>
            <a:off x="755576" y="5143500"/>
            <a:ext cx="3008312" cy="1052513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</a:gradFill>
          <a:ln w="508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endParaRPr lang="he-IL" sz="32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8" name="Rectangle 7"/>
          <p:cNvSpPr>
            <a:spLocks noChangeArrowheads="1"/>
          </p:cNvSpPr>
          <p:nvPr/>
        </p:nvSpPr>
        <p:spPr bwMode="auto">
          <a:xfrm>
            <a:off x="4038600" y="5500688"/>
            <a:ext cx="1228725" cy="64293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50800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I/O</a:t>
            </a:r>
            <a:endParaRPr lang="he-IL" b="1">
              <a:solidFill>
                <a:schemeClr val="bg1"/>
              </a:solidFill>
            </a:endParaRPr>
          </a:p>
        </p:txBody>
      </p:sp>
      <p:sp>
        <p:nvSpPr>
          <p:cNvPr id="20489" name="Rectangle 8"/>
          <p:cNvSpPr>
            <a:spLocks noChangeArrowheads="1"/>
          </p:cNvSpPr>
          <p:nvPr/>
        </p:nvSpPr>
        <p:spPr bwMode="auto">
          <a:xfrm>
            <a:off x="5629275" y="5500688"/>
            <a:ext cx="1228725" cy="64293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50800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I/O</a:t>
            </a:r>
            <a:endParaRPr lang="he-IL" b="1">
              <a:solidFill>
                <a:schemeClr val="bg1"/>
              </a:solidFill>
            </a:endParaRPr>
          </a:p>
        </p:txBody>
      </p:sp>
      <p:sp>
        <p:nvSpPr>
          <p:cNvPr id="20490" name="Rectangle 9"/>
          <p:cNvSpPr>
            <a:spLocks noChangeArrowheads="1"/>
          </p:cNvSpPr>
          <p:nvPr/>
        </p:nvSpPr>
        <p:spPr bwMode="auto">
          <a:xfrm>
            <a:off x="7200900" y="5500688"/>
            <a:ext cx="1228725" cy="64293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50800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I/O</a:t>
            </a:r>
            <a:endParaRPr lang="he-IL" b="1">
              <a:solidFill>
                <a:schemeClr val="bg1"/>
              </a:solidFill>
            </a:endParaRPr>
          </a:p>
        </p:txBody>
      </p:sp>
      <p:sp>
        <p:nvSpPr>
          <p:cNvPr id="20491" name="Rectangle 10"/>
          <p:cNvSpPr>
            <a:spLocks noChangeArrowheads="1"/>
          </p:cNvSpPr>
          <p:nvPr/>
        </p:nvSpPr>
        <p:spPr bwMode="auto">
          <a:xfrm>
            <a:off x="6527800" y="4500563"/>
            <a:ext cx="1973263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2800" b="1">
                <a:latin typeface="Arial" pitchFamily="34" charset="0"/>
              </a:rPr>
              <a:t>Hardware</a:t>
            </a:r>
            <a:endParaRPr lang="en-AU" altLang="he-IL" sz="2400" b="1">
              <a:latin typeface="Arial" pitchFamily="34" charset="0"/>
            </a:endParaRPr>
          </a:p>
        </p:txBody>
      </p:sp>
      <p:sp>
        <p:nvSpPr>
          <p:cNvPr id="20492" name="Rectangle 11"/>
          <p:cNvSpPr>
            <a:spLocks noChangeArrowheads="1"/>
          </p:cNvSpPr>
          <p:nvPr/>
        </p:nvSpPr>
        <p:spPr bwMode="auto">
          <a:xfrm>
            <a:off x="1214438" y="4643438"/>
            <a:ext cx="1947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rtl="0" eaLnBrk="0" hangingPunct="0"/>
            <a:r>
              <a:rPr lang="en-AU" altLang="he-IL" b="1">
                <a:solidFill>
                  <a:srgbClr val="CCFFFF"/>
                </a:solidFill>
                <a:latin typeface="Arial" pitchFamily="34" charset="0"/>
              </a:rPr>
              <a:t>CPU &amp; </a:t>
            </a:r>
            <a:r>
              <a:rPr lang="en-AU" altLang="he-IL" sz="2000" b="1">
                <a:solidFill>
                  <a:srgbClr val="CCFFFF"/>
                </a:solidFill>
                <a:latin typeface="Arial" pitchFamily="34" charset="0"/>
              </a:rPr>
              <a:t>Memory</a:t>
            </a:r>
            <a:endParaRPr lang="en-AU" altLang="he-IL" b="1">
              <a:solidFill>
                <a:srgbClr val="CCFFFF"/>
              </a:solidFill>
              <a:latin typeface="Arial" pitchFamily="34" charset="0"/>
            </a:endParaRPr>
          </a:p>
        </p:txBody>
      </p:sp>
      <p:sp>
        <p:nvSpPr>
          <p:cNvPr id="20493" name="Rectangle 12"/>
          <p:cNvSpPr>
            <a:spLocks noChangeArrowheads="1"/>
          </p:cNvSpPr>
          <p:nvPr/>
        </p:nvSpPr>
        <p:spPr bwMode="auto">
          <a:xfrm>
            <a:off x="5437188" y="5000625"/>
            <a:ext cx="1563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2000" b="1">
                <a:solidFill>
                  <a:srgbClr val="CCFFFF"/>
                </a:solidFill>
                <a:latin typeface="Arial" pitchFamily="34" charset="0"/>
              </a:rPr>
              <a:t>I/O Devices</a:t>
            </a:r>
          </a:p>
        </p:txBody>
      </p:sp>
      <p:sp>
        <p:nvSpPr>
          <p:cNvPr id="20494" name="Rectangle 13"/>
          <p:cNvSpPr>
            <a:spLocks noChangeArrowheads="1"/>
          </p:cNvSpPr>
          <p:nvPr/>
        </p:nvSpPr>
        <p:spPr bwMode="auto">
          <a:xfrm>
            <a:off x="571500" y="3645024"/>
            <a:ext cx="8072438" cy="78740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508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20495" name="Rectangle 14"/>
          <p:cNvSpPr>
            <a:spLocks noChangeArrowheads="1"/>
          </p:cNvSpPr>
          <p:nvPr/>
        </p:nvSpPr>
        <p:spPr bwMode="auto">
          <a:xfrm>
            <a:off x="2847975" y="3857625"/>
            <a:ext cx="35814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ctr" rtl="0" eaLnBrk="0" hangingPunct="0"/>
            <a:r>
              <a:rPr lang="en-AU" altLang="he-IL" sz="2800" b="1">
                <a:solidFill>
                  <a:srgbClr val="00B0F0"/>
                </a:solidFill>
                <a:latin typeface="Arial" pitchFamily="34" charset="0"/>
              </a:rPr>
              <a:t>Operating System</a:t>
            </a:r>
          </a:p>
        </p:txBody>
      </p:sp>
      <p:sp>
        <p:nvSpPr>
          <p:cNvPr id="21533" name="Rectangle 26"/>
          <p:cNvSpPr>
            <a:spLocks noChangeArrowheads="1"/>
          </p:cNvSpPr>
          <p:nvPr/>
        </p:nvSpPr>
        <p:spPr bwMode="auto">
          <a:xfrm>
            <a:off x="7215188" y="3429000"/>
            <a:ext cx="509587" cy="3762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20497" name="Line 32"/>
          <p:cNvSpPr>
            <a:spLocks noChangeShapeType="1"/>
          </p:cNvSpPr>
          <p:nvPr/>
        </p:nvSpPr>
        <p:spPr bwMode="auto">
          <a:xfrm flipH="1" flipV="1">
            <a:off x="1366837" y="2500312"/>
            <a:ext cx="561975" cy="928687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498" name="Rectangle 33"/>
          <p:cNvSpPr>
            <a:spLocks noChangeArrowheads="1"/>
          </p:cNvSpPr>
          <p:nvPr/>
        </p:nvSpPr>
        <p:spPr bwMode="auto">
          <a:xfrm>
            <a:off x="172244" y="1848247"/>
            <a:ext cx="3042444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rtl="0" eaLnBrk="0" hangingPunct="0"/>
            <a:r>
              <a:rPr lang="en-AU" altLang="he-IL" sz="2800" b="1" dirty="0">
                <a:solidFill>
                  <a:srgbClr val="CCFFFF"/>
                </a:solidFill>
                <a:latin typeface="Arial" pitchFamily="34" charset="0"/>
              </a:rPr>
              <a:t>System Calls</a:t>
            </a:r>
          </a:p>
        </p:txBody>
      </p:sp>
      <p:sp>
        <p:nvSpPr>
          <p:cNvPr id="20499" name="Oval 34"/>
          <p:cNvSpPr>
            <a:spLocks noChangeArrowheads="1"/>
          </p:cNvSpPr>
          <p:nvPr/>
        </p:nvSpPr>
        <p:spPr bwMode="auto">
          <a:xfrm>
            <a:off x="7236296" y="1614488"/>
            <a:ext cx="1577280" cy="1171575"/>
          </a:xfrm>
          <a:prstGeom prst="ellipse">
            <a:avLst/>
          </a:prstGeom>
          <a:gradFill rotWithShape="0">
            <a:gsLst>
              <a:gs pos="0">
                <a:srgbClr val="4A1E26"/>
              </a:gs>
              <a:gs pos="100000">
                <a:srgbClr val="F76681"/>
              </a:gs>
            </a:gsLst>
            <a:lin ang="18900000" scaled="1"/>
          </a:gradFill>
          <a:ln w="508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 b="1" dirty="0" smtClean="0"/>
              <a:t>APLICATION</a:t>
            </a:r>
            <a:endParaRPr lang="he-IL" sz="1600" b="1" dirty="0"/>
          </a:p>
        </p:txBody>
      </p:sp>
      <p:sp>
        <p:nvSpPr>
          <p:cNvPr id="20500" name="Rectangle 35"/>
          <p:cNvSpPr>
            <a:spLocks noChangeArrowheads="1"/>
          </p:cNvSpPr>
          <p:nvPr/>
        </p:nvSpPr>
        <p:spPr bwMode="auto">
          <a:xfrm>
            <a:off x="3962400" y="2819400"/>
            <a:ext cx="4751388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2800" b="1">
                <a:solidFill>
                  <a:srgbClr val="CCFFFF"/>
                </a:solidFill>
                <a:latin typeface="Arial" pitchFamily="34" charset="0"/>
              </a:rPr>
              <a:t>Users and User Programs</a:t>
            </a:r>
          </a:p>
        </p:txBody>
      </p:sp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7929563" y="3429000"/>
            <a:ext cx="509587" cy="3762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48" name="Rectangle 26"/>
          <p:cNvSpPr>
            <a:spLocks noChangeArrowheads="1"/>
          </p:cNvSpPr>
          <p:nvPr/>
        </p:nvSpPr>
        <p:spPr bwMode="auto">
          <a:xfrm>
            <a:off x="3214688" y="3429000"/>
            <a:ext cx="509587" cy="3762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49" name="Rectangle 26"/>
          <p:cNvSpPr>
            <a:spLocks noChangeArrowheads="1"/>
          </p:cNvSpPr>
          <p:nvPr/>
        </p:nvSpPr>
        <p:spPr bwMode="auto">
          <a:xfrm>
            <a:off x="2428875" y="3429000"/>
            <a:ext cx="509588" cy="3762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50" name="Rectangle 26"/>
          <p:cNvSpPr>
            <a:spLocks noChangeArrowheads="1"/>
          </p:cNvSpPr>
          <p:nvPr/>
        </p:nvSpPr>
        <p:spPr bwMode="auto">
          <a:xfrm>
            <a:off x="1643063" y="3429000"/>
            <a:ext cx="509587" cy="3762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51" name="Rectangle 26"/>
          <p:cNvSpPr>
            <a:spLocks noChangeArrowheads="1"/>
          </p:cNvSpPr>
          <p:nvPr/>
        </p:nvSpPr>
        <p:spPr bwMode="auto">
          <a:xfrm>
            <a:off x="857250" y="3429000"/>
            <a:ext cx="509588" cy="3762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52" name="Rectangle 26"/>
          <p:cNvSpPr>
            <a:spLocks noChangeArrowheads="1"/>
          </p:cNvSpPr>
          <p:nvPr/>
        </p:nvSpPr>
        <p:spPr bwMode="auto">
          <a:xfrm>
            <a:off x="6357938" y="3429000"/>
            <a:ext cx="509587" cy="3762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53" name="Rectangle 26"/>
          <p:cNvSpPr>
            <a:spLocks noChangeArrowheads="1"/>
          </p:cNvSpPr>
          <p:nvPr/>
        </p:nvSpPr>
        <p:spPr bwMode="auto">
          <a:xfrm>
            <a:off x="5572125" y="3429000"/>
            <a:ext cx="509588" cy="3762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54" name="Rectangle 26"/>
          <p:cNvSpPr>
            <a:spLocks noChangeArrowheads="1"/>
          </p:cNvSpPr>
          <p:nvPr/>
        </p:nvSpPr>
        <p:spPr bwMode="auto">
          <a:xfrm>
            <a:off x="4786313" y="3429000"/>
            <a:ext cx="509587" cy="3762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55" name="Rectangle 26"/>
          <p:cNvSpPr>
            <a:spLocks noChangeArrowheads="1"/>
          </p:cNvSpPr>
          <p:nvPr/>
        </p:nvSpPr>
        <p:spPr bwMode="auto">
          <a:xfrm>
            <a:off x="4000500" y="3429000"/>
            <a:ext cx="509588" cy="3762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20510" name="Line 32"/>
          <p:cNvSpPr>
            <a:spLocks noChangeShapeType="1"/>
          </p:cNvSpPr>
          <p:nvPr/>
        </p:nvSpPr>
        <p:spPr bwMode="auto">
          <a:xfrm flipH="1" flipV="1">
            <a:off x="2928938" y="2500313"/>
            <a:ext cx="571500" cy="928687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511" name="Line 32"/>
          <p:cNvSpPr>
            <a:spLocks noChangeShapeType="1"/>
          </p:cNvSpPr>
          <p:nvPr/>
        </p:nvSpPr>
        <p:spPr bwMode="auto">
          <a:xfrm flipH="1" flipV="1">
            <a:off x="2143125" y="2500313"/>
            <a:ext cx="571500" cy="928687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 flipH="1" flipV="1">
            <a:off x="642938" y="2500313"/>
            <a:ext cx="571500" cy="928687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Eniac.jp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620688"/>
            <a:ext cx="8352928" cy="5795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2" name="מציין מיקום של כותרת תחתונה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D1D1AD-9301-49E0-A5B5-236D7CC10AB0}" type="slidenum">
              <a:rPr lang="he-IL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6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785794"/>
            <a:ext cx="8229600" cy="642942"/>
          </a:xfrm>
        </p:spPr>
        <p:txBody>
          <a:bodyPr lIns="90488" tIns="44450" rIns="90488" bIns="44450" anchor="ctr"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הדגשים במערכות הפעלה</a:t>
            </a:r>
            <a:endParaRPr lang="en-US" altLang="en-AU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676400"/>
            <a:ext cx="8410575" cy="4648200"/>
          </a:xfrm>
        </p:spPr>
        <p:txBody>
          <a:bodyPr lIns="90488" tIns="44450" rIns="90488" bIns="44450"/>
          <a:lstStyle/>
          <a:p>
            <a:pPr algn="just" eaLnBrk="1" hangingPunct="1">
              <a:lnSpc>
                <a:spcPct val="90000"/>
              </a:lnSpc>
            </a:pPr>
            <a:r>
              <a:rPr lang="he-IL" altLang="en-AU" b="1" smtClean="0"/>
              <a:t>מערכת הפעלה מאפשרת:</a:t>
            </a:r>
            <a:endParaRPr lang="en-US" altLang="en-AU" b="1" smtClean="0"/>
          </a:p>
          <a:p>
            <a:pPr lvl="1" algn="just" eaLnBrk="1" hangingPunct="1">
              <a:lnSpc>
                <a:spcPct val="90000"/>
              </a:lnSpc>
            </a:pPr>
            <a:r>
              <a:rPr lang="he-IL" altLang="en-AU" b="1" i="1" smtClean="0">
                <a:solidFill>
                  <a:srgbClr val="FFFF00"/>
                </a:solidFill>
              </a:rPr>
              <a:t>מישק חזק, פשוט ויעיל למשתמש.</a:t>
            </a:r>
            <a:endParaRPr lang="en-US" altLang="en-AU" b="1" i="1" smtClean="0">
              <a:solidFill>
                <a:srgbClr val="FFFF00"/>
              </a:solidFill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he-IL" altLang="en-AU" b="1" i="1" smtClean="0">
                <a:solidFill>
                  <a:srgbClr val="FFFF00"/>
                </a:solidFill>
              </a:rPr>
              <a:t>שירותים ברמה גבוהה לכל מתכנת, מפעיל ומשתמש.</a:t>
            </a:r>
            <a:endParaRPr lang="en-US" altLang="en-AU" b="1" smtClean="0">
              <a:solidFill>
                <a:srgbClr val="FFFF00"/>
              </a:solidFill>
            </a:endParaRPr>
          </a:p>
          <a:p>
            <a:pPr algn="just" eaLnBrk="1" hangingPunct="1">
              <a:lnSpc>
                <a:spcPct val="90000"/>
              </a:lnSpc>
            </a:pPr>
            <a:r>
              <a:rPr lang="he-IL" altLang="en-AU" b="1" smtClean="0"/>
              <a:t>מערכת הפעלה מאפשרת גישה אך ורק ע”י מערכת תאים, כל אחד מהם אחראי על ביצוע פונקציה/ות</a:t>
            </a:r>
            <a:endParaRPr lang="en-US" altLang="en-AU" b="1" smtClean="0"/>
          </a:p>
          <a:p>
            <a:pPr algn="just" eaLnBrk="1" hangingPunct="1">
              <a:lnSpc>
                <a:spcPct val="90000"/>
              </a:lnSpc>
            </a:pPr>
            <a:r>
              <a:rPr lang="he-IL" altLang="en-AU" b="1" smtClean="0"/>
              <a:t>לא ניתנת גישה ישירה למשתמשים ומתכנתים לחומרה אלא דרך הרשאות מערכת.</a:t>
            </a:r>
          </a:p>
          <a:p>
            <a:pPr algn="just" eaLnBrk="1" hangingPunct="1">
              <a:lnSpc>
                <a:spcPct val="90000"/>
              </a:lnSpc>
            </a:pPr>
            <a:r>
              <a:rPr lang="he-IL" altLang="en-AU" b="1" smtClean="0"/>
              <a:t>קיימות מערכות הפעלה בעלות קוד פתוח (</a:t>
            </a:r>
            <a:r>
              <a:rPr lang="en-US" altLang="en-AU" b="1" smtClean="0"/>
              <a:t>UNIX</a:t>
            </a:r>
            <a:r>
              <a:rPr lang="he-IL" altLang="en-AU" b="1" smtClean="0"/>
              <a:t>) אשר מאפשרות למפעיל המחשב לתכנת ולנהל את מערכת ההפעלה שלו באופן עצמאי.</a:t>
            </a:r>
            <a:endParaRPr lang="en-US" altLang="en-AU" b="1" smtClean="0"/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he-IL" b="1" smtClean="0">
              <a:solidFill>
                <a:srgbClr val="FF0000"/>
              </a:solidFill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8" dur="1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414" y="714356"/>
            <a:ext cx="7372350" cy="730250"/>
          </a:xfrm>
        </p:spPr>
        <p:txBody>
          <a:bodyPr lIns="90488" tIns="44450" rIns="90488" bIns="44450" anchor="ctr"/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מושגים במערכות הפעלה</a:t>
            </a:r>
            <a:endParaRPr lang="en-US" altLang="he-IL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676400"/>
            <a:ext cx="8410575" cy="4114800"/>
          </a:xfrm>
        </p:spPr>
        <p:txBody>
          <a:bodyPr lIns="90488" tIns="44450" rIns="90488" bIns="44450"/>
          <a:lstStyle/>
          <a:p>
            <a:pPr marL="0" indent="0" algn="just" eaLnBrk="1" hangingPunct="1"/>
            <a:r>
              <a:rPr lang="he-IL" altLang="en-AU" b="1" dirty="0" smtClean="0">
                <a:solidFill>
                  <a:srgbClr val="0000CC"/>
                </a:solidFill>
              </a:rPr>
              <a:t> </a:t>
            </a:r>
            <a:r>
              <a:rPr lang="he-IL" altLang="en-AU" b="1" dirty="0" smtClean="0">
                <a:solidFill>
                  <a:srgbClr val="FFFF00"/>
                </a:solidFill>
              </a:rPr>
              <a:t>גרעין מערכת </a:t>
            </a:r>
            <a:r>
              <a:rPr lang="en-AU" altLang="he-IL" b="1" dirty="0" smtClean="0">
                <a:solidFill>
                  <a:srgbClr val="FFFF00"/>
                </a:solidFill>
              </a:rPr>
              <a:t>Kernel</a:t>
            </a:r>
          </a:p>
          <a:p>
            <a:pPr marL="0" indent="0" algn="just" eaLnBrk="1" hangingPunct="1"/>
            <a:r>
              <a:rPr lang="he-IL" altLang="en-AU" b="1" dirty="0" smtClean="0"/>
              <a:t>התוכנית הראשית של כל מערכת הפעלה, מכילה בתוכה רשימות קוד לכל שימושי המערכת, תמיד נמצאת בתוך הזיכרון המקדמי </a:t>
            </a:r>
            <a:r>
              <a:rPr lang="en-AU" altLang="he-IL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primary memory</a:t>
            </a:r>
          </a:p>
          <a:p>
            <a:pPr marL="0" indent="0" algn="just" eaLnBrk="1" hangingPunct="1"/>
            <a:r>
              <a:rPr lang="he-IL" altLang="en-AU" b="1" dirty="0" smtClean="0">
                <a:solidFill>
                  <a:schemeClr val="accent1"/>
                </a:solidFill>
              </a:rPr>
              <a:t> </a:t>
            </a:r>
            <a:r>
              <a:rPr lang="he-IL" altLang="en-AU" b="1" dirty="0" smtClean="0">
                <a:solidFill>
                  <a:srgbClr val="FFFF00"/>
                </a:solidFill>
              </a:rPr>
              <a:t>תוכנות לניהול ציוד היקפי </a:t>
            </a:r>
            <a:endParaRPr lang="en-US" altLang="he-IL" b="1" dirty="0" smtClean="0">
              <a:solidFill>
                <a:srgbClr val="FFFF00"/>
              </a:solidFill>
            </a:endParaRPr>
          </a:p>
          <a:p>
            <a:pPr marL="685800" lvl="1" indent="-214313" algn="just" eaLnBrk="1" hangingPunct="1">
              <a:buClr>
                <a:srgbClr val="C00000"/>
              </a:buClr>
              <a:buSzPct val="100000"/>
              <a:buFont typeface="Wingdings" pitchFamily="2" charset="2"/>
              <a:buChar char="§"/>
            </a:pPr>
            <a:r>
              <a:rPr lang="he-IL" altLang="en-AU" sz="3200" b="1" dirty="0" smtClean="0">
                <a:solidFill>
                  <a:schemeClr val="accent1"/>
                </a:solidFill>
              </a:rPr>
              <a:t> </a:t>
            </a:r>
            <a:r>
              <a:rPr lang="he-IL" altLang="en-AU" sz="3200" b="1" dirty="0" err="1" smtClean="0"/>
              <a:t>תוכניות</a:t>
            </a:r>
            <a:r>
              <a:rPr lang="he-IL" altLang="en-AU" sz="3200" b="1" dirty="0" smtClean="0"/>
              <a:t> אשר מאפשרות </a:t>
            </a:r>
            <a:r>
              <a:rPr lang="he-IL" altLang="en-AU" sz="3200" b="1" dirty="0" smtClean="0"/>
              <a:t>ממשק </a:t>
            </a:r>
            <a:r>
              <a:rPr lang="he-IL" altLang="en-AU" sz="3200" b="1" dirty="0" smtClean="0"/>
              <a:t>פשוט, מתמשך לכל ציוד הקלט פלט</a:t>
            </a:r>
            <a:r>
              <a:rPr lang="en-US" altLang="en-AU" sz="3200" b="1" dirty="0" smtClean="0"/>
              <a:t> </a:t>
            </a:r>
            <a:r>
              <a:rPr lang="he-IL" altLang="en-AU" sz="3200" b="1" dirty="0" smtClean="0"/>
              <a:t>המחובר למחשב</a:t>
            </a:r>
          </a:p>
          <a:p>
            <a:pPr marL="685800" lvl="1" indent="-214313" algn="just" eaLnBrk="1" hangingPunct="1">
              <a:buClr>
                <a:srgbClr val="C00000"/>
              </a:buClr>
              <a:buSzPct val="100000"/>
              <a:buFont typeface="Wingdings" pitchFamily="2" charset="2"/>
              <a:buChar char="§"/>
            </a:pPr>
            <a:r>
              <a:rPr lang="he-IL" altLang="en-AU" sz="3200" b="1" dirty="0" smtClean="0"/>
              <a:t> חלק בלתי נפרד מגרעין המערכת</a:t>
            </a:r>
            <a:endParaRPr lang="en-US" altLang="he-IL" sz="3200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1898650"/>
            <a:ext cx="7993062" cy="3903663"/>
          </a:xfrm>
        </p:spPr>
        <p:txBody>
          <a:bodyPr lIns="90488" tIns="44450" rIns="90488" bIns="44450"/>
          <a:lstStyle/>
          <a:p>
            <a:pPr marL="0" indent="0" algn="just" eaLnBrk="1" hangingPunct="1"/>
            <a:r>
              <a:rPr lang="he-IL" altLang="en-AU" b="1" smtClean="0">
                <a:solidFill>
                  <a:srgbClr val="0000CC"/>
                </a:solidFill>
              </a:rPr>
              <a:t> </a:t>
            </a:r>
            <a:r>
              <a:rPr lang="he-IL" altLang="en-AU" b="1" smtClean="0">
                <a:solidFill>
                  <a:srgbClr val="FFFF00"/>
                </a:solidFill>
              </a:rPr>
              <a:t>תוכנית</a:t>
            </a:r>
            <a:endParaRPr lang="en-US" altLang="en-AU" b="1" smtClean="0">
              <a:solidFill>
                <a:srgbClr val="FFFF00"/>
              </a:solidFill>
            </a:endParaRP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he-IL" altLang="en-AU" b="1" smtClean="0"/>
              <a:t>קובץ ממשי בשפת מכונה על רכיב פיזי (דיסק, דיסקט, </a:t>
            </a:r>
            <a:r>
              <a:rPr lang="en-AU" altLang="he-IL" b="1" smtClean="0"/>
              <a:t>CD-ROM</a:t>
            </a:r>
            <a:r>
              <a:rPr lang="he-IL" altLang="he-IL" b="1" smtClean="0"/>
              <a:t>, </a:t>
            </a:r>
            <a:r>
              <a:rPr lang="he-IL" altLang="en-AU" b="1" smtClean="0"/>
              <a:t>מיני דיסק, פלאש)</a:t>
            </a:r>
            <a:endParaRPr lang="en-US" altLang="en-AU" b="1" smtClean="0">
              <a:solidFill>
                <a:schemeClr val="accent1"/>
              </a:solidFill>
            </a:endParaRPr>
          </a:p>
          <a:p>
            <a:pPr marL="0" indent="0" algn="just" eaLnBrk="1" hangingPunct="1"/>
            <a:r>
              <a:rPr lang="he-IL" altLang="he-IL" b="1" smtClean="0"/>
              <a:t> </a:t>
            </a:r>
            <a:r>
              <a:rPr lang="he-IL" altLang="en-AU" b="1" smtClean="0">
                <a:solidFill>
                  <a:srgbClr val="FFFF00"/>
                </a:solidFill>
              </a:rPr>
              <a:t>תהליך</a:t>
            </a:r>
            <a:endParaRPr lang="en-US" altLang="en-AU" b="1" smtClean="0">
              <a:solidFill>
                <a:srgbClr val="FFFF00"/>
              </a:solidFill>
            </a:endParaRP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he-IL" altLang="en-AU" b="1" smtClean="0"/>
              <a:t> תוכנית בעת ביצוע - אוסף מבנה המידע במערכת ההפעלה, משאבי המערכת שבבעלות תוכנית הרצה בזמן נתון.</a:t>
            </a:r>
            <a:endParaRPr lang="en-US" altLang="he-IL" b="1" smtClean="0"/>
          </a:p>
        </p:txBody>
      </p:sp>
      <p:sp>
        <p:nvSpPr>
          <p:cNvPr id="45062" name="Rectangle 4"/>
          <p:cNvSpPr>
            <a:spLocks noChangeArrowheads="1"/>
          </p:cNvSpPr>
          <p:nvPr/>
        </p:nvSpPr>
        <p:spPr bwMode="auto">
          <a:xfrm>
            <a:off x="1428750" y="714375"/>
            <a:ext cx="7162800" cy="685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he-IL" altLang="en-AU" sz="4000" b="1" i="1" dirty="0">
                <a:solidFill>
                  <a:srgbClr val="FFFF00"/>
                </a:solidFill>
                <a:latin typeface="Times New Roman" pitchFamily="18" charset="0"/>
                <a:cs typeface="+mj-cs"/>
              </a:rPr>
              <a:t>מושגים במערכות הפעלה (המשך)</a:t>
            </a:r>
            <a:endParaRPr lang="en-US" altLang="he-IL" sz="4000" b="1" i="1" dirty="0">
              <a:solidFill>
                <a:srgbClr val="FFFF00"/>
              </a:solidFill>
              <a:latin typeface="Times New Roman" pitchFamily="18" charset="0"/>
              <a:cs typeface="+mj-cs"/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10" y="714356"/>
            <a:ext cx="8001000" cy="649288"/>
          </a:xfrm>
        </p:spPr>
        <p:txBody>
          <a:bodyPr lIns="90488" tIns="44450" rIns="90488" bIns="44450" anchor="ctr"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קידום תוכנית לקראת ריצה</a:t>
            </a:r>
            <a:endParaRPr lang="en-US" altLang="he-IL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1357313" y="2281238"/>
            <a:ext cx="1157287" cy="1219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08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endParaRPr lang="he-IL"/>
          </a:p>
        </p:txBody>
      </p:sp>
      <p:sp>
        <p:nvSpPr>
          <p:cNvPr id="37893" name="Rectangle 4"/>
          <p:cNvSpPr>
            <a:spLocks noChangeArrowheads="1"/>
          </p:cNvSpPr>
          <p:nvPr/>
        </p:nvSpPr>
        <p:spPr bwMode="auto">
          <a:xfrm>
            <a:off x="827584" y="1676400"/>
            <a:ext cx="2230437" cy="454025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2400" b="1" dirty="0">
                <a:latin typeface="Arial" pitchFamily="34" charset="0"/>
              </a:rPr>
              <a:t>Source Code</a:t>
            </a:r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4177581" y="1676400"/>
            <a:ext cx="1906587" cy="454025"/>
          </a:xfrm>
          <a:prstGeom prst="rect">
            <a:avLst/>
          </a:prstGeom>
          <a:ln/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2400" b="1" dirty="0">
                <a:latin typeface="Arial" pitchFamily="34" charset="0"/>
              </a:rPr>
              <a:t>Object File</a:t>
            </a:r>
          </a:p>
        </p:txBody>
      </p:sp>
      <p:sp>
        <p:nvSpPr>
          <p:cNvPr id="37895" name="Line 7"/>
          <p:cNvSpPr>
            <a:spLocks noChangeShapeType="1"/>
          </p:cNvSpPr>
          <p:nvPr/>
        </p:nvSpPr>
        <p:spPr bwMode="auto">
          <a:xfrm>
            <a:off x="2692400" y="2971800"/>
            <a:ext cx="1955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2790825" y="2365375"/>
            <a:ext cx="13970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2400" b="1">
                <a:solidFill>
                  <a:srgbClr val="FFFF00"/>
                </a:solidFill>
                <a:latin typeface="Arial" pitchFamily="34" charset="0"/>
              </a:rPr>
              <a:t>Compile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4572000" y="4191000"/>
            <a:ext cx="909638" cy="685800"/>
          </a:xfrm>
          <a:prstGeom prst="rect">
            <a:avLst/>
          </a:prstGeom>
          <a:solidFill>
            <a:srgbClr val="FFC000"/>
          </a:solidFill>
          <a:ln w="508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endParaRPr lang="he-IL"/>
          </a:p>
        </p:txBody>
      </p:sp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4572000" y="5181600"/>
            <a:ext cx="909638" cy="68580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AAAA00"/>
              </a:gs>
            </a:gsLst>
            <a:lin ang="5400000" scaled="1"/>
          </a:gradFill>
          <a:ln w="508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endParaRPr lang="he-IL"/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1089025" y="4648200"/>
            <a:ext cx="3287713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AU" altLang="he-IL" sz="2800" b="1">
                <a:latin typeface="Arial" pitchFamily="34" charset="0"/>
              </a:rPr>
              <a:t>Libraries and </a:t>
            </a:r>
          </a:p>
          <a:p>
            <a:pPr algn="ctr" eaLnBrk="0" hangingPunct="0"/>
            <a:r>
              <a:rPr lang="en-AU" altLang="he-IL" sz="2800" b="1">
                <a:latin typeface="Arial" pitchFamily="34" charset="0"/>
              </a:rPr>
              <a:t>other Object files</a:t>
            </a: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5957888" y="2365375"/>
            <a:ext cx="814387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2400" b="1">
                <a:solidFill>
                  <a:srgbClr val="FFFF00"/>
                </a:solidFill>
                <a:latin typeface="Arial" pitchFamily="34" charset="0"/>
              </a:rPr>
              <a:t>Link</a:t>
            </a:r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5680075" y="2971800"/>
            <a:ext cx="1320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7902" name="Rectangle 15"/>
          <p:cNvSpPr>
            <a:spLocks noChangeArrowheads="1"/>
          </p:cNvSpPr>
          <p:nvPr/>
        </p:nvSpPr>
        <p:spPr bwMode="auto">
          <a:xfrm>
            <a:off x="7315200" y="3657600"/>
            <a:ext cx="909638" cy="685800"/>
          </a:xfrm>
          <a:prstGeom prst="rect">
            <a:avLst/>
          </a:prstGeom>
          <a:solidFill>
            <a:srgbClr val="FFC000"/>
          </a:solidFill>
          <a:ln w="508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endParaRPr lang="he-IL"/>
          </a:p>
        </p:txBody>
      </p:sp>
      <p:sp>
        <p:nvSpPr>
          <p:cNvPr id="37903" name="Rectangle 16"/>
          <p:cNvSpPr>
            <a:spLocks noChangeArrowheads="1"/>
          </p:cNvSpPr>
          <p:nvPr/>
        </p:nvSpPr>
        <p:spPr bwMode="auto">
          <a:xfrm>
            <a:off x="7315200" y="4343400"/>
            <a:ext cx="909638" cy="68580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AAAA00"/>
              </a:gs>
            </a:gsLst>
            <a:lin ang="5400000" scaled="1"/>
          </a:gradFill>
          <a:ln w="508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endParaRPr lang="he-IL"/>
          </a:p>
        </p:txBody>
      </p:sp>
      <p:sp>
        <p:nvSpPr>
          <p:cNvPr id="37904" name="Line 17"/>
          <p:cNvSpPr>
            <a:spLocks noChangeShapeType="1"/>
          </p:cNvSpPr>
          <p:nvPr/>
        </p:nvSpPr>
        <p:spPr bwMode="auto">
          <a:xfrm flipV="1">
            <a:off x="5588000" y="4013200"/>
            <a:ext cx="1473200" cy="508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7905" name="Line 18"/>
          <p:cNvSpPr>
            <a:spLocks noChangeShapeType="1"/>
          </p:cNvSpPr>
          <p:nvPr/>
        </p:nvSpPr>
        <p:spPr bwMode="auto">
          <a:xfrm flipV="1">
            <a:off x="5588000" y="4851400"/>
            <a:ext cx="1473200" cy="660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7906" name="Rectangle 19"/>
          <p:cNvSpPr>
            <a:spLocks noChangeArrowheads="1"/>
          </p:cNvSpPr>
          <p:nvPr/>
        </p:nvSpPr>
        <p:spPr bwMode="auto">
          <a:xfrm>
            <a:off x="6732240" y="1676400"/>
            <a:ext cx="1960562" cy="454025"/>
          </a:xfrm>
          <a:prstGeom prst="rect">
            <a:avLst/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2400" b="1" dirty="0">
                <a:latin typeface="Arial" pitchFamily="34" charset="0"/>
              </a:rPr>
              <a:t>Executable</a:t>
            </a:r>
          </a:p>
        </p:txBody>
      </p:sp>
      <p:sp>
        <p:nvSpPr>
          <p:cNvPr id="37907" name="Rectangle 3"/>
          <p:cNvSpPr>
            <a:spLocks noChangeArrowheads="1"/>
          </p:cNvSpPr>
          <p:nvPr/>
        </p:nvSpPr>
        <p:spPr bwMode="auto">
          <a:xfrm>
            <a:off x="7286625" y="2286000"/>
            <a:ext cx="909638" cy="1219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08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endParaRPr lang="he-IL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908" name="Rectangle 3"/>
          <p:cNvSpPr>
            <a:spLocks noChangeArrowheads="1"/>
          </p:cNvSpPr>
          <p:nvPr/>
        </p:nvSpPr>
        <p:spPr bwMode="auto">
          <a:xfrm>
            <a:off x="4714875" y="2286000"/>
            <a:ext cx="928688" cy="1219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08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endParaRPr lang="he-IL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ChangeArrowheads="1"/>
          </p:cNvSpPr>
          <p:nvPr/>
        </p:nvSpPr>
        <p:spPr bwMode="blackWhite">
          <a:xfrm>
            <a:off x="1143000" y="762000"/>
            <a:ext cx="3124200" cy="5181600"/>
          </a:xfrm>
          <a:prstGeom prst="rect">
            <a:avLst/>
          </a:prstGeom>
          <a:solidFill>
            <a:srgbClr val="FFFF99">
              <a:alpha val="50195"/>
            </a:srgbClr>
          </a:solidFill>
          <a:ln w="508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endParaRPr lang="he-IL"/>
          </a:p>
        </p:txBody>
      </p:sp>
      <p:sp>
        <p:nvSpPr>
          <p:cNvPr id="38916" name="Line 3"/>
          <p:cNvSpPr>
            <a:spLocks noChangeShapeType="1"/>
          </p:cNvSpPr>
          <p:nvPr/>
        </p:nvSpPr>
        <p:spPr bwMode="auto">
          <a:xfrm>
            <a:off x="1168400" y="4038600"/>
            <a:ext cx="3175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8917" name="Line 4"/>
          <p:cNvSpPr>
            <a:spLocks noChangeShapeType="1"/>
          </p:cNvSpPr>
          <p:nvPr/>
        </p:nvSpPr>
        <p:spPr bwMode="auto">
          <a:xfrm>
            <a:off x="1168400" y="2438400"/>
            <a:ext cx="3098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8918" name="Rectangle 5"/>
          <p:cNvSpPr>
            <a:spLocks noChangeArrowheads="1"/>
          </p:cNvSpPr>
          <p:nvPr/>
        </p:nvSpPr>
        <p:spPr bwMode="auto">
          <a:xfrm>
            <a:off x="1219200" y="914400"/>
            <a:ext cx="119062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2800" b="1">
                <a:solidFill>
                  <a:srgbClr val="000099"/>
                </a:solidFill>
                <a:latin typeface="Arial" pitchFamily="34" charset="0"/>
              </a:rPr>
              <a:t>RAM</a:t>
            </a:r>
          </a:p>
        </p:txBody>
      </p:sp>
      <p:sp>
        <p:nvSpPr>
          <p:cNvPr id="38919" name="Rectangle 6"/>
          <p:cNvSpPr>
            <a:spLocks noChangeArrowheads="1"/>
          </p:cNvSpPr>
          <p:nvPr/>
        </p:nvSpPr>
        <p:spPr bwMode="auto">
          <a:xfrm>
            <a:off x="1981200" y="2486025"/>
            <a:ext cx="2235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2000" b="1">
                <a:solidFill>
                  <a:srgbClr val="FFFF00"/>
                </a:solidFill>
                <a:latin typeface="Arial" pitchFamily="34" charset="0"/>
              </a:rPr>
              <a:t>User Program #1</a:t>
            </a:r>
          </a:p>
        </p:txBody>
      </p:sp>
      <p:sp>
        <p:nvSpPr>
          <p:cNvPr id="38920" name="Rectangle 7"/>
          <p:cNvSpPr>
            <a:spLocks noChangeArrowheads="1"/>
          </p:cNvSpPr>
          <p:nvPr/>
        </p:nvSpPr>
        <p:spPr bwMode="auto">
          <a:xfrm>
            <a:off x="1981200" y="733425"/>
            <a:ext cx="2235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2000" b="1">
                <a:solidFill>
                  <a:srgbClr val="FFFF00"/>
                </a:solidFill>
                <a:latin typeface="Arial" pitchFamily="34" charset="0"/>
              </a:rPr>
              <a:t>User Program #2</a:t>
            </a:r>
          </a:p>
        </p:txBody>
      </p:sp>
      <p:sp>
        <p:nvSpPr>
          <p:cNvPr id="38921" name="Rectangle 8"/>
          <p:cNvSpPr>
            <a:spLocks noChangeArrowheads="1"/>
          </p:cNvSpPr>
          <p:nvPr/>
        </p:nvSpPr>
        <p:spPr bwMode="auto">
          <a:xfrm>
            <a:off x="1198563" y="3248025"/>
            <a:ext cx="1552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2000" b="1">
                <a:latin typeface="Courier New" pitchFamily="49" charset="0"/>
              </a:rPr>
              <a:t>trap 002</a:t>
            </a:r>
          </a:p>
        </p:txBody>
      </p:sp>
      <p:sp>
        <p:nvSpPr>
          <p:cNvPr id="38922" name="Line 9"/>
          <p:cNvSpPr>
            <a:spLocks noChangeShapeType="1"/>
          </p:cNvSpPr>
          <p:nvPr/>
        </p:nvSpPr>
        <p:spPr bwMode="auto">
          <a:xfrm>
            <a:off x="1676400" y="3663950"/>
            <a:ext cx="0" cy="1892300"/>
          </a:xfrm>
          <a:prstGeom prst="line">
            <a:avLst/>
          </a:prstGeom>
          <a:noFill/>
          <a:ln w="50800">
            <a:solidFill>
              <a:srgbClr val="FF0000">
                <a:alpha val="81960"/>
              </a:srgb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8923" name="Rectangle 10"/>
          <p:cNvSpPr>
            <a:spLocks noChangeArrowheads="1"/>
          </p:cNvSpPr>
          <p:nvPr/>
        </p:nvSpPr>
        <p:spPr bwMode="auto">
          <a:xfrm>
            <a:off x="2444750" y="4349750"/>
            <a:ext cx="139700" cy="1397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38924" name="Rectangle 11"/>
          <p:cNvSpPr>
            <a:spLocks noChangeArrowheads="1"/>
          </p:cNvSpPr>
          <p:nvPr/>
        </p:nvSpPr>
        <p:spPr bwMode="auto">
          <a:xfrm>
            <a:off x="2444750" y="4502150"/>
            <a:ext cx="139700" cy="1397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38925" name="Rectangle 12"/>
          <p:cNvSpPr>
            <a:spLocks noChangeArrowheads="1"/>
          </p:cNvSpPr>
          <p:nvPr/>
        </p:nvSpPr>
        <p:spPr bwMode="auto">
          <a:xfrm>
            <a:off x="2444750" y="4654550"/>
            <a:ext cx="139700" cy="1397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38926" name="Rectangle 13"/>
          <p:cNvSpPr>
            <a:spLocks noChangeArrowheads="1"/>
          </p:cNvSpPr>
          <p:nvPr/>
        </p:nvSpPr>
        <p:spPr bwMode="auto">
          <a:xfrm>
            <a:off x="2444750" y="4806950"/>
            <a:ext cx="139700" cy="1397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38927" name="Rectangle 14"/>
          <p:cNvSpPr>
            <a:spLocks noChangeArrowheads="1"/>
          </p:cNvSpPr>
          <p:nvPr/>
        </p:nvSpPr>
        <p:spPr bwMode="auto">
          <a:xfrm>
            <a:off x="2444750" y="4959350"/>
            <a:ext cx="139700" cy="1397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38928" name="Line 15"/>
          <p:cNvSpPr>
            <a:spLocks noChangeShapeType="1"/>
          </p:cNvSpPr>
          <p:nvPr/>
        </p:nvSpPr>
        <p:spPr bwMode="auto">
          <a:xfrm flipV="1">
            <a:off x="1835150" y="4870450"/>
            <a:ext cx="520700" cy="698500"/>
          </a:xfrm>
          <a:prstGeom prst="line">
            <a:avLst/>
          </a:prstGeom>
          <a:noFill/>
          <a:ln w="50800">
            <a:solidFill>
              <a:srgbClr val="FF0000">
                <a:alpha val="81960"/>
              </a:srgb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8929" name="Line 16"/>
          <p:cNvSpPr>
            <a:spLocks noChangeShapeType="1"/>
          </p:cNvSpPr>
          <p:nvPr/>
        </p:nvSpPr>
        <p:spPr bwMode="auto">
          <a:xfrm flipV="1">
            <a:off x="2520950" y="4429125"/>
            <a:ext cx="1122363" cy="301625"/>
          </a:xfrm>
          <a:prstGeom prst="line">
            <a:avLst/>
          </a:prstGeom>
          <a:noFill/>
          <a:ln w="50800">
            <a:solidFill>
              <a:srgbClr val="FF0000">
                <a:alpha val="81960"/>
              </a:srgb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8930" name="Rectangle 17"/>
          <p:cNvSpPr>
            <a:spLocks noChangeArrowheads="1"/>
          </p:cNvSpPr>
          <p:nvPr/>
        </p:nvSpPr>
        <p:spPr bwMode="auto">
          <a:xfrm>
            <a:off x="3581400" y="4267200"/>
            <a:ext cx="685800" cy="381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8931" name="Rectangle 18"/>
          <p:cNvSpPr>
            <a:spLocks noChangeArrowheads="1"/>
          </p:cNvSpPr>
          <p:nvPr/>
        </p:nvSpPr>
        <p:spPr bwMode="auto">
          <a:xfrm>
            <a:off x="2798763" y="5610225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2000" b="1">
                <a:solidFill>
                  <a:srgbClr val="FFFF00"/>
                </a:solidFill>
                <a:latin typeface="Arial" pitchFamily="34" charset="0"/>
              </a:rPr>
              <a:t>Kernel</a:t>
            </a:r>
          </a:p>
        </p:txBody>
      </p:sp>
      <p:sp>
        <p:nvSpPr>
          <p:cNvPr id="38932" name="Rectangle 19"/>
          <p:cNvSpPr>
            <a:spLocks noChangeArrowheads="1"/>
          </p:cNvSpPr>
          <p:nvPr/>
        </p:nvSpPr>
        <p:spPr bwMode="auto">
          <a:xfrm>
            <a:off x="1274763" y="44672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US" altLang="en-AU" b="1">
                <a:latin typeface="Arial" pitchFamily="34" charset="0"/>
              </a:rPr>
              <a:t>1</a:t>
            </a:r>
          </a:p>
        </p:txBody>
      </p:sp>
      <p:sp>
        <p:nvSpPr>
          <p:cNvPr id="38933" name="Rectangle 20"/>
          <p:cNvSpPr>
            <a:spLocks noChangeArrowheads="1"/>
          </p:cNvSpPr>
          <p:nvPr/>
        </p:nvSpPr>
        <p:spPr bwMode="auto">
          <a:xfrm>
            <a:off x="2036763" y="53054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US" altLang="en-AU" b="1">
                <a:latin typeface="Arial" pitchFamily="34" charset="0"/>
              </a:rPr>
              <a:t>2</a:t>
            </a:r>
          </a:p>
        </p:txBody>
      </p:sp>
      <p:sp>
        <p:nvSpPr>
          <p:cNvPr id="38934" name="Rectangle 21"/>
          <p:cNvSpPr>
            <a:spLocks noChangeArrowheads="1"/>
          </p:cNvSpPr>
          <p:nvPr/>
        </p:nvSpPr>
        <p:spPr bwMode="auto">
          <a:xfrm>
            <a:off x="2951163" y="45434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US" altLang="en-AU" b="1">
                <a:latin typeface="Arial" pitchFamily="34" charset="0"/>
              </a:rPr>
              <a:t>3</a:t>
            </a:r>
          </a:p>
        </p:txBody>
      </p:sp>
      <p:sp>
        <p:nvSpPr>
          <p:cNvPr id="38935" name="Line 22"/>
          <p:cNvSpPr>
            <a:spLocks noChangeShapeType="1"/>
          </p:cNvSpPr>
          <p:nvPr/>
        </p:nvSpPr>
        <p:spPr bwMode="auto">
          <a:xfrm flipV="1">
            <a:off x="4495800" y="736600"/>
            <a:ext cx="0" cy="3327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8936" name="Line 23"/>
          <p:cNvSpPr>
            <a:spLocks noChangeShapeType="1"/>
          </p:cNvSpPr>
          <p:nvPr/>
        </p:nvSpPr>
        <p:spPr bwMode="auto">
          <a:xfrm>
            <a:off x="4495800" y="4140200"/>
            <a:ext cx="0" cy="1701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8937" name="Rectangle 24"/>
          <p:cNvSpPr>
            <a:spLocks noChangeArrowheads="1"/>
          </p:cNvSpPr>
          <p:nvPr/>
        </p:nvSpPr>
        <p:spPr bwMode="auto">
          <a:xfrm>
            <a:off x="4800600" y="5610225"/>
            <a:ext cx="2452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b="1">
                <a:solidFill>
                  <a:srgbClr val="CCFFFF"/>
                </a:solidFill>
                <a:latin typeface="Arial" pitchFamily="34" charset="0"/>
              </a:rPr>
              <a:t>System/Kernel Mode</a:t>
            </a:r>
          </a:p>
        </p:txBody>
      </p:sp>
      <p:sp>
        <p:nvSpPr>
          <p:cNvPr id="47132" name="Rectangle 25"/>
          <p:cNvSpPr>
            <a:spLocks noChangeArrowheads="1"/>
          </p:cNvSpPr>
          <p:nvPr/>
        </p:nvSpPr>
        <p:spPr bwMode="auto">
          <a:xfrm>
            <a:off x="5160963" y="733425"/>
            <a:ext cx="1493837" cy="396875"/>
          </a:xfrm>
          <a:prstGeom prst="rect">
            <a:avLst/>
          </a:prstGeom>
          <a:noFill/>
          <a:ln w="508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rtl="0" eaLnBrk="0" hangingPunct="0">
              <a:defRPr/>
            </a:pPr>
            <a:r>
              <a:rPr lang="en-AU" altLang="he-IL" sz="2000" b="1" dirty="0">
                <a:solidFill>
                  <a:schemeClr val="tx1">
                    <a:lumMod val="95000"/>
                  </a:schemeClr>
                </a:solidFill>
                <a:latin typeface="Arial" pitchFamily="34" charset="0"/>
              </a:rPr>
              <a:t>User Mode</a:t>
            </a:r>
          </a:p>
        </p:txBody>
      </p:sp>
      <p:sp>
        <p:nvSpPr>
          <p:cNvPr id="39965" name="Rectangle 26"/>
          <p:cNvSpPr>
            <a:spLocks noChangeArrowheads="1"/>
          </p:cNvSpPr>
          <p:nvPr/>
        </p:nvSpPr>
        <p:spPr bwMode="auto">
          <a:xfrm>
            <a:off x="4724400" y="1728788"/>
            <a:ext cx="4013200" cy="2675091"/>
          </a:xfrm>
          <a:prstGeom prst="rect">
            <a:avLst/>
          </a:prstGeom>
          <a:noFill/>
          <a:ln w="508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rtl="0" eaLnBrk="0" hangingPunct="0">
              <a:defRPr/>
            </a:pPr>
            <a:r>
              <a:rPr lang="he-IL" altLang="en-AU" sz="2400" b="1" dirty="0">
                <a:solidFill>
                  <a:srgbClr val="FFC000"/>
                </a:solidFill>
                <a:latin typeface="Arial" pitchFamily="34" charset="0"/>
                <a:cs typeface="+mn-cs"/>
              </a:rPr>
              <a:t>1. התוכנית </a:t>
            </a:r>
            <a:r>
              <a:rPr lang="he-IL" altLang="en-AU" sz="2400" b="1" dirty="0" smtClean="0">
                <a:solidFill>
                  <a:srgbClr val="FFC000"/>
                </a:solidFill>
                <a:latin typeface="Arial" pitchFamily="34" charset="0"/>
                <a:cs typeface="+mn-cs"/>
              </a:rPr>
              <a:t>נתפסת</a:t>
            </a:r>
            <a:endParaRPr lang="he-IL" altLang="en-AU" sz="2400" b="1" dirty="0">
              <a:solidFill>
                <a:srgbClr val="FFC000"/>
              </a:solidFill>
              <a:latin typeface="Arial" pitchFamily="34" charset="0"/>
              <a:cs typeface="+mn-cs"/>
            </a:endParaRPr>
          </a:p>
          <a:p>
            <a:pPr rtl="0" eaLnBrk="0" hangingPunct="0">
              <a:defRPr/>
            </a:pPr>
            <a:r>
              <a:rPr lang="he-IL" altLang="en-AU" sz="2400" b="1" dirty="0">
                <a:solidFill>
                  <a:srgbClr val="FFC000"/>
                </a:solidFill>
                <a:latin typeface="Arial" pitchFamily="34" charset="0"/>
                <a:cs typeface="+mn-cs"/>
              </a:rPr>
              <a:t>2. מערכת ההפעלה קובעת </a:t>
            </a:r>
            <a:r>
              <a:rPr lang="he-IL" altLang="en-AU" sz="2400" b="1" dirty="0" smtClean="0">
                <a:solidFill>
                  <a:srgbClr val="FFC000"/>
                </a:solidFill>
                <a:latin typeface="Arial" pitchFamily="34" charset="0"/>
                <a:cs typeface="+mn-cs"/>
              </a:rPr>
              <a:t>מספר שירות</a:t>
            </a:r>
            <a:endParaRPr lang="he-IL" altLang="en-AU" sz="2400" b="1" dirty="0">
              <a:solidFill>
                <a:srgbClr val="FFC000"/>
              </a:solidFill>
              <a:latin typeface="Arial" pitchFamily="34" charset="0"/>
              <a:cs typeface="+mn-cs"/>
            </a:endParaRPr>
          </a:p>
          <a:p>
            <a:pPr rtl="0" eaLnBrk="0" hangingPunct="0">
              <a:defRPr/>
            </a:pPr>
            <a:r>
              <a:rPr lang="he-IL" altLang="en-AU" sz="2400" b="1" dirty="0">
                <a:solidFill>
                  <a:srgbClr val="FFC000"/>
                </a:solidFill>
                <a:latin typeface="Arial" pitchFamily="34" charset="0"/>
                <a:cs typeface="+mn-cs"/>
              </a:rPr>
              <a:t>3. השירות נמצא </a:t>
            </a:r>
            <a:r>
              <a:rPr lang="he-IL" altLang="en-AU" sz="2400" b="1" dirty="0" smtClean="0">
                <a:solidFill>
                  <a:srgbClr val="FFC000"/>
                </a:solidFill>
                <a:latin typeface="Arial" pitchFamily="34" charset="0"/>
                <a:cs typeface="+mn-cs"/>
              </a:rPr>
              <a:t>ויצא </a:t>
            </a:r>
            <a:r>
              <a:rPr lang="he-IL" altLang="en-AU" sz="2400" b="1" dirty="0">
                <a:solidFill>
                  <a:srgbClr val="FFC000"/>
                </a:solidFill>
                <a:latin typeface="Arial" pitchFamily="34" charset="0"/>
                <a:cs typeface="+mn-cs"/>
              </a:rPr>
              <a:t>לפועל</a:t>
            </a:r>
            <a:r>
              <a:rPr lang="he-IL" altLang="en-AU" sz="2400" b="1" dirty="0" smtClean="0">
                <a:solidFill>
                  <a:srgbClr val="FFC000"/>
                </a:solidFill>
                <a:latin typeface="Arial" pitchFamily="34" charset="0"/>
                <a:cs typeface="+mn-cs"/>
              </a:rPr>
              <a:t>.</a:t>
            </a:r>
          </a:p>
          <a:p>
            <a:pPr rtl="0" eaLnBrk="0" hangingPunct="0">
              <a:defRPr/>
            </a:pPr>
            <a:r>
              <a:rPr lang="he-IL" altLang="en-AU" sz="2400" b="1" dirty="0" smtClean="0">
                <a:solidFill>
                  <a:srgbClr val="FFC000"/>
                </a:solidFill>
                <a:latin typeface="Arial" pitchFamily="34" charset="0"/>
                <a:cs typeface="+mn-cs"/>
              </a:rPr>
              <a:t>4.</a:t>
            </a:r>
            <a:endParaRPr lang="he-IL" altLang="en-AU" sz="2400" b="1" dirty="0">
              <a:solidFill>
                <a:srgbClr val="FFC000"/>
              </a:solidFill>
              <a:latin typeface="Arial" pitchFamily="34" charset="0"/>
              <a:cs typeface="+mn-cs"/>
            </a:endParaRPr>
          </a:p>
          <a:p>
            <a:pPr rtl="0" eaLnBrk="0" hangingPunct="0">
              <a:defRPr/>
            </a:pPr>
            <a:r>
              <a:rPr lang="he-IL" altLang="en-AU" sz="2400" b="1" dirty="0" smtClean="0">
                <a:solidFill>
                  <a:srgbClr val="FFC000"/>
                </a:solidFill>
                <a:latin typeface="Arial" pitchFamily="34" charset="0"/>
                <a:cs typeface="+mn-cs"/>
              </a:rPr>
              <a:t> </a:t>
            </a:r>
            <a:r>
              <a:rPr lang="en-US" altLang="en-AU" sz="2400" b="1" dirty="0">
                <a:solidFill>
                  <a:srgbClr val="FFC000"/>
                </a:solidFill>
                <a:latin typeface="Arial" pitchFamily="34" charset="0"/>
                <a:cs typeface="+mn-cs"/>
              </a:rPr>
              <a:t>Control </a:t>
            </a:r>
            <a:r>
              <a:rPr lang="he-IL" altLang="en-AU" sz="2400" b="1" dirty="0">
                <a:solidFill>
                  <a:srgbClr val="FFC000"/>
                </a:solidFill>
                <a:latin typeface="Arial" pitchFamily="34" charset="0"/>
                <a:cs typeface="+mn-cs"/>
              </a:rPr>
              <a:t>חוזר למשתמש</a:t>
            </a:r>
          </a:p>
          <a:p>
            <a:pPr rtl="0" eaLnBrk="0" hangingPunct="0">
              <a:defRPr/>
            </a:pPr>
            <a:r>
              <a:rPr lang="he-IL" altLang="en-AU" sz="2400" b="1" dirty="0">
                <a:solidFill>
                  <a:srgbClr val="FFC000"/>
                </a:solidFill>
                <a:latin typeface="Arial" pitchFamily="34" charset="0"/>
                <a:cs typeface="+mn-cs"/>
              </a:rPr>
              <a:t>      תכנית.</a:t>
            </a:r>
            <a:endParaRPr lang="en-US" altLang="en-AU" sz="2400" b="1" dirty="0">
              <a:solidFill>
                <a:srgbClr val="FFC000"/>
              </a:solidFill>
              <a:latin typeface="Arial" pitchFamily="34" charset="0"/>
              <a:cs typeface="+mn-cs"/>
            </a:endParaRPr>
          </a:p>
        </p:txBody>
      </p:sp>
      <p:sp>
        <p:nvSpPr>
          <p:cNvPr id="38940" name="Line 27"/>
          <p:cNvSpPr>
            <a:spLocks noChangeShapeType="1"/>
          </p:cNvSpPr>
          <p:nvPr/>
        </p:nvSpPr>
        <p:spPr bwMode="invGray">
          <a:xfrm flipH="1" flipV="1">
            <a:off x="2279650" y="3651250"/>
            <a:ext cx="1689100" cy="546100"/>
          </a:xfrm>
          <a:prstGeom prst="line">
            <a:avLst/>
          </a:prstGeom>
          <a:noFill/>
          <a:ln w="50800">
            <a:solidFill>
              <a:srgbClr val="FF0000">
                <a:alpha val="81960"/>
              </a:srgb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8941" name="Rectangle 28"/>
          <p:cNvSpPr>
            <a:spLocks noChangeArrowheads="1"/>
          </p:cNvSpPr>
          <p:nvPr/>
        </p:nvSpPr>
        <p:spPr bwMode="auto">
          <a:xfrm>
            <a:off x="3103563" y="35528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US" altLang="en-AU" b="1">
                <a:latin typeface="Arial" pitchFamily="34" charset="0"/>
              </a:rPr>
              <a:t>4</a:t>
            </a:r>
          </a:p>
        </p:txBody>
      </p:sp>
      <p:sp>
        <p:nvSpPr>
          <p:cNvPr id="38942" name="Rectangle 29"/>
          <p:cNvSpPr>
            <a:spLocks noChangeArrowheads="1"/>
          </p:cNvSpPr>
          <p:nvPr/>
        </p:nvSpPr>
        <p:spPr bwMode="auto">
          <a:xfrm>
            <a:off x="5562600" y="4664075"/>
            <a:ext cx="31654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rtl="0" eaLnBrk="0" hangingPunct="0"/>
            <a:r>
              <a:rPr lang="en-AU" altLang="he-IL" sz="1600">
                <a:latin typeface="Arial" pitchFamily="34" charset="0"/>
              </a:rPr>
              <a:t>Based on a diagram from </a:t>
            </a:r>
          </a:p>
          <a:p>
            <a:pPr algn="l" rtl="0" eaLnBrk="0" hangingPunct="0"/>
            <a:r>
              <a:rPr lang="en-AU" altLang="he-IL" sz="1600">
                <a:latin typeface="Arial" pitchFamily="34" charset="0"/>
              </a:rPr>
              <a:t>“Modern Operating Systems” by</a:t>
            </a:r>
          </a:p>
          <a:p>
            <a:pPr algn="l" rtl="0" eaLnBrk="0" hangingPunct="0"/>
            <a:r>
              <a:rPr lang="en-AU" altLang="he-IL" sz="1600">
                <a:latin typeface="Arial" pitchFamily="34" charset="0"/>
              </a:rPr>
              <a:t>Andrew Tanenbaum.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מבנה השכבות של מערכת הפעלה</a:t>
            </a:r>
            <a:endParaRPr lang="en-US" altLang="en-AU" sz="4000" b="1" i="1" dirty="0" smtClean="0">
              <a:solidFill>
                <a:srgbClr val="FFFF00"/>
              </a:solidFill>
            </a:endParaRPr>
          </a:p>
        </p:txBody>
      </p:sp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91665"/>
              </p:ext>
            </p:extLst>
          </p:nvPr>
        </p:nvGraphicFramePr>
        <p:xfrm>
          <a:off x="395536" y="1700808"/>
          <a:ext cx="8424936" cy="4536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Layer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Function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5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The operator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4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User</a:t>
                      </a:r>
                      <a:r>
                        <a:rPr lang="en-US" sz="2800" b="1" baseline="0" dirty="0" smtClean="0"/>
                        <a:t> programs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3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Input &amp; Output management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2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Operator-process communication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1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Memory management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 smtClean="0"/>
                        <a:t>Processor allocation and multiprogramming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סוגי מבני </a:t>
            </a:r>
            <a:r>
              <a:rPr lang="he-IL" altLang="en-AU" sz="4000" b="1" i="1" dirty="0" smtClean="0">
                <a:solidFill>
                  <a:srgbClr val="FFFF00"/>
                </a:solidFill>
              </a:rPr>
              <a:t>מערכת הפעלה</a:t>
            </a:r>
            <a:endParaRPr lang="en-US" altLang="en-AU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979613" y="1752600"/>
            <a:ext cx="6588125" cy="2765425"/>
          </a:xfrm>
        </p:spPr>
        <p:txBody>
          <a:bodyPr/>
          <a:lstStyle/>
          <a:p>
            <a:pPr eaLnBrk="1" hangingPunct="1"/>
            <a:r>
              <a:rPr lang="he-IL" altLang="en-US" b="1" smtClean="0"/>
              <a:t>מערכת עשויה מקשה אחת</a:t>
            </a:r>
            <a:endParaRPr lang="en-US" altLang="en-US" b="1" smtClean="0"/>
          </a:p>
          <a:p>
            <a:pPr eaLnBrk="1" hangingPunct="1"/>
            <a:r>
              <a:rPr lang="he-IL" altLang="en-US" b="1" smtClean="0"/>
              <a:t>מערכת היררכית המבוססת על שכבות </a:t>
            </a:r>
            <a:endParaRPr lang="en-US" altLang="en-US" b="1" smtClean="0"/>
          </a:p>
          <a:p>
            <a:pPr eaLnBrk="1" hangingPunct="1"/>
            <a:r>
              <a:rPr lang="he-IL" altLang="en-US" b="1" smtClean="0"/>
              <a:t>מערכת מכונה וירטואלית</a:t>
            </a:r>
            <a:endParaRPr lang="en-US" altLang="en-US" b="1" smtClean="0"/>
          </a:p>
          <a:p>
            <a:pPr eaLnBrk="1" hangingPunct="1"/>
            <a:r>
              <a:rPr lang="he-IL" altLang="en-US" b="1" smtClean="0"/>
              <a:t>מיקרו גרעין - מתאים למודל שרת/לקוח</a:t>
            </a:r>
            <a:endParaRPr lang="en-US" altLang="en-US" b="1" smtClean="0"/>
          </a:p>
          <a:p>
            <a:pPr eaLnBrk="1" hangingPunct="1">
              <a:buFont typeface="Wingdings" pitchFamily="2" charset="2"/>
              <a:buNone/>
            </a:pPr>
            <a:endParaRPr lang="en-US" altLang="he-IL" b="1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179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US" sz="4000" b="1" i="1" dirty="0" smtClean="0">
                <a:solidFill>
                  <a:srgbClr val="FFFF00"/>
                </a:solidFill>
              </a:rPr>
              <a:t>מערכת עשויה מקשה אחת</a:t>
            </a:r>
            <a:endParaRPr lang="en-US" altLang="he-IL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739900"/>
            <a:ext cx="8512175" cy="1976438"/>
          </a:xfrm>
        </p:spPr>
        <p:txBody>
          <a:bodyPr/>
          <a:lstStyle/>
          <a:p>
            <a:pPr algn="just" eaLnBrk="1" hangingPunct="1"/>
            <a:r>
              <a:rPr lang="he-IL" altLang="en-AU" b="1" smtClean="0"/>
              <a:t>למערכת ההפעלה אין מבנה אלא היא אוסף של פרוצדורות המוגדרות היטב ע”י מישק פקודות קריאה</a:t>
            </a:r>
            <a:endParaRPr lang="en-US" altLang="en-AU" b="1" smtClean="0"/>
          </a:p>
          <a:p>
            <a:pPr algn="just" eaLnBrk="1" hangingPunct="1"/>
            <a:r>
              <a:rPr lang="he-IL" altLang="en-AU" b="1" smtClean="0"/>
              <a:t>תוכנית - המישק למערכת ההפעלה הוא דרך מערכת קריאה של משגיח-על</a:t>
            </a:r>
            <a:r>
              <a:rPr lang="en-US" altLang="en-AU" b="1" smtClean="0"/>
              <a:t>  </a:t>
            </a:r>
            <a:r>
              <a:rPr lang="en-AU" altLang="he-IL" b="1" smtClean="0"/>
              <a:t>SVC    </a:t>
            </a:r>
          </a:p>
        </p:txBody>
      </p:sp>
      <p:grpSp>
        <p:nvGrpSpPr>
          <p:cNvPr id="40965" name="Group 17"/>
          <p:cNvGrpSpPr>
            <a:grpSpLocks/>
          </p:cNvGrpSpPr>
          <p:nvPr/>
        </p:nvGrpSpPr>
        <p:grpSpPr bwMode="auto">
          <a:xfrm>
            <a:off x="468313" y="3789363"/>
            <a:ext cx="8104187" cy="1747837"/>
            <a:chOff x="672" y="2976"/>
            <a:chExt cx="4955" cy="624"/>
          </a:xfrm>
        </p:grpSpPr>
        <p:grpSp>
          <p:nvGrpSpPr>
            <p:cNvPr id="40972" name="Group 4"/>
            <p:cNvGrpSpPr>
              <a:grpSpLocks/>
            </p:cNvGrpSpPr>
            <p:nvPr/>
          </p:nvGrpSpPr>
          <p:grpSpPr bwMode="auto">
            <a:xfrm>
              <a:off x="2439" y="3168"/>
              <a:ext cx="3188" cy="432"/>
              <a:chOff x="2439" y="3168"/>
              <a:chExt cx="3188" cy="432"/>
            </a:xfrm>
          </p:grpSpPr>
          <p:sp>
            <p:nvSpPr>
              <p:cNvPr id="40975" name="Oval 5"/>
              <p:cNvSpPr>
                <a:spLocks noChangeArrowheads="1"/>
              </p:cNvSpPr>
              <p:nvPr/>
            </p:nvSpPr>
            <p:spPr bwMode="auto">
              <a:xfrm>
                <a:off x="2439" y="3168"/>
                <a:ext cx="960" cy="432"/>
              </a:xfrm>
              <a:prstGeom prst="ellipse">
                <a:avLst/>
              </a:prstGeom>
              <a:solidFill>
                <a:srgbClr val="FFFF00"/>
              </a:solidFill>
              <a:ln w="38100">
                <a:solidFill>
                  <a:srgbClr val="CC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rtl="0" eaLnBrk="0" hangingPunct="0"/>
                <a:r>
                  <a:rPr lang="en-AU" altLang="he-IL" sz="2400" b="1">
                    <a:solidFill>
                      <a:schemeClr val="bg1"/>
                    </a:solidFill>
                    <a:latin typeface="Times New Roman" pitchFamily="18" charset="0"/>
                  </a:rPr>
                  <a:t>Interrupt</a:t>
                </a:r>
              </a:p>
              <a:p>
                <a:pPr algn="ctr" rtl="0" eaLnBrk="0" hangingPunct="0"/>
                <a:r>
                  <a:rPr lang="en-AU" altLang="he-IL" sz="2400" b="1">
                    <a:solidFill>
                      <a:schemeClr val="bg1"/>
                    </a:solidFill>
                    <a:latin typeface="Times New Roman" pitchFamily="18" charset="0"/>
                  </a:rPr>
                  <a:t> Handler</a:t>
                </a:r>
              </a:p>
            </p:txBody>
          </p:sp>
          <p:sp>
            <p:nvSpPr>
              <p:cNvPr id="40976" name="Oval 6"/>
              <p:cNvSpPr>
                <a:spLocks noChangeArrowheads="1"/>
              </p:cNvSpPr>
              <p:nvPr/>
            </p:nvSpPr>
            <p:spPr bwMode="auto">
              <a:xfrm>
                <a:off x="4235" y="3216"/>
                <a:ext cx="1392" cy="336"/>
              </a:xfrm>
              <a:prstGeom prst="ellipse">
                <a:avLst/>
              </a:prstGeom>
              <a:solidFill>
                <a:srgbClr val="FFFF00"/>
              </a:solidFill>
              <a:ln w="38100">
                <a:solidFill>
                  <a:srgbClr val="CC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rtl="0" eaLnBrk="0" hangingPunct="0"/>
                <a:r>
                  <a:rPr lang="en-AU" altLang="he-IL" sz="2400" b="1">
                    <a:solidFill>
                      <a:schemeClr val="bg1"/>
                    </a:solidFill>
                    <a:latin typeface="Times New Roman" pitchFamily="18" charset="0"/>
                  </a:rPr>
                  <a:t>Service routine</a:t>
                </a:r>
              </a:p>
            </p:txBody>
          </p:sp>
        </p:grpSp>
        <p:sp>
          <p:nvSpPr>
            <p:cNvPr id="40973" name="Text Box 7"/>
            <p:cNvSpPr txBox="1">
              <a:spLocks noChangeArrowheads="1"/>
            </p:cNvSpPr>
            <p:nvPr/>
          </p:nvSpPr>
          <p:spPr bwMode="auto">
            <a:xfrm>
              <a:off x="1728" y="2976"/>
              <a:ext cx="490" cy="165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CCFFFF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rtl="0"/>
              <a:r>
                <a:rPr lang="en-AU" altLang="he-IL" sz="2400" b="1">
                  <a:solidFill>
                    <a:schemeClr val="bg1"/>
                  </a:solidFill>
                  <a:latin typeface="Times New Roman" pitchFamily="18" charset="0"/>
                </a:rPr>
                <a:t>SVC</a:t>
              </a:r>
            </a:p>
          </p:txBody>
        </p:sp>
        <p:sp>
          <p:nvSpPr>
            <p:cNvPr id="40974" name="Oval 12"/>
            <p:cNvSpPr>
              <a:spLocks noChangeArrowheads="1"/>
            </p:cNvSpPr>
            <p:nvPr/>
          </p:nvSpPr>
          <p:spPr bwMode="auto">
            <a:xfrm>
              <a:off x="672" y="3120"/>
              <a:ext cx="960" cy="480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CC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2400" b="1">
                  <a:solidFill>
                    <a:schemeClr val="bg1"/>
                  </a:solidFill>
                  <a:latin typeface="Times New Roman" pitchFamily="18" charset="0"/>
                </a:rPr>
                <a:t>Program</a:t>
              </a:r>
            </a:p>
          </p:txBody>
        </p:sp>
      </p:grpSp>
      <p:cxnSp>
        <p:nvCxnSpPr>
          <p:cNvPr id="24" name="Straight Arrow Connector 23"/>
          <p:cNvCxnSpPr>
            <a:stCxn id="40976" idx="4"/>
          </p:cNvCxnSpPr>
          <p:nvPr/>
        </p:nvCxnSpPr>
        <p:spPr>
          <a:xfrm rot="5400000">
            <a:off x="7025482" y="5806281"/>
            <a:ext cx="812800" cy="4763"/>
          </a:xfrm>
          <a:prstGeom prst="straightConnector1">
            <a:avLst/>
          </a:prstGeom>
          <a:ln w="76200">
            <a:solidFill>
              <a:srgbClr val="CC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0800000">
            <a:off x="1285875" y="6215063"/>
            <a:ext cx="6143625" cy="0"/>
          </a:xfrm>
          <a:prstGeom prst="straightConnector1">
            <a:avLst/>
          </a:prstGeom>
          <a:ln w="76200">
            <a:solidFill>
              <a:srgbClr val="CC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16200000" flipV="1">
            <a:off x="967581" y="5890419"/>
            <a:ext cx="642938" cy="6350"/>
          </a:xfrm>
          <a:prstGeom prst="straightConnector1">
            <a:avLst/>
          </a:prstGeom>
          <a:ln w="76200">
            <a:solidFill>
              <a:srgbClr val="CC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40975" idx="2"/>
          </p:cNvCxnSpPr>
          <p:nvPr/>
        </p:nvCxnSpPr>
        <p:spPr>
          <a:xfrm>
            <a:off x="2000250" y="4929188"/>
            <a:ext cx="1358900" cy="3175"/>
          </a:xfrm>
          <a:prstGeom prst="straightConnector1">
            <a:avLst/>
          </a:prstGeom>
          <a:ln w="76200">
            <a:solidFill>
              <a:srgbClr val="CC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4929188" y="4929188"/>
            <a:ext cx="1358900" cy="3175"/>
          </a:xfrm>
          <a:prstGeom prst="straightConnector1">
            <a:avLst/>
          </a:prstGeom>
          <a:ln w="76200">
            <a:solidFill>
              <a:srgbClr val="CC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38" y="771511"/>
            <a:ext cx="7556500" cy="657225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US" sz="4000" b="1" i="1" dirty="0" smtClean="0">
                <a:solidFill>
                  <a:srgbClr val="FFFF00"/>
                </a:solidFill>
              </a:rPr>
              <a:t>מערכת עשויה מקשה אחת (המשך)</a:t>
            </a:r>
            <a:endParaRPr lang="en-GB" altLang="en-US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556792"/>
            <a:ext cx="8132564" cy="475252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he-IL" altLang="en-AU" b="1" dirty="0" smtClean="0"/>
              <a:t>הקוד של מערכת ההפעלה הוא </a:t>
            </a:r>
            <a:r>
              <a:rPr lang="he-IL" altLang="en-AU" b="1" dirty="0" err="1" smtClean="0"/>
              <a:t>תוכנית</a:t>
            </a:r>
            <a:r>
              <a:rPr lang="he-IL" altLang="en-AU" b="1" dirty="0" smtClean="0"/>
              <a:t> </a:t>
            </a:r>
            <a:r>
              <a:rPr lang="he-IL" altLang="en-AU" b="1" dirty="0" smtClean="0"/>
              <a:t>הכורכת </a:t>
            </a:r>
            <a:r>
              <a:rPr lang="he-IL" altLang="en-AU" b="1" dirty="0" smtClean="0"/>
              <a:t>אובייקטים  וקוד המקור מחולק באופן לוגי ל:</a:t>
            </a:r>
            <a:endParaRPr lang="en-US" altLang="en-AU" b="1" dirty="0" smtClean="0"/>
          </a:p>
          <a:p>
            <a:pPr eaLnBrk="1" hangingPunct="1">
              <a:lnSpc>
                <a:spcPct val="150000"/>
              </a:lnSpc>
            </a:pPr>
            <a:r>
              <a:rPr lang="he-IL" altLang="en-AU" b="1" dirty="0" err="1" smtClean="0"/>
              <a:t>תוכנית</a:t>
            </a:r>
            <a:r>
              <a:rPr lang="he-IL" altLang="en-AU" b="1" dirty="0" smtClean="0"/>
              <a:t> ראשית של מערכת ההפעלה</a:t>
            </a:r>
            <a:endParaRPr lang="en-US" altLang="en-AU" b="1" dirty="0" smtClean="0"/>
          </a:p>
          <a:p>
            <a:pPr eaLnBrk="1" hangingPunct="1">
              <a:lnSpc>
                <a:spcPct val="150000"/>
              </a:lnSpc>
            </a:pPr>
            <a:r>
              <a:rPr lang="he-IL" altLang="en-AU" b="1" dirty="0" smtClean="0"/>
              <a:t>שגרת קריאה למערכת ההפעלה</a:t>
            </a:r>
            <a:endParaRPr lang="en-US" altLang="en-AU" b="1" dirty="0" smtClean="0"/>
          </a:p>
          <a:p>
            <a:pPr eaLnBrk="1" hangingPunct="1">
              <a:lnSpc>
                <a:spcPct val="150000"/>
              </a:lnSpc>
            </a:pPr>
            <a:r>
              <a:rPr lang="he-IL" altLang="en-AU" b="1" dirty="0" smtClean="0"/>
              <a:t>פרוצדורה המיועדת לשפר את ביצועי שגרות השרות ע”י הגדלת התועלת והיעילות</a:t>
            </a:r>
            <a:endParaRPr lang="en-US" altLang="he-IL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356"/>
            <a:ext cx="8229600" cy="682180"/>
          </a:xfrm>
        </p:spPr>
        <p:txBody>
          <a:bodyPr>
            <a:normAutofit fontScale="90000"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US" b="1" i="1" dirty="0" smtClean="0">
                <a:solidFill>
                  <a:srgbClr val="FFFF00"/>
                </a:solidFill>
              </a:rPr>
              <a:t>מערכת היררכית המבוססת על שכבות</a:t>
            </a:r>
            <a:endParaRPr lang="en-US" altLang="he-IL" b="1" i="1" dirty="0" smtClean="0">
              <a:solidFill>
                <a:srgbClr val="FFFF00"/>
              </a:solidFill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475481" y="1268760"/>
            <a:ext cx="8067675" cy="43910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he-IL" altLang="en-AU" b="1" dirty="0" smtClean="0"/>
              <a:t>מבנה אצווה </a:t>
            </a:r>
            <a:r>
              <a:rPr lang="en-US" altLang="en-AU" b="1" dirty="0" smtClean="0">
                <a:solidFill>
                  <a:srgbClr val="FFFF00"/>
                </a:solidFill>
              </a:rPr>
              <a:t>BATCH</a:t>
            </a:r>
            <a:r>
              <a:rPr lang="he-IL" altLang="en-AU" b="1" dirty="0" smtClean="0"/>
              <a:t> של מערכת ההפעלה:</a:t>
            </a:r>
          </a:p>
          <a:p>
            <a:pPr algn="just">
              <a:lnSpc>
                <a:spcPct val="150000"/>
              </a:lnSpc>
              <a:buFont typeface="Wingdings 2" pitchFamily="18" charset="2"/>
              <a:buNone/>
            </a:pPr>
            <a:r>
              <a:rPr lang="he-IL" altLang="he-IL" b="1" dirty="0" smtClean="0">
                <a:latin typeface="Times New Roman" pitchFamily="18" charset="0"/>
              </a:rPr>
              <a:t>0. </a:t>
            </a:r>
            <a:r>
              <a:rPr lang="he-IL" altLang="en-AU" b="1" dirty="0" smtClean="0">
                <a:latin typeface="Times New Roman" pitchFamily="18" charset="0"/>
              </a:rPr>
              <a:t>ניהול יחידת העיבוד המרכזית- </a:t>
            </a:r>
            <a:r>
              <a:rPr lang="en-US" altLang="en-AU" b="1" dirty="0" smtClean="0">
                <a:solidFill>
                  <a:srgbClr val="FFFF00"/>
                </a:solidFill>
                <a:latin typeface="Times New Roman" pitchFamily="18" charset="0"/>
              </a:rPr>
              <a:t>CPU</a:t>
            </a:r>
            <a:endParaRPr lang="he-IL" altLang="en-AU" b="1" dirty="0" smtClean="0">
              <a:solidFill>
                <a:srgbClr val="FFFF00"/>
              </a:solidFill>
              <a:latin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 2" pitchFamily="18" charset="2"/>
              <a:buNone/>
            </a:pPr>
            <a:r>
              <a:rPr lang="he-IL" altLang="he-IL" b="1" dirty="0" smtClean="0">
                <a:latin typeface="Times New Roman" pitchFamily="18" charset="0"/>
              </a:rPr>
              <a:t>1. </a:t>
            </a:r>
            <a:r>
              <a:rPr lang="he-IL" altLang="en-AU" b="1" dirty="0" smtClean="0">
                <a:latin typeface="Times New Roman" pitchFamily="18" charset="0"/>
              </a:rPr>
              <a:t>ניהול הזיכרון - </a:t>
            </a:r>
            <a:r>
              <a:rPr lang="en-AU" altLang="he-IL" b="1" dirty="0" smtClean="0">
                <a:solidFill>
                  <a:srgbClr val="FFFF00"/>
                </a:solidFill>
                <a:latin typeface="Times New Roman" pitchFamily="18" charset="0"/>
              </a:rPr>
              <a:t>Swapping</a:t>
            </a:r>
          </a:p>
          <a:p>
            <a:pPr algn="just">
              <a:lnSpc>
                <a:spcPct val="150000"/>
              </a:lnSpc>
              <a:buFont typeface="Wingdings 2" pitchFamily="18" charset="2"/>
              <a:buNone/>
            </a:pPr>
            <a:r>
              <a:rPr lang="he-IL" altLang="he-IL" b="1" dirty="0" smtClean="0">
                <a:latin typeface="Times New Roman" pitchFamily="18" charset="0"/>
              </a:rPr>
              <a:t>2. </a:t>
            </a:r>
            <a:r>
              <a:rPr lang="he-IL" altLang="en-AU" b="1" dirty="0" smtClean="0">
                <a:latin typeface="Times New Roman" pitchFamily="18" charset="0"/>
              </a:rPr>
              <a:t>תקשורת בין המפעיל לתהליך</a:t>
            </a:r>
            <a:endParaRPr lang="en-US" altLang="en-AU" b="1" dirty="0" smtClean="0">
              <a:latin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 2" pitchFamily="18" charset="2"/>
              <a:buNone/>
            </a:pPr>
            <a:r>
              <a:rPr lang="he-IL" altLang="he-IL" b="1" dirty="0" smtClean="0">
                <a:latin typeface="Times New Roman" pitchFamily="18" charset="0"/>
              </a:rPr>
              <a:t>3. </a:t>
            </a:r>
            <a:r>
              <a:rPr lang="he-IL" altLang="en-AU" b="1" dirty="0" smtClean="0">
                <a:latin typeface="Times New Roman" pitchFamily="18" charset="0"/>
              </a:rPr>
              <a:t>ניהול רכיבי קלט/פלט</a:t>
            </a:r>
            <a:endParaRPr lang="en-US" altLang="en-AU" b="1" dirty="0" smtClean="0">
              <a:latin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 2" pitchFamily="18" charset="2"/>
              <a:buNone/>
            </a:pPr>
            <a:r>
              <a:rPr lang="he-IL" altLang="he-IL" b="1" dirty="0" smtClean="0">
                <a:latin typeface="Times New Roman" pitchFamily="18" charset="0"/>
              </a:rPr>
              <a:t>4. </a:t>
            </a:r>
            <a:r>
              <a:rPr lang="he-IL" altLang="en-AU" b="1" dirty="0" err="1" smtClean="0">
                <a:latin typeface="Times New Roman" pitchFamily="18" charset="0"/>
              </a:rPr>
              <a:t>תוכניות</a:t>
            </a:r>
            <a:r>
              <a:rPr lang="he-IL" altLang="en-AU" b="1" dirty="0" smtClean="0">
                <a:latin typeface="Times New Roman" pitchFamily="18" charset="0"/>
              </a:rPr>
              <a:t> המשתמש</a:t>
            </a:r>
            <a:endParaRPr lang="en-US" altLang="en-AU" b="1" dirty="0" smtClean="0">
              <a:latin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 2" pitchFamily="18" charset="2"/>
              <a:buNone/>
            </a:pPr>
            <a:r>
              <a:rPr lang="he-IL" altLang="en-AU" b="1" dirty="0" smtClean="0">
                <a:latin typeface="Times New Roman" pitchFamily="18" charset="0"/>
              </a:rPr>
              <a:t>5. פונקציות המפעיל של מערכת ההפעלה</a:t>
            </a:r>
            <a:endParaRPr lang="en-US" altLang="en-AU" b="1" dirty="0" smtClean="0">
              <a:latin typeface="Times New Roman" pitchFamily="18" charset="0"/>
            </a:endParaRPr>
          </a:p>
          <a:p>
            <a:pPr eaLnBrk="1" hangingPunct="1">
              <a:lnSpc>
                <a:spcPct val="150000"/>
              </a:lnSpc>
            </a:pPr>
            <a:endParaRPr lang="en-US" altLang="en-AU" b="1" dirty="0" smtClean="0"/>
          </a:p>
        </p:txBody>
      </p:sp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428625" y="2362200"/>
            <a:ext cx="810577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just" eaLnBrk="0" hangingPunct="0">
              <a:defRPr/>
            </a:pPr>
            <a:endParaRPr lang="en-US" altLang="en-AU" sz="3200" b="1" dirty="0">
              <a:latin typeface="Times New Roman" pitchFamily="18" charset="0"/>
              <a:cs typeface="+mn-cs"/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548680"/>
            <a:ext cx="8856984" cy="853065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US" sz="4000" b="1" i="1" dirty="0">
                <a:solidFill>
                  <a:srgbClr val="FFFF00"/>
                </a:solidFill>
              </a:rPr>
              <a:t>מערכת היררכית מבוססת שכבות (המשך)</a:t>
            </a:r>
            <a:endParaRPr lang="en-GB" altLang="en-US" sz="4000" b="1" i="1" dirty="0">
              <a:solidFill>
                <a:srgbClr val="FFFF00"/>
              </a:solidFill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824038"/>
            <a:ext cx="7996238" cy="3255962"/>
          </a:xfrm>
        </p:spPr>
        <p:txBody>
          <a:bodyPr/>
          <a:lstStyle/>
          <a:p>
            <a:pPr marL="476250" indent="-476250" algn="just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he-IL" altLang="en-AU" b="1" dirty="0" smtClean="0"/>
              <a:t>0.מיתוג תהליכים, ריבוי </a:t>
            </a:r>
            <a:r>
              <a:rPr lang="he-IL" altLang="en-AU" b="1" dirty="0" err="1" smtClean="0"/>
              <a:t>תוכניות</a:t>
            </a:r>
            <a:r>
              <a:rPr lang="he-IL" altLang="en-AU" b="1" dirty="0" smtClean="0"/>
              <a:t>, תזמון יחידת העיבוד המרכזית על כל יחידות המשנה שלה</a:t>
            </a:r>
            <a:endParaRPr lang="en-US" altLang="he-IL" b="1" dirty="0" smtClean="0"/>
          </a:p>
          <a:p>
            <a:pPr marL="476250" indent="-476250" algn="just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he-IL" altLang="he-IL" b="1" dirty="0" smtClean="0"/>
              <a:t>1. </a:t>
            </a:r>
            <a:r>
              <a:rPr lang="he-IL" altLang="en-AU" b="1" dirty="0" smtClean="0"/>
              <a:t>זיכרון ושטח אחסון זמני, ניהול דיסק</a:t>
            </a:r>
            <a:endParaRPr lang="en-US" altLang="he-IL" b="1" dirty="0" smtClean="0"/>
          </a:p>
          <a:p>
            <a:pPr marL="476250" indent="-476250" algn="just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he-IL" altLang="he-IL" b="1" dirty="0" smtClean="0"/>
              <a:t>2. </a:t>
            </a:r>
            <a:r>
              <a:rPr lang="he-IL" altLang="en-AU" b="1" dirty="0" smtClean="0"/>
              <a:t>פענוח הודעות, פונקציות לניהול עבודות -  </a:t>
            </a:r>
            <a:r>
              <a:rPr lang="en-AU" altLang="he-IL" b="1" dirty="0" smtClean="0">
                <a:solidFill>
                  <a:srgbClr val="FFFF00"/>
                </a:solidFill>
              </a:rPr>
              <a:t>JCL</a:t>
            </a:r>
          </a:p>
          <a:p>
            <a:pPr marL="476250" indent="-476250" algn="just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he-IL" altLang="he-IL" b="1" dirty="0" smtClean="0"/>
              <a:t>3. </a:t>
            </a:r>
            <a:r>
              <a:rPr lang="he-IL" altLang="en-AU" b="1" dirty="0" smtClean="0"/>
              <a:t>ניהול רכיבי קלט/פלט </a:t>
            </a:r>
            <a:endParaRPr lang="en-US" altLang="en-AU" b="1" dirty="0" smtClean="0"/>
          </a:p>
          <a:p>
            <a:pPr marL="476250" indent="-476250" algn="just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he-IL" altLang="he-IL" b="1" dirty="0" smtClean="0"/>
              <a:t>4. </a:t>
            </a:r>
            <a:r>
              <a:rPr lang="he-IL" altLang="en-AU" b="1" dirty="0" err="1" smtClean="0"/>
              <a:t>תוכניות</a:t>
            </a:r>
            <a:r>
              <a:rPr lang="he-IL" altLang="en-AU" b="1" dirty="0" smtClean="0"/>
              <a:t> המשתמש</a:t>
            </a:r>
            <a:endParaRPr lang="en-US" altLang="en-AU" b="1" dirty="0" smtClean="0"/>
          </a:p>
          <a:p>
            <a:pPr marL="476250" indent="-476250" algn="just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he-IL" altLang="he-IL" b="1" dirty="0" smtClean="0"/>
              <a:t>5. </a:t>
            </a:r>
            <a:r>
              <a:rPr lang="he-IL" altLang="en-AU" b="1" dirty="0" smtClean="0"/>
              <a:t>מפעיל המערכת </a:t>
            </a:r>
            <a:endParaRPr lang="en-US" altLang="en-AU" dirty="0" smtClean="0"/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blackWhite">
          <a:xfrm>
            <a:off x="571500" y="5100638"/>
            <a:ext cx="8077200" cy="1016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he-IL" altLang="en-AU" sz="2000" b="1" dirty="0">
                <a:solidFill>
                  <a:srgbClr val="FFFF00"/>
                </a:solidFill>
                <a:latin typeface="Times New Roman" pitchFamily="18" charset="0"/>
                <a:cs typeface="+mn-cs"/>
              </a:rPr>
              <a:t>ביצוע סינכרון בין שכבות: חומרה ותוכנה, מנגנון הפסיקות.</a:t>
            </a:r>
            <a:endParaRPr lang="en-US" altLang="en-AU" sz="2000" b="1" dirty="0">
              <a:solidFill>
                <a:srgbClr val="FFFF00"/>
              </a:solidFill>
              <a:latin typeface="Times New Roman" pitchFamily="18" charset="0"/>
              <a:cs typeface="+mn-cs"/>
            </a:endParaRPr>
          </a:p>
          <a:p>
            <a:pPr algn="ctr" eaLnBrk="0" hangingPunct="0">
              <a:defRPr/>
            </a:pPr>
            <a:r>
              <a:rPr lang="he-IL" altLang="en-AU" sz="2000" b="1" dirty="0">
                <a:solidFill>
                  <a:srgbClr val="FFFF00"/>
                </a:solidFill>
                <a:latin typeface="Times New Roman" pitchFamily="18" charset="0"/>
                <a:cs typeface="+mn-cs"/>
              </a:rPr>
              <a:t>כל שכבה במודל מספקת מספר “מכונות וירטואליות” כאשר לכל “מכונה” כזו יש מאפיינים ייחודיים חד ערכיים המאפיינים רק אותה</a:t>
            </a:r>
            <a:endParaRPr lang="en-US" altLang="en-US" sz="2000" b="1" dirty="0">
              <a:solidFill>
                <a:srgbClr val="FFFF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928670"/>
            <a:ext cx="8274054" cy="473075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US" sz="4000" b="1" i="1" dirty="0" smtClean="0">
                <a:solidFill>
                  <a:srgbClr val="FFFF00"/>
                </a:solidFill>
              </a:rPr>
              <a:t>אז מהי בעצם מערכת הפעלה?</a:t>
            </a:r>
            <a:endParaRPr lang="en-GB" altLang="en-US" sz="4000" b="1" i="1" dirty="0">
              <a:solidFill>
                <a:srgbClr val="FFFF00"/>
              </a:solidFill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628800"/>
            <a:ext cx="8208912" cy="4680520"/>
          </a:xfrm>
        </p:spPr>
        <p:txBody>
          <a:bodyPr/>
          <a:lstStyle/>
          <a:p>
            <a:pPr marL="514350" indent="-514350" algn="just" eaLnBrk="1" hangingPunct="1">
              <a:lnSpc>
                <a:spcPct val="90000"/>
              </a:lnSpc>
              <a:buClr>
                <a:srgbClr val="FFFF00"/>
              </a:buClr>
              <a:buFont typeface="+mj-lt"/>
              <a:buAutoNum type="arabicPeriod"/>
            </a:pPr>
            <a:r>
              <a:rPr lang="he-IL" altLang="en-AU" b="1" dirty="0" smtClean="0"/>
              <a:t>מכונה וירטואלית מורחבת שתפקידה להסתיר מהמשתמש את הפרטים "המלוכלכים" שהיא נדרשת לבצע כדי </a:t>
            </a:r>
            <a:r>
              <a:rPr lang="he-IL" altLang="en-AU" b="1" dirty="0" err="1" smtClean="0"/>
              <a:t>שהכל</a:t>
            </a:r>
            <a:r>
              <a:rPr lang="he-IL" altLang="en-AU" b="1" dirty="0" smtClean="0"/>
              <a:t> יעבוד באופן תקין.</a:t>
            </a:r>
          </a:p>
          <a:p>
            <a:pPr marL="514350" indent="-514350" algn="just" eaLnBrk="1" hangingPunct="1">
              <a:lnSpc>
                <a:spcPct val="90000"/>
              </a:lnSpc>
              <a:buClr>
                <a:srgbClr val="FFFF00"/>
              </a:buClr>
              <a:buFont typeface="+mj-lt"/>
              <a:buAutoNum type="arabicPeriod"/>
            </a:pPr>
            <a:r>
              <a:rPr lang="he-IL" altLang="en-AU" b="1" dirty="0" smtClean="0"/>
              <a:t>במקביל היא מציגה בפני המשתמש ממשק וירטואלי קל, נוח וידידותי המותאם עבורו.</a:t>
            </a:r>
          </a:p>
          <a:p>
            <a:pPr marL="514350" indent="-514350" algn="just" eaLnBrk="1" hangingPunct="1">
              <a:lnSpc>
                <a:spcPct val="90000"/>
              </a:lnSpc>
              <a:buClr>
                <a:srgbClr val="FFFF00"/>
              </a:buClr>
              <a:buFont typeface="+mj-lt"/>
              <a:buAutoNum type="arabicPeriod"/>
            </a:pPr>
            <a:r>
              <a:rPr lang="he-IL" altLang="en-AU" b="1" dirty="0" smtClean="0"/>
              <a:t>היא יודעת לנהל משאבים – פנימיים וחיצוניים ויודעת להקצות את אותם משאבים לתוכניות הדורשות אותם לצורך ביצוע תקין של התוכניות.</a:t>
            </a:r>
          </a:p>
          <a:p>
            <a:pPr marL="514350" indent="-514350" algn="just" eaLnBrk="1" hangingPunct="1">
              <a:lnSpc>
                <a:spcPct val="90000"/>
              </a:lnSpc>
              <a:buClr>
                <a:srgbClr val="FFFF00"/>
              </a:buClr>
              <a:buFont typeface="+mj-lt"/>
              <a:buAutoNum type="arabicPeriod"/>
            </a:pPr>
            <a:r>
              <a:rPr lang="he-IL" altLang="en-AU" b="1" dirty="0" smtClean="0"/>
              <a:t>היא יודעת לשלב בין קטעי ריצת התוכנית למשאב הספציפי הנדרש לאותו מקטע ריצה.</a:t>
            </a:r>
            <a:endParaRPr lang="en-US" altLang="en-AU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4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57232"/>
            <a:ext cx="8229600" cy="539304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US" sz="4000" b="1" i="1" dirty="0" smtClean="0">
                <a:solidFill>
                  <a:srgbClr val="FFFF00"/>
                </a:solidFill>
              </a:rPr>
              <a:t>מכונה וירטואלית</a:t>
            </a:r>
            <a:endParaRPr lang="en-US" altLang="he-IL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45060" name="Line 8"/>
          <p:cNvSpPr>
            <a:spLocks noChangeShapeType="1"/>
          </p:cNvSpPr>
          <p:nvPr/>
        </p:nvSpPr>
        <p:spPr bwMode="blackWhite">
          <a:xfrm>
            <a:off x="3352800" y="2057400"/>
            <a:ext cx="0" cy="6858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45061" name="Line 9"/>
          <p:cNvSpPr>
            <a:spLocks noChangeShapeType="1"/>
          </p:cNvSpPr>
          <p:nvPr/>
        </p:nvSpPr>
        <p:spPr bwMode="black">
          <a:xfrm>
            <a:off x="3429000" y="2057400"/>
            <a:ext cx="0" cy="6858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45062" name="Group 20"/>
          <p:cNvGrpSpPr>
            <a:grpSpLocks/>
          </p:cNvGrpSpPr>
          <p:nvPr/>
        </p:nvGrpSpPr>
        <p:grpSpPr bwMode="auto">
          <a:xfrm>
            <a:off x="2057400" y="1484784"/>
            <a:ext cx="5486400" cy="2743200"/>
            <a:chOff x="1296" y="1104"/>
            <a:chExt cx="3456" cy="1728"/>
          </a:xfrm>
          <a:solidFill>
            <a:schemeClr val="accent4">
              <a:lumMod val="75000"/>
            </a:schemeClr>
          </a:solidFill>
        </p:grpSpPr>
        <p:grpSp>
          <p:nvGrpSpPr>
            <p:cNvPr id="45065" name="Group 17"/>
            <p:cNvGrpSpPr>
              <a:grpSpLocks/>
            </p:cNvGrpSpPr>
            <p:nvPr/>
          </p:nvGrpSpPr>
          <p:grpSpPr bwMode="auto">
            <a:xfrm>
              <a:off x="1296" y="1536"/>
              <a:ext cx="3456" cy="1296"/>
              <a:chOff x="1296" y="1296"/>
              <a:chExt cx="3456" cy="1200"/>
            </a:xfrm>
            <a:grpFill/>
          </p:grpSpPr>
          <p:grpSp>
            <p:nvGrpSpPr>
              <p:cNvPr id="45067" name="Group 16"/>
              <p:cNvGrpSpPr>
                <a:grpSpLocks/>
              </p:cNvGrpSpPr>
              <p:nvPr/>
            </p:nvGrpSpPr>
            <p:grpSpPr bwMode="auto">
              <a:xfrm>
                <a:off x="1296" y="1296"/>
                <a:ext cx="3456" cy="1200"/>
                <a:chOff x="1296" y="1296"/>
                <a:chExt cx="3456" cy="1200"/>
              </a:xfrm>
              <a:grpFill/>
            </p:grpSpPr>
            <p:sp>
              <p:nvSpPr>
                <p:cNvPr id="45070" name="Rectangle 5"/>
                <p:cNvSpPr>
                  <a:spLocks noChangeArrowheads="1"/>
                </p:cNvSpPr>
                <p:nvPr/>
              </p:nvSpPr>
              <p:spPr bwMode="blackWhite">
                <a:xfrm>
                  <a:off x="1632" y="2160"/>
                  <a:ext cx="2736" cy="336"/>
                </a:xfrm>
                <a:prstGeom prst="rect">
                  <a:avLst/>
                </a:prstGeom>
                <a:grpFill/>
                <a:ln w="38100">
                  <a:solidFill>
                    <a:srgbClr val="CCECFF"/>
                  </a:solidFill>
                  <a:miter lim="800000"/>
                  <a:headEnd/>
                  <a:tailEnd/>
                </a:ln>
                <a:extLst/>
              </p:spPr>
              <p:txBody>
                <a:bodyPr wrap="none" anchor="ctr"/>
                <a:lstStyle/>
                <a:p>
                  <a:pPr algn="ctr" rtl="0" eaLnBrk="0" hangingPunct="0"/>
                  <a:r>
                    <a:rPr lang="en-AU" altLang="he-IL" sz="4000" b="1">
                      <a:solidFill>
                        <a:srgbClr val="FF99FF"/>
                      </a:solidFill>
                      <a:latin typeface="Times New Roman" pitchFamily="18" charset="0"/>
                    </a:rPr>
                    <a:t>Physical</a:t>
                  </a:r>
                  <a:r>
                    <a:rPr lang="en-AU" altLang="he-IL" sz="4000" b="1" i="1">
                      <a:solidFill>
                        <a:srgbClr val="FF99FF"/>
                      </a:solidFill>
                      <a:latin typeface="Times New Roman" pitchFamily="18" charset="0"/>
                    </a:rPr>
                    <a:t> </a:t>
                  </a:r>
                  <a:r>
                    <a:rPr lang="en-AU" altLang="he-IL" sz="4000" b="1">
                      <a:solidFill>
                        <a:srgbClr val="FF99FF"/>
                      </a:solidFill>
                      <a:latin typeface="Times New Roman" pitchFamily="18" charset="0"/>
                    </a:rPr>
                    <a:t>Hardware</a:t>
                  </a:r>
                  <a:endParaRPr lang="en-AU" altLang="he-IL" sz="4000" b="1" i="1">
                    <a:solidFill>
                      <a:srgbClr val="FF99FF"/>
                    </a:solidFill>
                    <a:latin typeface="Times New Roman" pitchFamily="18" charset="0"/>
                  </a:endParaRPr>
                </a:p>
              </p:txBody>
            </p:sp>
            <p:grpSp>
              <p:nvGrpSpPr>
                <p:cNvPr id="45071" name="Group 15"/>
                <p:cNvGrpSpPr>
                  <a:grpSpLocks/>
                </p:cNvGrpSpPr>
                <p:nvPr/>
              </p:nvGrpSpPr>
              <p:grpSpPr bwMode="auto">
                <a:xfrm>
                  <a:off x="1296" y="1296"/>
                  <a:ext cx="3456" cy="864"/>
                  <a:chOff x="1296" y="1296"/>
                  <a:chExt cx="3456" cy="864"/>
                </a:xfrm>
                <a:grpFill/>
              </p:grpSpPr>
              <p:sp>
                <p:nvSpPr>
                  <p:cNvPr id="45072" name="Rectangle 6"/>
                  <p:cNvSpPr>
                    <a:spLocks noChangeArrowheads="1"/>
                  </p:cNvSpPr>
                  <p:nvPr/>
                </p:nvSpPr>
                <p:spPr bwMode="blackWhite">
                  <a:xfrm>
                    <a:off x="1824" y="1728"/>
                    <a:ext cx="2352" cy="432"/>
                  </a:xfrm>
                  <a:prstGeom prst="rect">
                    <a:avLst/>
                  </a:prstGeom>
                  <a:grpFill/>
                  <a:ln w="38100">
                    <a:solidFill>
                      <a:srgbClr val="CCECFF"/>
                    </a:solidFill>
                    <a:miter lim="800000"/>
                    <a:headEnd/>
                    <a:tailEnd/>
                  </a:ln>
                  <a:extLst/>
                </p:spPr>
                <p:txBody>
                  <a:bodyPr wrap="none" anchor="ctr"/>
                  <a:lstStyle/>
                  <a:p>
                    <a:pPr algn="ctr" rtl="0" eaLnBrk="0" hangingPunct="0"/>
                    <a:r>
                      <a:rPr lang="en-AU" altLang="he-IL" sz="4000" b="1">
                        <a:solidFill>
                          <a:srgbClr val="FFC000"/>
                        </a:solidFill>
                        <a:latin typeface="Times New Roman" pitchFamily="18" charset="0"/>
                      </a:rPr>
                      <a:t>Virtual Machine</a:t>
                    </a:r>
                    <a:endParaRPr lang="en-AU" altLang="he-IL" sz="4000" b="1" i="1">
                      <a:solidFill>
                        <a:srgbClr val="FFC000"/>
                      </a:solidFill>
                      <a:latin typeface="Times New Roman" pitchFamily="18" charset="0"/>
                    </a:endParaRPr>
                  </a:p>
                </p:txBody>
              </p:sp>
              <p:grpSp>
                <p:nvGrpSpPr>
                  <p:cNvPr id="45073" name="Group 14"/>
                  <p:cNvGrpSpPr>
                    <a:grpSpLocks/>
                  </p:cNvGrpSpPr>
                  <p:nvPr/>
                </p:nvGrpSpPr>
                <p:grpSpPr bwMode="auto">
                  <a:xfrm>
                    <a:off x="1296" y="1296"/>
                    <a:ext cx="3456" cy="432"/>
                    <a:chOff x="1296" y="1296"/>
                    <a:chExt cx="3456" cy="432"/>
                  </a:xfrm>
                  <a:grpFill/>
                </p:grpSpPr>
                <p:sp>
                  <p:nvSpPr>
                    <p:cNvPr id="45074" name="Rectangle 7"/>
                    <p:cNvSpPr>
                      <a:spLocks noChangeArrowheads="1"/>
                    </p:cNvSpPr>
                    <p:nvPr/>
                  </p:nvSpPr>
                  <p:spPr bwMode="blackWhite">
                    <a:xfrm>
                      <a:off x="1296" y="1296"/>
                      <a:ext cx="3456" cy="432"/>
                    </a:xfrm>
                    <a:prstGeom prst="rect">
                      <a:avLst/>
                    </a:prstGeom>
                    <a:grpFill/>
                    <a:ln w="38100">
                      <a:solidFill>
                        <a:srgbClr val="CCECFF"/>
                      </a:solidFill>
                      <a:miter lim="800000"/>
                      <a:headEnd/>
                      <a:tailEnd/>
                    </a:ln>
                    <a:extLst/>
                  </p:spPr>
                  <p:txBody>
                    <a:bodyPr wrap="none" anchor="ctr"/>
                    <a:lstStyle/>
                    <a:p>
                      <a:pPr algn="ctr" rtl="0" eaLnBrk="0" hangingPunct="0"/>
                      <a:r>
                        <a:rPr lang="en-AU" altLang="he-IL" sz="4000" b="1">
                          <a:solidFill>
                            <a:srgbClr val="FFFF00"/>
                          </a:solidFill>
                          <a:latin typeface="Times New Roman" pitchFamily="18" charset="0"/>
                        </a:rPr>
                        <a:t>OS1   OS2    OS3   OS4</a:t>
                      </a:r>
                      <a:endParaRPr lang="en-AU" altLang="he-IL" sz="4000" b="1" i="1">
                        <a:solidFill>
                          <a:srgbClr val="FFFF00"/>
                        </a:solidFill>
                        <a:latin typeface="Times New Roman" pitchFamily="18" charset="0"/>
                      </a:endParaRPr>
                    </a:p>
                  </p:txBody>
                </p:sp>
                <p:sp>
                  <p:nvSpPr>
                    <p:cNvPr id="45075" name="Line 10"/>
                    <p:cNvSpPr>
                      <a:spLocks noChangeShapeType="1"/>
                    </p:cNvSpPr>
                    <p:nvPr/>
                  </p:nvSpPr>
                  <p:spPr bwMode="blackWhite">
                    <a:xfrm>
                      <a:off x="2160" y="1296"/>
                      <a:ext cx="0" cy="432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rgbClr val="CCECFF"/>
                      </a:solidFill>
                      <a:round/>
                      <a:headEnd/>
                      <a:tailEnd/>
                    </a:ln>
                    <a:extLst/>
                  </p:spPr>
                  <p:txBody>
                    <a:bodyPr wrap="none" anchor="ctr"/>
                    <a:lstStyle/>
                    <a:p>
                      <a:endParaRPr lang="he-IL"/>
                    </a:p>
                  </p:txBody>
                </p:sp>
              </p:grpSp>
            </p:grpSp>
          </p:grpSp>
          <p:sp>
            <p:nvSpPr>
              <p:cNvPr id="45068" name="Line 11"/>
              <p:cNvSpPr>
                <a:spLocks noChangeShapeType="1"/>
              </p:cNvSpPr>
              <p:nvPr/>
            </p:nvSpPr>
            <p:spPr bwMode="blackWhite">
              <a:xfrm>
                <a:off x="3024" y="1296"/>
                <a:ext cx="0" cy="432"/>
              </a:xfrm>
              <a:prstGeom prst="line">
                <a:avLst/>
              </a:prstGeom>
              <a:grpFill/>
              <a:ln w="38100">
                <a:solidFill>
                  <a:srgbClr val="CCECFF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45069" name="Line 13"/>
              <p:cNvSpPr>
                <a:spLocks noChangeShapeType="1"/>
              </p:cNvSpPr>
              <p:nvPr/>
            </p:nvSpPr>
            <p:spPr bwMode="blackWhite">
              <a:xfrm>
                <a:off x="3840" y="1296"/>
                <a:ext cx="0" cy="432"/>
              </a:xfrm>
              <a:prstGeom prst="line">
                <a:avLst/>
              </a:prstGeom>
              <a:grpFill/>
              <a:ln w="38100">
                <a:solidFill>
                  <a:srgbClr val="CCECFF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sp>
          <p:nvSpPr>
            <p:cNvPr id="45066" name="Rectangle 18"/>
            <p:cNvSpPr>
              <a:spLocks noChangeArrowheads="1"/>
            </p:cNvSpPr>
            <p:nvPr/>
          </p:nvSpPr>
          <p:spPr bwMode="blackWhite">
            <a:xfrm>
              <a:off x="1296" y="1104"/>
              <a:ext cx="3456" cy="432"/>
            </a:xfrm>
            <a:prstGeom prst="rect">
              <a:avLst/>
            </a:prstGeom>
            <a:grpFill/>
            <a:ln w="38100">
              <a:solidFill>
                <a:srgbClr val="CCECFF"/>
              </a:solidFill>
              <a:miter lim="800000"/>
              <a:headEnd/>
              <a:tailEnd/>
            </a:ln>
            <a:extLst/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4000" b="1">
                  <a:solidFill>
                    <a:srgbClr val="CCFFFF"/>
                  </a:solidFill>
                  <a:latin typeface="Times New Roman" pitchFamily="18" charset="0"/>
                </a:rPr>
                <a:t>User Programs</a:t>
              </a:r>
              <a:endParaRPr lang="en-AU" altLang="he-IL" sz="4000" b="1" i="1">
                <a:solidFill>
                  <a:srgbClr val="CCFFFF"/>
                </a:solidFill>
                <a:latin typeface="Times New Roman" pitchFamily="18" charset="0"/>
              </a:endParaRPr>
            </a:p>
          </p:txBody>
        </p:sp>
      </p:grpSp>
      <p:sp>
        <p:nvSpPr>
          <p:cNvPr id="53257" name="Text Box 22"/>
          <p:cNvSpPr txBox="1">
            <a:spLocks noChangeAspect="1" noChangeArrowheads="1"/>
          </p:cNvSpPr>
          <p:nvPr/>
        </p:nvSpPr>
        <p:spPr bwMode="blackWhite">
          <a:xfrm>
            <a:off x="428625" y="4365104"/>
            <a:ext cx="8358188" cy="1928812"/>
          </a:xfrm>
          <a:prstGeom prst="rect">
            <a:avLst/>
          </a:prstGeom>
          <a:noFill/>
          <a:ln w="50800">
            <a:noFill/>
            <a:miter lim="800000"/>
            <a:headEnd/>
            <a:tailEnd/>
          </a:ln>
        </p:spPr>
        <p:txBody>
          <a:bodyPr anchor="ctr"/>
          <a:lstStyle/>
          <a:p>
            <a:pPr algn="just" eaLnBrk="0" hangingPunct="0">
              <a:defRPr/>
            </a:pPr>
            <a:r>
              <a:rPr lang="he-IL" altLang="he-IL" sz="3200" b="1" dirty="0">
                <a:latin typeface="Times New Roman" pitchFamily="18" charset="0"/>
                <a:cs typeface="+mn-cs"/>
              </a:rPr>
              <a:t>“</a:t>
            </a:r>
            <a:r>
              <a:rPr lang="he-IL" altLang="en-US" sz="3200" b="1" dirty="0">
                <a:latin typeface="Times New Roman" pitchFamily="18" charset="0"/>
                <a:cs typeface="+mn-cs"/>
              </a:rPr>
              <a:t>מכונה וירטואלית” מספקת “</a:t>
            </a:r>
            <a:r>
              <a:rPr lang="en-US" altLang="he-IL" sz="3200" b="1" dirty="0">
                <a:solidFill>
                  <a:srgbClr val="FFFF00"/>
                </a:solidFill>
                <a:latin typeface="Times New Roman" pitchFamily="18" charset="0"/>
                <a:cs typeface="+mn-cs"/>
              </a:rPr>
              <a:t>N</a:t>
            </a:r>
            <a:r>
              <a:rPr lang="he-IL" altLang="he-IL" sz="3200" b="1" dirty="0">
                <a:latin typeface="Times New Roman" pitchFamily="18" charset="0"/>
                <a:cs typeface="+mn-cs"/>
              </a:rPr>
              <a:t>” </a:t>
            </a:r>
            <a:r>
              <a:rPr lang="he-IL" altLang="en-US" sz="3200" b="1" dirty="0">
                <a:latin typeface="Times New Roman" pitchFamily="18" charset="0"/>
                <a:cs typeface="+mn-cs"/>
              </a:rPr>
              <a:t>העתקים של שימוש בחומרה פיזית ע”י תוכנה. באופן כזה מערכות הפעלה שונות יכולות לעבוד באותו זמן “</a:t>
            </a:r>
            <a:r>
              <a:rPr lang="he-IL" altLang="en-US" sz="3200" b="1" dirty="0">
                <a:solidFill>
                  <a:srgbClr val="FFFF00"/>
                </a:solidFill>
                <a:latin typeface="Times New Roman" pitchFamily="18" charset="0"/>
                <a:cs typeface="+mn-cs"/>
              </a:rPr>
              <a:t>עם אותה תוכנה ועם אותו ציוד</a:t>
            </a:r>
            <a:r>
              <a:rPr lang="he-IL" altLang="en-US" sz="3200" b="1" dirty="0">
                <a:latin typeface="Times New Roman" pitchFamily="18" charset="0"/>
                <a:cs typeface="+mn-cs"/>
              </a:rPr>
              <a:t>” ללא התנגשויות וללא "</a:t>
            </a:r>
            <a:r>
              <a:rPr lang="he-IL" altLang="en-US" sz="3200" b="1" dirty="0">
                <a:solidFill>
                  <a:srgbClr val="FFFF00"/>
                </a:solidFill>
                <a:latin typeface="Times New Roman" pitchFamily="18" charset="0"/>
                <a:cs typeface="+mn-cs"/>
              </a:rPr>
              <a:t>תקיעות</a:t>
            </a:r>
            <a:r>
              <a:rPr lang="he-IL" altLang="en-US" sz="3200" b="1" dirty="0">
                <a:latin typeface="Times New Roman" pitchFamily="18" charset="0"/>
                <a:cs typeface="+mn-cs"/>
              </a:rPr>
              <a:t>"</a:t>
            </a:r>
            <a:endParaRPr lang="en-US" altLang="he-IL" sz="3200" b="1" dirty="0">
              <a:latin typeface="Times New Roman" pitchFamily="18" charset="0"/>
              <a:cs typeface="+mn-cs"/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714356"/>
            <a:ext cx="8534400" cy="709610"/>
          </a:xfrm>
        </p:spPr>
        <p:txBody>
          <a:bodyPr lIns="90488" tIns="44450" rIns="90488" bIns="44450" anchor="ctr">
            <a:norm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אז מה בעצם מתרחש כאן?</a:t>
            </a:r>
            <a:endParaRPr lang="en-US" altLang="en-AU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670050"/>
            <a:ext cx="8147050" cy="4495800"/>
          </a:xfrm>
        </p:spPr>
        <p:txBody>
          <a:bodyPr lIns="90488" tIns="44450" rIns="90488" bIns="44450"/>
          <a:lstStyle/>
          <a:p>
            <a:pPr marL="0" indent="0" algn="just" eaLnBrk="1" hangingPunct="1"/>
            <a:r>
              <a:rPr lang="he-IL" altLang="en-AU" b="1" dirty="0" smtClean="0"/>
              <a:t> מערכת הפעלה היא </a:t>
            </a:r>
            <a:r>
              <a:rPr lang="he-IL" altLang="en-AU" b="1" dirty="0" err="1" smtClean="0"/>
              <a:t>תוכנית</a:t>
            </a:r>
            <a:r>
              <a:rPr lang="he-IL" altLang="en-AU" b="1" dirty="0" smtClean="0"/>
              <a:t> גדולה המספקת את כל מכלול השירותים הדרוש להפעלת מערכת ממוחשבת.</a:t>
            </a:r>
            <a:endParaRPr lang="en-US" altLang="en-AU" b="1" dirty="0" smtClean="0"/>
          </a:p>
          <a:p>
            <a:pPr marL="0" indent="0" algn="just" eaLnBrk="1" hangingPunct="1"/>
            <a:r>
              <a:rPr lang="he-IL" altLang="en-AU" b="1" dirty="0" smtClean="0"/>
              <a:t> כל פעם שאתה מוסיף חומרה/תוכנה חדשים עליך:</a:t>
            </a:r>
            <a:endParaRPr lang="en-US" altLang="en-AU" b="1" dirty="0" smtClean="0"/>
          </a:p>
          <a:p>
            <a:pPr marL="927100" lvl="1" indent="-457200" algn="just" eaLnBrk="1" hangingPunct="1">
              <a:buClr>
                <a:srgbClr val="FFFF00"/>
              </a:buClr>
              <a:buFont typeface="Rockwell" pitchFamily="18" charset="0"/>
              <a:buAutoNum type="arabicPeriod"/>
            </a:pPr>
            <a:r>
              <a:rPr lang="he-IL" altLang="en-AU" sz="2800" b="1" dirty="0" smtClean="0">
                <a:solidFill>
                  <a:srgbClr val="FFFF00"/>
                </a:solidFill>
              </a:rPr>
              <a:t>לבצע התקנה </a:t>
            </a:r>
            <a:r>
              <a:rPr lang="he-IL" altLang="en-AU" sz="2800" b="1" u="sng" dirty="0" smtClean="0">
                <a:solidFill>
                  <a:srgbClr val="FFFF00"/>
                </a:solidFill>
              </a:rPr>
              <a:t>מלאה וחוקית</a:t>
            </a:r>
            <a:r>
              <a:rPr lang="he-IL" altLang="en-AU" sz="2800" b="1" dirty="0" smtClean="0">
                <a:solidFill>
                  <a:srgbClr val="FFFF00"/>
                </a:solidFill>
              </a:rPr>
              <a:t> עבור הרכיב (חומרה/תוכנה).</a:t>
            </a:r>
            <a:endParaRPr lang="en-US" altLang="en-AU" sz="2800" b="1" dirty="0" smtClean="0">
              <a:solidFill>
                <a:srgbClr val="FFFF00"/>
              </a:solidFill>
            </a:endParaRPr>
          </a:p>
          <a:p>
            <a:pPr marL="927100" lvl="1" indent="-457200" algn="just" eaLnBrk="1" hangingPunct="1">
              <a:buClr>
                <a:srgbClr val="FFFF00"/>
              </a:buClr>
              <a:buFont typeface="Rockwell" pitchFamily="18" charset="0"/>
              <a:buAutoNum type="arabicPeriod"/>
            </a:pPr>
            <a:r>
              <a:rPr lang="he-IL" altLang="en-AU" sz="2800" b="1" dirty="0" smtClean="0">
                <a:solidFill>
                  <a:srgbClr val="FFFF00"/>
                </a:solidFill>
              </a:rPr>
              <a:t>לבצע קומפילציה לגרעין המערכת להכרת הרכיבים בדרך כלל  מתבצעת במהלך התקנת הרכיב והקמת מע' קבצי ה- </a:t>
            </a:r>
            <a:r>
              <a:rPr lang="en-US" altLang="en-AU" sz="2800" b="1" dirty="0" smtClean="0">
                <a:solidFill>
                  <a:srgbClr val="FFFF00"/>
                </a:solidFill>
              </a:rPr>
              <a:t>DLL</a:t>
            </a:r>
          </a:p>
          <a:p>
            <a:pPr marL="927100" lvl="1" indent="-457200" algn="just" eaLnBrk="1" hangingPunct="1">
              <a:buClr>
                <a:srgbClr val="FFFF00"/>
              </a:buClr>
              <a:buFont typeface="Rockwell" pitchFamily="18" charset="0"/>
              <a:buAutoNum type="arabicPeriod"/>
            </a:pPr>
            <a:r>
              <a:rPr lang="he-IL" altLang="en-AU" sz="2800" b="1" dirty="0" smtClean="0">
                <a:solidFill>
                  <a:srgbClr val="FFFF00"/>
                </a:solidFill>
              </a:rPr>
              <a:t>לבצע אתחול (</a:t>
            </a:r>
            <a:r>
              <a:rPr lang="en-AU" altLang="he-IL" sz="2800" b="1" dirty="0" smtClean="0">
                <a:solidFill>
                  <a:srgbClr val="FFFF00"/>
                </a:solidFill>
              </a:rPr>
              <a:t>BOOT</a:t>
            </a:r>
            <a:r>
              <a:rPr lang="he-IL" altLang="he-IL" sz="2800" b="1" dirty="0" smtClean="0">
                <a:solidFill>
                  <a:srgbClr val="FFFF00"/>
                </a:solidFill>
              </a:rPr>
              <a:t>) </a:t>
            </a:r>
            <a:r>
              <a:rPr lang="he-IL" altLang="en-AU" sz="2800" b="1" dirty="0" smtClean="0">
                <a:solidFill>
                  <a:srgbClr val="FFFF00"/>
                </a:solidFill>
              </a:rPr>
              <a:t>אחרי ההתקנה, לעדכון גרעין מערכת ההפעלה ולסיום ההתקנה באופן מסודר.</a:t>
            </a:r>
            <a:endParaRPr lang="en-US" altLang="en-AU" sz="2800" b="1" dirty="0" smtClean="0">
              <a:solidFill>
                <a:srgbClr val="FFFF00"/>
              </a:solidFill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32"/>
            <a:ext cx="8915400" cy="533400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US" sz="4000" b="1" i="1" dirty="0">
                <a:solidFill>
                  <a:srgbClr val="FFFF00"/>
                </a:solidFill>
              </a:rPr>
              <a:t>מיקרו גרעין </a:t>
            </a:r>
            <a:r>
              <a:rPr lang="he-IL" altLang="en-US" sz="4000" b="1" i="1" dirty="0" smtClean="0">
                <a:solidFill>
                  <a:srgbClr val="FFFF00"/>
                </a:solidFill>
              </a:rPr>
              <a:t>- מתאים </a:t>
            </a:r>
            <a:r>
              <a:rPr lang="he-IL" altLang="en-US" sz="4000" b="1" i="1" dirty="0">
                <a:solidFill>
                  <a:srgbClr val="FFFF00"/>
                </a:solidFill>
              </a:rPr>
              <a:t>למודל שרת/לקוח </a:t>
            </a:r>
            <a:endParaRPr lang="en-US" altLang="en-GB" sz="4000" b="1" i="1" dirty="0">
              <a:solidFill>
                <a:srgbClr val="FFFF00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898650"/>
            <a:ext cx="8210550" cy="3759200"/>
          </a:xfrm>
        </p:spPr>
        <p:txBody>
          <a:bodyPr/>
          <a:lstStyle/>
          <a:p>
            <a:pPr eaLnBrk="1" hangingPunct="1"/>
            <a:r>
              <a:rPr lang="he-IL" altLang="en-US" b="1" dirty="0" smtClean="0"/>
              <a:t>הגרעין של מערכת ההפעלה מכיל את הפונקציות:</a:t>
            </a:r>
            <a:endParaRPr lang="en-US" altLang="en-US" b="1" dirty="0" smtClean="0"/>
          </a:p>
          <a:p>
            <a:pPr lvl="1" eaLnBrk="1" hangingPunct="1"/>
            <a:r>
              <a:rPr lang="he-IL" altLang="en-US" sz="2800" b="1" dirty="0" smtClean="0">
                <a:solidFill>
                  <a:srgbClr val="FFFF00"/>
                </a:solidFill>
              </a:rPr>
              <a:t>ניהול זיכרון</a:t>
            </a:r>
            <a:endParaRPr lang="en-US" altLang="en-US" sz="2800" b="1" dirty="0" smtClean="0">
              <a:solidFill>
                <a:srgbClr val="FFFF00"/>
              </a:solidFill>
            </a:endParaRPr>
          </a:p>
          <a:p>
            <a:pPr lvl="1" eaLnBrk="1" hangingPunct="1"/>
            <a:r>
              <a:rPr lang="he-IL" altLang="en-US" sz="2800" b="1" dirty="0" smtClean="0">
                <a:solidFill>
                  <a:srgbClr val="FFFF00"/>
                </a:solidFill>
              </a:rPr>
              <a:t>ניהול יחידת העיבוד המרכזית</a:t>
            </a:r>
            <a:endParaRPr lang="en-US" altLang="en-US" sz="2800" b="1" dirty="0" smtClean="0">
              <a:solidFill>
                <a:srgbClr val="FFFF00"/>
              </a:solidFill>
            </a:endParaRPr>
          </a:p>
          <a:p>
            <a:pPr lvl="1" eaLnBrk="1" hangingPunct="1"/>
            <a:r>
              <a:rPr lang="he-IL" altLang="en-US" sz="2800" b="1" dirty="0" smtClean="0">
                <a:solidFill>
                  <a:srgbClr val="FFFF00"/>
                </a:solidFill>
              </a:rPr>
              <a:t>ביצוע תקשורת בין תהליכים (משלוח הודעות)</a:t>
            </a:r>
            <a:endParaRPr lang="en-US" altLang="en-US" sz="2800" b="1" dirty="0" smtClean="0">
              <a:solidFill>
                <a:srgbClr val="FFFF00"/>
              </a:solidFill>
            </a:endParaRPr>
          </a:p>
          <a:p>
            <a:pPr lvl="1" eaLnBrk="1" hangingPunct="1"/>
            <a:r>
              <a:rPr lang="he-IL" altLang="en-US" sz="2800" b="1" dirty="0" smtClean="0">
                <a:solidFill>
                  <a:srgbClr val="FFFF00"/>
                </a:solidFill>
              </a:rPr>
              <a:t>תמיכה וניהול רכיבי קלט/פלט</a:t>
            </a:r>
            <a:endParaRPr lang="en-US" altLang="en-US" sz="2800" b="1" dirty="0" smtClean="0">
              <a:solidFill>
                <a:srgbClr val="FFFF00"/>
              </a:solidFill>
            </a:endParaRPr>
          </a:p>
          <a:p>
            <a:pPr eaLnBrk="1" hangingPunct="1"/>
            <a:r>
              <a:rPr lang="he-IL" altLang="he-IL" b="1" dirty="0" smtClean="0"/>
              <a:t> </a:t>
            </a:r>
            <a:r>
              <a:rPr lang="he-IL" altLang="en-AU" b="1" dirty="0" smtClean="0"/>
              <a:t>פונקציות נוספות מסופקות ע”י שכבת ניהול שאחראית על התהליכים של המשתמש</a:t>
            </a:r>
            <a:endParaRPr lang="en-US" altLang="en-AU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 lIns="90488" tIns="44450" rIns="90488" bIns="44450" anchor="ctr"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אפיון גרעין מערכת ההפעלה </a:t>
            </a:r>
            <a:r>
              <a:rPr lang="en-US" altLang="en-AU" sz="4000" b="1" i="1" dirty="0" smtClean="0">
                <a:solidFill>
                  <a:srgbClr val="FFFF00"/>
                </a:solidFill>
              </a:rPr>
              <a:t>k</a:t>
            </a:r>
            <a:r>
              <a:rPr lang="en-US" altLang="he-IL" sz="4000" b="1" i="1" dirty="0" smtClean="0">
                <a:solidFill>
                  <a:srgbClr val="FFFF00"/>
                </a:solidFill>
              </a:rPr>
              <a:t>ernel - </a:t>
            </a:r>
            <a:endParaRPr lang="en-AU" altLang="he-IL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1898650"/>
            <a:ext cx="8501063" cy="4387850"/>
          </a:xfrm>
        </p:spPr>
        <p:txBody>
          <a:bodyPr lIns="90488" tIns="44450" rIns="90488" bIns="44450"/>
          <a:lstStyle/>
          <a:p>
            <a:pPr eaLnBrk="1" hangingPunct="1"/>
            <a:r>
              <a:rPr lang="he-IL" altLang="en-US" b="1" smtClean="0"/>
              <a:t>משתמש בהעברת הודעות בין רכיבי תוכנה/חומרה ומשתמשים במערכת</a:t>
            </a:r>
            <a:endParaRPr lang="en-US" altLang="en-US" b="1" smtClean="0"/>
          </a:p>
          <a:p>
            <a:pPr eaLnBrk="1" hangingPunct="1"/>
            <a:r>
              <a:rPr lang="he-IL" altLang="en-US" b="1" smtClean="0"/>
              <a:t>אחראי ומתפעל את החלפת התהליכים בשרת</a:t>
            </a:r>
            <a:endParaRPr lang="en-US" altLang="en-US" b="1" smtClean="0"/>
          </a:p>
          <a:p>
            <a:pPr eaLnBrk="1" hangingPunct="1"/>
            <a:r>
              <a:rPr lang="he-IL" altLang="en-US" b="1" smtClean="0"/>
              <a:t>מכיל ומטפל במספר רב של ישויות בעת ובעונה אחת</a:t>
            </a:r>
            <a:endParaRPr lang="en-US" altLang="en-US" b="1" smtClean="0"/>
          </a:p>
          <a:p>
            <a:pPr eaLnBrk="1" hangingPunct="1"/>
            <a:r>
              <a:rPr lang="he-IL" altLang="en-US" b="1" smtClean="0"/>
              <a:t>פשוט מאד לכתיבה ולשימוש בתחנת מערכת הפעלה</a:t>
            </a:r>
            <a:endParaRPr lang="en-US" altLang="en-US" b="1" smtClean="0"/>
          </a:p>
          <a:p>
            <a:pPr eaLnBrk="1" hangingPunct="1"/>
            <a:r>
              <a:rPr lang="he-IL" altLang="en-US" b="1" smtClean="0"/>
              <a:t>תכנונו מושלם לצורכי הפצת מערכת </a:t>
            </a:r>
            <a:endParaRPr lang="en-US" altLang="en-US" b="1" smtClean="0"/>
          </a:p>
          <a:p>
            <a:pPr eaLnBrk="1" hangingPunct="1"/>
            <a:r>
              <a:rPr lang="he-IL" altLang="en-US" b="1" smtClean="0"/>
              <a:t> בעל יכולת עשייה וביצוע מוגבלות ומוגדרות מראש</a:t>
            </a:r>
            <a:endParaRPr lang="en-US" altLang="en-US" b="1" smtClean="0"/>
          </a:p>
          <a:p>
            <a:pPr eaLnBrk="1" hangingPunct="1">
              <a:buFont typeface="Wingdings" pitchFamily="2" charset="2"/>
              <a:buNone/>
            </a:pPr>
            <a:endParaRPr lang="en-US" altLang="he-IL" b="1" smtClean="0">
              <a:solidFill>
                <a:srgbClr val="0033CC"/>
              </a:solidFill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ארגון מערכת ההפעלה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46238"/>
            <a:ext cx="4038600" cy="45259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he-IL" b="1" dirty="0" smtClean="0"/>
              <a:t>היום... גרעין מודולרי</a:t>
            </a:r>
            <a:endParaRPr lang="en-GB" b="1" dirty="0" smtClean="0"/>
          </a:p>
        </p:txBody>
      </p:sp>
      <p:sp>
        <p:nvSpPr>
          <p:cNvPr id="88269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076825" y="1600200"/>
            <a:ext cx="3815655" cy="4852988"/>
          </a:xfrm>
        </p:spPr>
        <p:txBody>
          <a:bodyPr/>
          <a:lstStyle/>
          <a:p>
            <a:pPr>
              <a:buSzTx/>
              <a:buFont typeface="Wingdings" pitchFamily="2" charset="2"/>
              <a:buNone/>
            </a:pPr>
            <a:r>
              <a:rPr lang="he-IL" sz="2400" b="1" dirty="0" smtClean="0"/>
              <a:t>מודולים דינמיים, שניתן לטעון ולהסיר אותם מהזיכרון</a:t>
            </a:r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מאפשר לטעון רכיבי קוד ונתונים לפי דרישה </a:t>
            </a:r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מונע מהגרעין "להתנפח" ללא צורך בזיכרון המחשב</a:t>
            </a:r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קל להרחיב ולשנות</a:t>
            </a:r>
            <a:endParaRPr lang="en-US" sz="2400" b="1" dirty="0" smtClean="0"/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ביצועים טובים</a:t>
            </a:r>
          </a:p>
          <a:p>
            <a:pPr>
              <a:buFont typeface="Wingdings" pitchFamily="2" charset="2"/>
              <a:buNone/>
            </a:pPr>
            <a:r>
              <a:rPr lang="he-IL" sz="2400" b="1" dirty="0" smtClean="0"/>
              <a:t>דוגמאות:</a:t>
            </a:r>
          </a:p>
          <a:p>
            <a:pPr algn="l">
              <a:buFont typeface="Wingdings" pitchFamily="2" charset="2"/>
              <a:buNone/>
            </a:pPr>
            <a:r>
              <a:rPr lang="he-IL" sz="2400" b="1" dirty="0" smtClean="0"/>
              <a:t> </a:t>
            </a:r>
            <a:r>
              <a:rPr lang="en-US" sz="2400" b="1" dirty="0" smtClean="0"/>
              <a:t>Solaris, Mac OS X,</a:t>
            </a:r>
            <a:br>
              <a:rPr lang="en-US" sz="2400" b="1" dirty="0" smtClean="0"/>
            </a:br>
            <a:r>
              <a:rPr lang="en-US" sz="2400" b="1" dirty="0" smtClean="0"/>
              <a:t>Linux (kernel modules), Windows (Dynamic device Drivers)</a:t>
            </a:r>
          </a:p>
        </p:txBody>
      </p:sp>
      <p:sp>
        <p:nvSpPr>
          <p:cNvPr id="50182" name="Line 5"/>
          <p:cNvSpPr>
            <a:spLocks noChangeShapeType="1"/>
          </p:cNvSpPr>
          <p:nvPr/>
        </p:nvSpPr>
        <p:spPr bwMode="auto">
          <a:xfrm>
            <a:off x="1619250" y="4524375"/>
            <a:ext cx="2349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/>
          </a:p>
        </p:txBody>
      </p:sp>
      <p:sp>
        <p:nvSpPr>
          <p:cNvPr id="50183" name="Line 6"/>
          <p:cNvSpPr>
            <a:spLocks noChangeShapeType="1"/>
          </p:cNvSpPr>
          <p:nvPr/>
        </p:nvSpPr>
        <p:spPr bwMode="auto">
          <a:xfrm>
            <a:off x="1619250" y="3213100"/>
            <a:ext cx="2349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/>
          </a:p>
        </p:txBody>
      </p:sp>
      <p:sp>
        <p:nvSpPr>
          <p:cNvPr id="50184" name="Rectangle 7"/>
          <p:cNvSpPr>
            <a:spLocks noChangeArrowheads="1"/>
          </p:cNvSpPr>
          <p:nvPr/>
        </p:nvSpPr>
        <p:spPr bwMode="auto">
          <a:xfrm>
            <a:off x="539750" y="3500438"/>
            <a:ext cx="935038" cy="6413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x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 dirty="0">
                <a:solidFill>
                  <a:schemeClr val="tx2"/>
                </a:solidFill>
                <a:latin typeface="Comic Sans MS" pitchFamily="66" charset="0"/>
              </a:rPr>
              <a:t>Core kernel</a:t>
            </a:r>
          </a:p>
        </p:txBody>
      </p:sp>
      <p:sp>
        <p:nvSpPr>
          <p:cNvPr id="50185" name="Rectangle 8"/>
          <p:cNvSpPr>
            <a:spLocks noChangeArrowheads="1"/>
          </p:cNvSpPr>
          <p:nvPr/>
        </p:nvSpPr>
        <p:spPr bwMode="auto">
          <a:xfrm>
            <a:off x="2195513" y="4594225"/>
            <a:ext cx="1157287" cy="8255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r>
              <a:rPr lang="he-IL" sz="2400" b="1">
                <a:latin typeface="Arial" pitchFamily="34" charset="0"/>
              </a:rPr>
              <a:t>חומרה</a:t>
            </a:r>
            <a:endParaRPr lang="en-GB" sz="2400" b="1">
              <a:latin typeface="Arial" pitchFamily="34" charset="0"/>
            </a:endParaRPr>
          </a:p>
        </p:txBody>
      </p:sp>
      <p:sp>
        <p:nvSpPr>
          <p:cNvPr id="50186" name="Rectangle 9"/>
          <p:cNvSpPr>
            <a:spLocks noChangeArrowheads="1"/>
          </p:cNvSpPr>
          <p:nvPr/>
        </p:nvSpPr>
        <p:spPr bwMode="auto">
          <a:xfrm>
            <a:off x="1835150" y="2205038"/>
            <a:ext cx="1800225" cy="825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r>
              <a:rPr lang="he-IL" sz="2000" dirty="0" err="1">
                <a:latin typeface="Arial" pitchFamily="34" charset="0"/>
              </a:rPr>
              <a:t>תוכניות</a:t>
            </a:r>
            <a:endParaRPr lang="he-IL" sz="2000" dirty="0">
              <a:latin typeface="Arial" pitchFamily="34" charset="0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he-IL" sz="2000" dirty="0">
                <a:latin typeface="Arial" pitchFamily="34" charset="0"/>
              </a:rPr>
              <a:t>משתמש</a:t>
            </a:r>
            <a:endParaRPr lang="en-GB" sz="2000" dirty="0">
              <a:latin typeface="Arial" pitchFamily="34" charset="0"/>
            </a:endParaRPr>
          </a:p>
        </p:txBody>
      </p:sp>
      <p:sp>
        <p:nvSpPr>
          <p:cNvPr id="50187" name="Text Box 12"/>
          <p:cNvSpPr txBox="1">
            <a:spLocks noChangeArrowheads="1"/>
          </p:cNvSpPr>
          <p:nvPr/>
        </p:nvSpPr>
        <p:spPr bwMode="auto">
          <a:xfrm rot="5400000">
            <a:off x="3781425" y="2347913"/>
            <a:ext cx="936625" cy="650875"/>
          </a:xfrm>
          <a:prstGeom prst="rect">
            <a:avLst/>
          </a:prstGeom>
          <a:solidFill>
            <a:schemeClr val="accent2">
              <a:lumMod val="60000"/>
              <a:lumOff val="40000"/>
              <a:alpha val="18823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b="1">
                <a:solidFill>
                  <a:schemeClr val="accent1">
                    <a:lumMod val="60000"/>
                    <a:lumOff val="40000"/>
                  </a:schemeClr>
                </a:solidFill>
              </a:rPr>
              <a:t>User mode</a:t>
            </a:r>
          </a:p>
        </p:txBody>
      </p:sp>
      <p:sp>
        <p:nvSpPr>
          <p:cNvPr id="50188" name="Oval 19"/>
          <p:cNvSpPr>
            <a:spLocks noChangeArrowheads="1"/>
          </p:cNvSpPr>
          <p:nvPr/>
        </p:nvSpPr>
        <p:spPr bwMode="auto">
          <a:xfrm>
            <a:off x="4067944" y="3220124"/>
            <a:ext cx="935856" cy="519351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900" b="1" dirty="0"/>
              <a:t>Device drivers</a:t>
            </a:r>
          </a:p>
        </p:txBody>
      </p:sp>
      <p:sp>
        <p:nvSpPr>
          <p:cNvPr id="50189" name="Oval 20"/>
          <p:cNvSpPr>
            <a:spLocks noChangeArrowheads="1"/>
          </p:cNvSpPr>
          <p:nvPr/>
        </p:nvSpPr>
        <p:spPr bwMode="auto">
          <a:xfrm>
            <a:off x="4140200" y="3867824"/>
            <a:ext cx="865188" cy="519351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900" b="1"/>
              <a:t>New FS</a:t>
            </a:r>
          </a:p>
        </p:txBody>
      </p:sp>
      <p:sp>
        <p:nvSpPr>
          <p:cNvPr id="882709" name="Rectangle 21"/>
          <p:cNvSpPr>
            <a:spLocks noChangeArrowheads="1"/>
          </p:cNvSpPr>
          <p:nvPr/>
        </p:nvSpPr>
        <p:spPr bwMode="auto">
          <a:xfrm>
            <a:off x="250825" y="5734050"/>
            <a:ext cx="46180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he-IL" sz="1000" dirty="0"/>
              <a:t>דיון מאוד </a:t>
            </a:r>
            <a:r>
              <a:rPr lang="he-IL" sz="1000" dirty="0" err="1"/>
              <a:t>מענין</a:t>
            </a:r>
            <a:r>
              <a:rPr lang="he-IL" sz="1000" dirty="0"/>
              <a:t> על  </a:t>
            </a:r>
            <a:r>
              <a:rPr lang="en-US" sz="1000" dirty="0"/>
              <a:t>MICROKERNEL VS MONOLITHIC SYSTEM</a:t>
            </a:r>
            <a:r>
              <a:rPr lang="ar-SA" sz="1000" dirty="0"/>
              <a:t> </a:t>
            </a:r>
            <a:r>
              <a:rPr lang="he-IL" sz="1000" dirty="0"/>
              <a:t>ניתן למצוא </a:t>
            </a:r>
            <a:r>
              <a:rPr lang="he-IL" sz="1000" dirty="0" smtClean="0"/>
              <a:t>ב</a:t>
            </a:r>
            <a:r>
              <a:rPr lang="en-US" sz="1000" dirty="0" smtClean="0"/>
              <a:t>:</a:t>
            </a:r>
            <a:r>
              <a:rPr lang="he-IL" sz="1000" dirty="0" smtClean="0"/>
              <a:t> </a:t>
            </a:r>
            <a:r>
              <a:rPr lang="en-US" sz="1000" dirty="0"/>
              <a:t>http://www.oreilly.com/catalog/opensources/book/appa.html</a:t>
            </a:r>
          </a:p>
        </p:txBody>
      </p:sp>
      <p:sp>
        <p:nvSpPr>
          <p:cNvPr id="50191" name="Text Box 28"/>
          <p:cNvSpPr txBox="1">
            <a:spLocks noChangeArrowheads="1"/>
          </p:cNvSpPr>
          <p:nvPr/>
        </p:nvSpPr>
        <p:spPr bwMode="auto">
          <a:xfrm>
            <a:off x="1746250" y="3500438"/>
            <a:ext cx="11207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/>
              <a:t>file system</a:t>
            </a:r>
          </a:p>
        </p:txBody>
      </p:sp>
      <p:sp>
        <p:nvSpPr>
          <p:cNvPr id="50192" name="Text Box 29"/>
          <p:cNvSpPr txBox="1">
            <a:spLocks noChangeArrowheads="1"/>
          </p:cNvSpPr>
          <p:nvPr/>
        </p:nvSpPr>
        <p:spPr bwMode="auto">
          <a:xfrm>
            <a:off x="2897188" y="3536950"/>
            <a:ext cx="11064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/>
              <a:t>scheduling</a:t>
            </a:r>
          </a:p>
        </p:txBody>
      </p:sp>
      <p:sp>
        <p:nvSpPr>
          <p:cNvPr id="50193" name="Text Box 30"/>
          <p:cNvSpPr txBox="1">
            <a:spLocks noChangeArrowheads="1"/>
          </p:cNvSpPr>
          <p:nvPr/>
        </p:nvSpPr>
        <p:spPr bwMode="auto">
          <a:xfrm>
            <a:off x="2278063" y="3249613"/>
            <a:ext cx="1162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 dirty="0"/>
              <a:t>networking</a:t>
            </a:r>
          </a:p>
        </p:txBody>
      </p:sp>
      <p:sp>
        <p:nvSpPr>
          <p:cNvPr id="50194" name="Text Box 31"/>
          <p:cNvSpPr txBox="1">
            <a:spLocks noChangeArrowheads="1"/>
          </p:cNvSpPr>
          <p:nvPr/>
        </p:nvSpPr>
        <p:spPr bwMode="auto">
          <a:xfrm>
            <a:off x="1860550" y="4221163"/>
            <a:ext cx="552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/>
              <a:t>הגנה</a:t>
            </a:r>
            <a:endParaRPr lang="en-GB" sz="1400" b="1"/>
          </a:p>
        </p:txBody>
      </p:sp>
      <p:sp>
        <p:nvSpPr>
          <p:cNvPr id="50195" name="Text Box 32"/>
          <p:cNvSpPr txBox="1">
            <a:spLocks noChangeArrowheads="1"/>
          </p:cNvSpPr>
          <p:nvPr/>
        </p:nvSpPr>
        <p:spPr bwMode="auto">
          <a:xfrm>
            <a:off x="2854325" y="4221163"/>
            <a:ext cx="1117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/>
              <a:t>ניהול המעבד</a:t>
            </a:r>
            <a:endParaRPr lang="en-GB" sz="1400" b="1"/>
          </a:p>
        </p:txBody>
      </p:sp>
      <p:sp>
        <p:nvSpPr>
          <p:cNvPr id="50196" name="Text Box 33"/>
          <p:cNvSpPr txBox="1">
            <a:spLocks noChangeArrowheads="1"/>
          </p:cNvSpPr>
          <p:nvPr/>
        </p:nvSpPr>
        <p:spPr bwMode="auto">
          <a:xfrm>
            <a:off x="2047875" y="3897313"/>
            <a:ext cx="1225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/>
              <a:t>זיכרון וירטואלי</a:t>
            </a:r>
            <a:endParaRPr lang="en-GB" sz="1400" b="1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65DBC-D705-40D2-92B7-1C8DF840364F}" type="slidenum">
              <a:rPr lang="he-IL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38"/>
            <a:ext cx="9144000" cy="683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900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charRg st="115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2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2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8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8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ארגון מערכת ההפעלה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46238"/>
            <a:ext cx="4038600" cy="45259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he-IL" b="1" dirty="0" smtClean="0"/>
              <a:t>היום... גרעין מודולרי</a:t>
            </a:r>
            <a:endParaRPr lang="en-GB" b="1" dirty="0" smtClean="0"/>
          </a:p>
        </p:txBody>
      </p:sp>
      <p:sp>
        <p:nvSpPr>
          <p:cNvPr id="88269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076825" y="1600200"/>
            <a:ext cx="3815655" cy="4852988"/>
          </a:xfrm>
        </p:spPr>
        <p:txBody>
          <a:bodyPr/>
          <a:lstStyle/>
          <a:p>
            <a:pPr>
              <a:buSzTx/>
              <a:buFont typeface="Wingdings" pitchFamily="2" charset="2"/>
              <a:buNone/>
            </a:pPr>
            <a:r>
              <a:rPr lang="he-IL" sz="2400" b="1" dirty="0" smtClean="0"/>
              <a:t>מודולים דינמיים, שניתן לטעון ולהסיר אותם מהזיכרון</a:t>
            </a:r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מאפשר לטעון רכיבי קוד ונתונים לפי דרישה </a:t>
            </a:r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מונע מהגרעין "להתנפח" ללא צורך בזיכרון המחשב</a:t>
            </a:r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קל להרחיב ולשנות</a:t>
            </a:r>
            <a:endParaRPr lang="en-US" sz="2400" b="1" dirty="0" smtClean="0"/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ביצועים טובים</a:t>
            </a:r>
          </a:p>
          <a:p>
            <a:pPr>
              <a:buFont typeface="Wingdings" pitchFamily="2" charset="2"/>
              <a:buNone/>
            </a:pPr>
            <a:r>
              <a:rPr lang="he-IL" sz="2400" b="1" dirty="0" smtClean="0"/>
              <a:t>דוגמאות:</a:t>
            </a:r>
          </a:p>
          <a:p>
            <a:pPr algn="l">
              <a:buFont typeface="Wingdings" pitchFamily="2" charset="2"/>
              <a:buNone/>
            </a:pPr>
            <a:r>
              <a:rPr lang="he-IL" sz="2400" b="1" dirty="0" smtClean="0"/>
              <a:t> </a:t>
            </a:r>
            <a:r>
              <a:rPr lang="en-US" sz="2400" b="1" dirty="0" smtClean="0"/>
              <a:t>Solaris, Mac OS X,</a:t>
            </a:r>
            <a:br>
              <a:rPr lang="en-US" sz="2400" b="1" dirty="0" smtClean="0"/>
            </a:br>
            <a:r>
              <a:rPr lang="en-US" sz="2400" b="1" dirty="0" smtClean="0"/>
              <a:t>Linux (kernel modules), Windows (Dynamic device Drivers)</a:t>
            </a:r>
          </a:p>
        </p:txBody>
      </p:sp>
      <p:sp>
        <p:nvSpPr>
          <p:cNvPr id="50182" name="Line 5"/>
          <p:cNvSpPr>
            <a:spLocks noChangeShapeType="1"/>
          </p:cNvSpPr>
          <p:nvPr/>
        </p:nvSpPr>
        <p:spPr bwMode="auto">
          <a:xfrm>
            <a:off x="1619250" y="4524375"/>
            <a:ext cx="2349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/>
          </a:p>
        </p:txBody>
      </p:sp>
      <p:sp>
        <p:nvSpPr>
          <p:cNvPr id="50183" name="Line 6"/>
          <p:cNvSpPr>
            <a:spLocks noChangeShapeType="1"/>
          </p:cNvSpPr>
          <p:nvPr/>
        </p:nvSpPr>
        <p:spPr bwMode="auto">
          <a:xfrm>
            <a:off x="1619250" y="3213100"/>
            <a:ext cx="2349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/>
          </a:p>
        </p:txBody>
      </p:sp>
      <p:sp>
        <p:nvSpPr>
          <p:cNvPr id="50184" name="Rectangle 7"/>
          <p:cNvSpPr>
            <a:spLocks noChangeArrowheads="1"/>
          </p:cNvSpPr>
          <p:nvPr/>
        </p:nvSpPr>
        <p:spPr bwMode="auto">
          <a:xfrm>
            <a:off x="539750" y="3500438"/>
            <a:ext cx="935038" cy="6413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x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 dirty="0">
                <a:solidFill>
                  <a:schemeClr val="tx2"/>
                </a:solidFill>
                <a:latin typeface="Comic Sans MS" pitchFamily="66" charset="0"/>
              </a:rPr>
              <a:t>Core kernel</a:t>
            </a:r>
          </a:p>
        </p:txBody>
      </p:sp>
      <p:sp>
        <p:nvSpPr>
          <p:cNvPr id="50185" name="Rectangle 8"/>
          <p:cNvSpPr>
            <a:spLocks noChangeArrowheads="1"/>
          </p:cNvSpPr>
          <p:nvPr/>
        </p:nvSpPr>
        <p:spPr bwMode="auto">
          <a:xfrm>
            <a:off x="2195513" y="4594225"/>
            <a:ext cx="1157287" cy="8255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r>
              <a:rPr lang="he-IL" sz="2400" b="1">
                <a:latin typeface="Arial" pitchFamily="34" charset="0"/>
              </a:rPr>
              <a:t>חומרה</a:t>
            </a:r>
            <a:endParaRPr lang="en-GB" sz="2400" b="1">
              <a:latin typeface="Arial" pitchFamily="34" charset="0"/>
            </a:endParaRPr>
          </a:p>
        </p:txBody>
      </p:sp>
      <p:sp>
        <p:nvSpPr>
          <p:cNvPr id="50186" name="Rectangle 9"/>
          <p:cNvSpPr>
            <a:spLocks noChangeArrowheads="1"/>
          </p:cNvSpPr>
          <p:nvPr/>
        </p:nvSpPr>
        <p:spPr bwMode="auto">
          <a:xfrm>
            <a:off x="1835150" y="2205038"/>
            <a:ext cx="1800225" cy="825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r>
              <a:rPr lang="he-IL" sz="2000" dirty="0" err="1">
                <a:latin typeface="Arial" pitchFamily="34" charset="0"/>
              </a:rPr>
              <a:t>תוכניות</a:t>
            </a:r>
            <a:endParaRPr lang="he-IL" sz="2000" dirty="0">
              <a:latin typeface="Arial" pitchFamily="34" charset="0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he-IL" sz="2000" dirty="0">
                <a:latin typeface="Arial" pitchFamily="34" charset="0"/>
              </a:rPr>
              <a:t>משתמש</a:t>
            </a:r>
            <a:endParaRPr lang="en-GB" sz="2000" dirty="0">
              <a:latin typeface="Arial" pitchFamily="34" charset="0"/>
            </a:endParaRPr>
          </a:p>
        </p:txBody>
      </p:sp>
      <p:sp>
        <p:nvSpPr>
          <p:cNvPr id="50187" name="Text Box 12"/>
          <p:cNvSpPr txBox="1">
            <a:spLocks noChangeArrowheads="1"/>
          </p:cNvSpPr>
          <p:nvPr/>
        </p:nvSpPr>
        <p:spPr bwMode="auto">
          <a:xfrm rot="5400000">
            <a:off x="3781425" y="2347913"/>
            <a:ext cx="936625" cy="650875"/>
          </a:xfrm>
          <a:prstGeom prst="rect">
            <a:avLst/>
          </a:prstGeom>
          <a:solidFill>
            <a:schemeClr val="accent2">
              <a:lumMod val="60000"/>
              <a:lumOff val="40000"/>
              <a:alpha val="18823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b="1">
                <a:solidFill>
                  <a:schemeClr val="accent1">
                    <a:lumMod val="60000"/>
                    <a:lumOff val="40000"/>
                  </a:schemeClr>
                </a:solidFill>
              </a:rPr>
              <a:t>User mode</a:t>
            </a:r>
          </a:p>
        </p:txBody>
      </p:sp>
      <p:sp>
        <p:nvSpPr>
          <p:cNvPr id="50188" name="Oval 19"/>
          <p:cNvSpPr>
            <a:spLocks noChangeArrowheads="1"/>
          </p:cNvSpPr>
          <p:nvPr/>
        </p:nvSpPr>
        <p:spPr bwMode="auto">
          <a:xfrm>
            <a:off x="4067944" y="3220124"/>
            <a:ext cx="935856" cy="519351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900" b="1" dirty="0"/>
              <a:t>Device drivers</a:t>
            </a:r>
          </a:p>
        </p:txBody>
      </p:sp>
      <p:sp>
        <p:nvSpPr>
          <p:cNvPr id="50189" name="Oval 20"/>
          <p:cNvSpPr>
            <a:spLocks noChangeArrowheads="1"/>
          </p:cNvSpPr>
          <p:nvPr/>
        </p:nvSpPr>
        <p:spPr bwMode="auto">
          <a:xfrm>
            <a:off x="4140200" y="3867824"/>
            <a:ext cx="865188" cy="519351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900" b="1"/>
              <a:t>New FS</a:t>
            </a:r>
          </a:p>
        </p:txBody>
      </p:sp>
      <p:sp>
        <p:nvSpPr>
          <p:cNvPr id="882709" name="Rectangle 21"/>
          <p:cNvSpPr>
            <a:spLocks noChangeArrowheads="1"/>
          </p:cNvSpPr>
          <p:nvPr/>
        </p:nvSpPr>
        <p:spPr bwMode="auto">
          <a:xfrm>
            <a:off x="250825" y="5734050"/>
            <a:ext cx="46180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he-IL" sz="1000" dirty="0"/>
              <a:t>דיון מאוד </a:t>
            </a:r>
            <a:r>
              <a:rPr lang="he-IL" sz="1000" dirty="0" err="1"/>
              <a:t>מענין</a:t>
            </a:r>
            <a:r>
              <a:rPr lang="he-IL" sz="1000" dirty="0"/>
              <a:t> על  </a:t>
            </a:r>
            <a:r>
              <a:rPr lang="en-US" sz="1000" dirty="0"/>
              <a:t>MICROKERNEL VS MONOLITHIC SYSTEM</a:t>
            </a:r>
            <a:r>
              <a:rPr lang="ar-SA" sz="1000" dirty="0"/>
              <a:t> </a:t>
            </a:r>
            <a:r>
              <a:rPr lang="he-IL" sz="1000" dirty="0"/>
              <a:t>ניתן למצוא </a:t>
            </a:r>
            <a:r>
              <a:rPr lang="he-IL" sz="1000" dirty="0" smtClean="0"/>
              <a:t>ב</a:t>
            </a:r>
            <a:r>
              <a:rPr lang="en-US" sz="1000" dirty="0" smtClean="0"/>
              <a:t>:</a:t>
            </a:r>
            <a:r>
              <a:rPr lang="he-IL" sz="1000" dirty="0" smtClean="0"/>
              <a:t> </a:t>
            </a:r>
            <a:r>
              <a:rPr lang="en-US" sz="1000" dirty="0"/>
              <a:t>http://www.oreilly.com/catalog/opensources/book/appa.html</a:t>
            </a:r>
          </a:p>
        </p:txBody>
      </p:sp>
      <p:sp>
        <p:nvSpPr>
          <p:cNvPr id="50191" name="Text Box 28"/>
          <p:cNvSpPr txBox="1">
            <a:spLocks noChangeArrowheads="1"/>
          </p:cNvSpPr>
          <p:nvPr/>
        </p:nvSpPr>
        <p:spPr bwMode="auto">
          <a:xfrm>
            <a:off x="1746250" y="3500438"/>
            <a:ext cx="11207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/>
              <a:t>file system</a:t>
            </a:r>
          </a:p>
        </p:txBody>
      </p:sp>
      <p:sp>
        <p:nvSpPr>
          <p:cNvPr id="50192" name="Text Box 29"/>
          <p:cNvSpPr txBox="1">
            <a:spLocks noChangeArrowheads="1"/>
          </p:cNvSpPr>
          <p:nvPr/>
        </p:nvSpPr>
        <p:spPr bwMode="auto">
          <a:xfrm>
            <a:off x="2897188" y="3536950"/>
            <a:ext cx="11064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/>
              <a:t>scheduling</a:t>
            </a:r>
          </a:p>
        </p:txBody>
      </p:sp>
      <p:sp>
        <p:nvSpPr>
          <p:cNvPr id="50193" name="Text Box 30"/>
          <p:cNvSpPr txBox="1">
            <a:spLocks noChangeArrowheads="1"/>
          </p:cNvSpPr>
          <p:nvPr/>
        </p:nvSpPr>
        <p:spPr bwMode="auto">
          <a:xfrm>
            <a:off x="2278063" y="3249613"/>
            <a:ext cx="1162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 dirty="0"/>
              <a:t>networking</a:t>
            </a:r>
          </a:p>
        </p:txBody>
      </p:sp>
      <p:sp>
        <p:nvSpPr>
          <p:cNvPr id="50194" name="Text Box 31"/>
          <p:cNvSpPr txBox="1">
            <a:spLocks noChangeArrowheads="1"/>
          </p:cNvSpPr>
          <p:nvPr/>
        </p:nvSpPr>
        <p:spPr bwMode="auto">
          <a:xfrm>
            <a:off x="1860550" y="4221163"/>
            <a:ext cx="552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/>
              <a:t>הגנה</a:t>
            </a:r>
            <a:endParaRPr lang="en-GB" sz="1400" b="1"/>
          </a:p>
        </p:txBody>
      </p:sp>
      <p:sp>
        <p:nvSpPr>
          <p:cNvPr id="50195" name="Text Box 32"/>
          <p:cNvSpPr txBox="1">
            <a:spLocks noChangeArrowheads="1"/>
          </p:cNvSpPr>
          <p:nvPr/>
        </p:nvSpPr>
        <p:spPr bwMode="auto">
          <a:xfrm>
            <a:off x="2854325" y="4221163"/>
            <a:ext cx="1117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/>
              <a:t>ניהול המעבד</a:t>
            </a:r>
            <a:endParaRPr lang="en-GB" sz="1400" b="1"/>
          </a:p>
        </p:txBody>
      </p:sp>
      <p:sp>
        <p:nvSpPr>
          <p:cNvPr id="50196" name="Text Box 33"/>
          <p:cNvSpPr txBox="1">
            <a:spLocks noChangeArrowheads="1"/>
          </p:cNvSpPr>
          <p:nvPr/>
        </p:nvSpPr>
        <p:spPr bwMode="auto">
          <a:xfrm>
            <a:off x="2047875" y="3897313"/>
            <a:ext cx="1225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/>
              <a:t>זיכרון וירטואלי</a:t>
            </a:r>
            <a:endParaRPr lang="en-GB" sz="1400" b="1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65DBC-D705-40D2-92B7-1C8DF840364F}" type="slidenum">
              <a:rPr lang="he-IL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charRg st="115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2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2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8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8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הווה ועתיד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600200"/>
            <a:ext cx="8550027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b="1" dirty="0" smtClean="0"/>
              <a:t>חומרה זולה מאוד, כוח חישוב רב.</a:t>
            </a:r>
          </a:p>
          <a:p>
            <a:pPr lvl="1">
              <a:lnSpc>
                <a:spcPct val="90000"/>
              </a:lnSpc>
            </a:pPr>
            <a:r>
              <a:rPr lang="he-IL" sz="2800" b="1" dirty="0" smtClean="0"/>
              <a:t>ריבוי משימות: </a:t>
            </a:r>
            <a:r>
              <a:rPr lang="en-US" sz="2800" b="1" dirty="0" smtClean="0"/>
              <a:t>Windows NT, Windows Vista, Linux, Solaris, BSD, Mac OS X </a:t>
            </a:r>
          </a:p>
          <a:p>
            <a:pPr lvl="1">
              <a:lnSpc>
                <a:spcPct val="90000"/>
              </a:lnSpc>
            </a:pPr>
            <a:r>
              <a:rPr lang="he-IL" sz="2800" b="1" dirty="0" smtClean="0"/>
              <a:t>ריבוי מעבדים וריבוי ליבות </a:t>
            </a:r>
            <a:r>
              <a:rPr lang="en-US" sz="2800" b="1" dirty="0" smtClean="0"/>
              <a:t>(multi-core)</a:t>
            </a:r>
            <a:endParaRPr lang="he-IL" sz="2800" b="1" dirty="0" smtClean="0"/>
          </a:p>
          <a:p>
            <a:pPr lvl="1">
              <a:lnSpc>
                <a:spcPct val="90000"/>
              </a:lnSpc>
            </a:pPr>
            <a:r>
              <a:rPr lang="he-IL" sz="2800" b="1" dirty="0" smtClean="0"/>
              <a:t>שיתוף משאבים בסיסי: דיסקים, מדפסות, ...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he-IL" b="1" dirty="0" smtClean="0"/>
          </a:p>
          <a:p>
            <a:pPr>
              <a:lnSpc>
                <a:spcPct val="90000"/>
              </a:lnSpc>
            </a:pPr>
            <a:r>
              <a:rPr lang="he-IL" b="1" dirty="0" smtClean="0"/>
              <a:t>רשתות מהירות.</a:t>
            </a:r>
          </a:p>
          <a:p>
            <a:pPr lvl="1">
              <a:lnSpc>
                <a:spcPct val="90000"/>
              </a:lnSpc>
            </a:pPr>
            <a:r>
              <a:rPr lang="he-IL" sz="2800" b="1" dirty="0" smtClean="0"/>
              <a:t>הרשת היא המחשב: </a:t>
            </a:r>
            <a:r>
              <a:rPr lang="en-US" sz="2800" b="1" dirty="0" err="1" smtClean="0"/>
              <a:t>SETI@home</a:t>
            </a:r>
            <a:r>
              <a:rPr lang="en-US" sz="2800" b="1" dirty="0" smtClean="0"/>
              <a:t>, Grid Computing</a:t>
            </a:r>
          </a:p>
          <a:p>
            <a:pPr lvl="1">
              <a:lnSpc>
                <a:spcPct val="90000"/>
              </a:lnSpc>
            </a:pPr>
            <a:r>
              <a:rPr lang="he-IL" sz="2800" b="1" dirty="0" smtClean="0"/>
              <a:t>הרשת היא אמצעי אחסון: </a:t>
            </a:r>
            <a:r>
              <a:rPr lang="en-US" sz="2800" b="1" dirty="0" smtClean="0"/>
              <a:t>SAN, Web storage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העתיד הקרוב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169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568952" cy="4525962"/>
          </a:xfrm>
        </p:spPr>
        <p:txBody>
          <a:bodyPr/>
          <a:lstStyle/>
          <a:p>
            <a:r>
              <a:rPr lang="he-IL" b="1" dirty="0" smtClean="0"/>
              <a:t>וירטואליזציה</a:t>
            </a:r>
            <a:r>
              <a:rPr lang="en-US" b="1" dirty="0" smtClean="0"/>
              <a:t> </a:t>
            </a:r>
            <a:r>
              <a:rPr lang="he-IL" b="1" dirty="0" smtClean="0"/>
              <a:t> - סגירת מעגל?</a:t>
            </a:r>
          </a:p>
          <a:p>
            <a:pPr lvl="1"/>
            <a:r>
              <a:rPr lang="he-IL" sz="2800" b="1" dirty="0" smtClean="0"/>
              <a:t>ניתוק מערכת ההפעלה מהחומרה</a:t>
            </a:r>
          </a:p>
          <a:p>
            <a:pPr lvl="1"/>
            <a:r>
              <a:rPr lang="he-IL" sz="2800" b="1" dirty="0" smtClean="0"/>
              <a:t>מספר "מחשבים מדומים" על-גבי מכונה פיזית אחת</a:t>
            </a:r>
          </a:p>
          <a:p>
            <a:pPr lvl="1"/>
            <a:r>
              <a:rPr lang="he-IL" sz="2800" b="1" dirty="0" smtClean="0"/>
              <a:t>בשילוב רשתות מהירות: </a:t>
            </a:r>
            <a:r>
              <a:rPr lang="en-US" sz="2800" b="1" dirty="0" smtClean="0"/>
              <a:t>Cloud Computing</a:t>
            </a:r>
          </a:p>
          <a:p>
            <a:pPr lvl="1"/>
            <a:r>
              <a:rPr lang="he-IL" sz="2800" b="1" dirty="0" smtClean="0"/>
              <a:t>מערכת הפעלה ייעודית - </a:t>
            </a:r>
            <a:r>
              <a:rPr lang="en-US" sz="2800" b="1" dirty="0" smtClean="0"/>
              <a:t>Software Appliance</a:t>
            </a:r>
          </a:p>
          <a:p>
            <a:endParaRPr lang="en-US" sz="2400" b="1" dirty="0" smtClean="0"/>
          </a:p>
          <a:p>
            <a:r>
              <a:rPr lang="he-IL" b="1" dirty="0" smtClean="0"/>
              <a:t>מזעור והטמעה</a:t>
            </a:r>
          </a:p>
          <a:p>
            <a:pPr lvl="1"/>
            <a:r>
              <a:rPr lang="he-IL" sz="2800" b="1" dirty="0" smtClean="0"/>
              <a:t>טלפון סלולרי כמערכת מחשב, </a:t>
            </a:r>
            <a:r>
              <a:rPr lang="en-GB" sz="2800" b="1" dirty="0" smtClean="0"/>
              <a:t>Tablets,</a:t>
            </a:r>
            <a:r>
              <a:rPr lang="en-US" sz="2800" b="1" dirty="0" smtClean="0"/>
              <a:t>Netbooks</a:t>
            </a:r>
            <a:endParaRPr lang="he-IL" sz="2800" b="1" dirty="0" smtClean="0"/>
          </a:p>
          <a:p>
            <a:pPr lvl="1"/>
            <a:r>
              <a:rPr lang="he-IL" sz="2800" b="1" dirty="0" smtClean="0"/>
              <a:t>מחשוב בכל </a:t>
            </a:r>
            <a:r>
              <a:rPr lang="he-IL" sz="2800" b="1" dirty="0" smtClean="0"/>
              <a:t>מקום</a:t>
            </a:r>
            <a:endParaRPr lang="en-US" sz="2800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מבנה המחשב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192" y="1646238"/>
            <a:ext cx="8435280" cy="45259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he-IL" b="1" dirty="0" smtClean="0"/>
              <a:t>התנהגות מערכת ההפעלה מוכתבת (חלקית) על-ידי החומרה שעליה היא רצה</a:t>
            </a:r>
          </a:p>
          <a:p>
            <a:pPr lvl="1"/>
            <a:r>
              <a:rPr lang="he-IL" b="1" dirty="0" smtClean="0"/>
              <a:t>סט פקודות, רכיבים מיוחדים</a:t>
            </a:r>
          </a:p>
          <a:p>
            <a:pPr>
              <a:buFont typeface="Wingdings" pitchFamily="2" charset="2"/>
              <a:buNone/>
            </a:pPr>
            <a:endParaRPr lang="he-IL" b="1" dirty="0" smtClean="0"/>
          </a:p>
          <a:p>
            <a:pPr>
              <a:buFont typeface="Wingdings" pitchFamily="2" charset="2"/>
              <a:buNone/>
            </a:pPr>
            <a:r>
              <a:rPr lang="he-IL" b="1" dirty="0" smtClean="0"/>
              <a:t>החומרה יכולה לפשט / לסבך משימות מערכת ההפעלה</a:t>
            </a:r>
          </a:p>
          <a:p>
            <a:pPr lvl="1"/>
            <a:r>
              <a:rPr lang="he-IL" b="1" dirty="0" smtClean="0"/>
              <a:t>מחשבים ישנים לא סיפקו תמיכה לזיכרון וירטואלי</a:t>
            </a:r>
          </a:p>
          <a:p>
            <a:pPr lvl="1"/>
            <a:r>
              <a:rPr lang="he-IL" b="1" dirty="0" smtClean="0"/>
              <a:t>מחשבים מודרניים מכילים ריבוי ליבות ותמיכת חומרה בריבוי תהליכים</a:t>
            </a:r>
          </a:p>
          <a:p>
            <a:pPr lvl="1">
              <a:buFont typeface="Wingdings" pitchFamily="2" charset="2"/>
              <a:buNone/>
            </a:pPr>
            <a:endParaRPr lang="he-IL" b="1" dirty="0" smtClean="0"/>
          </a:p>
          <a:p>
            <a:pPr lvl="1">
              <a:buFont typeface="Wingdings" pitchFamily="2" charset="2"/>
              <a:buNone/>
            </a:pPr>
            <a:endParaRPr lang="en-GB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he-IL" sz="4000" b="1" i="1">
                <a:solidFill>
                  <a:srgbClr val="FFFF00"/>
                </a:solidFill>
              </a:rPr>
              <a:t>מנגנוני חומרה לתמיכה במערכת ההפעלה</a:t>
            </a:r>
            <a:endParaRPr lang="en-GB" sz="4000" b="1" i="1">
              <a:solidFill>
                <a:srgbClr val="FFFF00"/>
              </a:solidFill>
            </a:endParaRPr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1520" y="1646238"/>
            <a:ext cx="8640960" cy="4525962"/>
          </a:xfrm>
        </p:spPr>
        <p:txBody>
          <a:bodyPr/>
          <a:lstStyle/>
          <a:p>
            <a:r>
              <a:rPr lang="he-IL" b="1" dirty="0" smtClean="0"/>
              <a:t>שעון חומרה		                   </a:t>
            </a:r>
            <a:r>
              <a:rPr lang="en-GB" b="1" dirty="0" smtClean="0"/>
              <a:t>Hardware clock</a:t>
            </a:r>
            <a:endParaRPr lang="he-IL" b="1" dirty="0" smtClean="0"/>
          </a:p>
          <a:p>
            <a:r>
              <a:rPr lang="he-IL" b="1" dirty="0" smtClean="0"/>
              <a:t>פעולות סנכרון אטומיות</a:t>
            </a:r>
            <a:r>
              <a:rPr lang="en-GB" b="1" dirty="0" smtClean="0"/>
              <a:t>Atomic synch actions          </a:t>
            </a:r>
          </a:p>
          <a:p>
            <a:r>
              <a:rPr lang="he-IL" b="1" dirty="0" smtClean="0"/>
              <a:t>פסיקות				         	</a:t>
            </a:r>
            <a:r>
              <a:rPr lang="en-GB" b="1" dirty="0" smtClean="0"/>
              <a:t>Interrupts  </a:t>
            </a:r>
            <a:endParaRPr lang="he-IL" b="1" dirty="0" smtClean="0"/>
          </a:p>
          <a:p>
            <a:r>
              <a:rPr lang="he-IL" b="1" dirty="0" smtClean="0"/>
              <a:t>קריאות מערכת-הפעלה         </a:t>
            </a:r>
            <a:r>
              <a:rPr lang="en-GB" b="1" dirty="0" smtClean="0"/>
              <a:t>Operating system calls</a:t>
            </a:r>
          </a:p>
          <a:p>
            <a:r>
              <a:rPr lang="he-IL" b="1" dirty="0" smtClean="0"/>
              <a:t>פעולות בקרת קלט / פלט        </a:t>
            </a:r>
            <a:r>
              <a:rPr lang="en-US" b="1" dirty="0" smtClean="0"/>
              <a:t>I</a:t>
            </a:r>
            <a:r>
              <a:rPr lang="en-GB" b="1" dirty="0" smtClean="0"/>
              <a:t>nput / output actions</a:t>
            </a:r>
            <a:endParaRPr lang="he-IL" b="1" dirty="0" smtClean="0"/>
          </a:p>
          <a:p>
            <a:r>
              <a:rPr lang="he-IL" b="1" dirty="0" smtClean="0"/>
              <a:t>הגנת זיכרון                              </a:t>
            </a:r>
            <a:r>
              <a:rPr lang="en-GB" b="1" dirty="0" smtClean="0"/>
              <a:t>Memory protection</a:t>
            </a:r>
            <a:endParaRPr lang="he-IL" b="1" dirty="0" smtClean="0"/>
          </a:p>
          <a:p>
            <a:r>
              <a:rPr lang="he-IL" b="1" dirty="0" smtClean="0"/>
              <a:t>אופן עבודה </a:t>
            </a:r>
            <a:r>
              <a:rPr lang="he-IL" b="1" dirty="0" err="1" smtClean="0"/>
              <a:t>מוּגן</a:t>
            </a:r>
            <a:r>
              <a:rPr lang="he-IL" b="1" dirty="0" smtClean="0"/>
              <a:t> (</a:t>
            </a:r>
            <a:r>
              <a:rPr lang="en-US" sz="2400" b="1" dirty="0" smtClean="0"/>
              <a:t>protected</a:t>
            </a:r>
            <a:r>
              <a:rPr lang="he-IL" b="1" dirty="0" smtClean="0"/>
              <a:t>)    </a:t>
            </a:r>
            <a:r>
              <a:rPr lang="en-GB" b="1" dirty="0" smtClean="0"/>
              <a:t>Protected work mode</a:t>
            </a:r>
            <a:endParaRPr lang="en-US" b="1" dirty="0" smtClean="0"/>
          </a:p>
          <a:p>
            <a:r>
              <a:rPr lang="he-IL" b="1" dirty="0" smtClean="0"/>
              <a:t>פקודות </a:t>
            </a:r>
            <a:r>
              <a:rPr lang="he-IL" b="1" dirty="0" err="1" smtClean="0"/>
              <a:t>מוּגנות</a:t>
            </a:r>
            <a:r>
              <a:rPr lang="he-IL" b="1" dirty="0" smtClean="0"/>
              <a:t>                       </a:t>
            </a:r>
            <a:r>
              <a:rPr lang="en-US" b="1" dirty="0" smtClean="0"/>
              <a:t>P</a:t>
            </a:r>
            <a:r>
              <a:rPr lang="en-GB" b="1" dirty="0" smtClean="0"/>
              <a:t>rotected commands</a:t>
            </a:r>
            <a:endParaRPr lang="he-IL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פקודות מוגנות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2248" y="1646238"/>
            <a:ext cx="8568224" cy="4525962"/>
          </a:xfrm>
        </p:spPr>
        <p:txBody>
          <a:bodyPr/>
          <a:lstStyle/>
          <a:p>
            <a:r>
              <a:rPr lang="he-IL" b="1" dirty="0" smtClean="0"/>
              <a:t>חלק מפקודות המכונה מותרות רק למערכת-ההפעלה</a:t>
            </a:r>
          </a:p>
          <a:p>
            <a:pPr lvl="1"/>
            <a:r>
              <a:rPr lang="he-IL" sz="2800" b="1" dirty="0" smtClean="0"/>
              <a:t>גישה לרכיבי קלט / פלט (דיסקים, כרטיסי תקשורת).</a:t>
            </a:r>
          </a:p>
          <a:p>
            <a:pPr lvl="1"/>
            <a:r>
              <a:rPr lang="he-IL" sz="2800" b="1" dirty="0" smtClean="0"/>
              <a:t>שינוי של מבני הנתונים לגישה לזיכרון (טבלת דפים, </a:t>
            </a:r>
            <a:r>
              <a:rPr lang="en-US" sz="2800" b="1" dirty="0" smtClean="0"/>
              <a:t>TLB</a:t>
            </a:r>
            <a:r>
              <a:rPr lang="he-IL" sz="2800" b="1" dirty="0" smtClean="0"/>
              <a:t>).</a:t>
            </a:r>
          </a:p>
          <a:p>
            <a:pPr lvl="1"/>
            <a:r>
              <a:rPr lang="he-IL" sz="2800" b="1" dirty="0" smtClean="0"/>
              <a:t>טיפול בפסיקות מכונה.</a:t>
            </a:r>
          </a:p>
          <a:p>
            <a:pPr lvl="1"/>
            <a:r>
              <a:rPr lang="he-IL" sz="2800" b="1" dirty="0" smtClean="0"/>
              <a:t>עדכון של סיביות</a:t>
            </a:r>
            <a:r>
              <a:rPr lang="he-IL" sz="2800" b="1" i="1" dirty="0" smtClean="0"/>
              <a:t> </a:t>
            </a:r>
            <a:r>
              <a:rPr lang="he-IL" sz="2800" b="1" dirty="0" smtClean="0"/>
              <a:t>מוד (מצב) מיוחדות (לקביעת עדיפות טיפול בפסיקות).</a:t>
            </a:r>
          </a:p>
          <a:p>
            <a:pPr lvl="1"/>
            <a:r>
              <a:rPr lang="he-IL" sz="2800" b="1" dirty="0" smtClean="0"/>
              <a:t>פקודת  </a:t>
            </a:r>
            <a:r>
              <a:rPr lang="en-US" sz="2800" b="1" dirty="0" smtClean="0"/>
              <a:t> - halt</a:t>
            </a:r>
            <a:r>
              <a:rPr lang="he-IL" sz="2800" b="1" dirty="0"/>
              <a:t> </a:t>
            </a:r>
            <a:r>
              <a:rPr lang="he-IL" sz="2800" b="1" dirty="0" smtClean="0"/>
              <a:t>עצור.</a:t>
            </a:r>
          </a:p>
          <a:p>
            <a:pPr lvl="1">
              <a:buFont typeface="Wingdings" pitchFamily="2" charset="2"/>
              <a:buNone/>
            </a:pPr>
            <a:endParaRPr lang="en-GB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עבודה במצב </a:t>
            </a:r>
            <a:r>
              <a:rPr lang="he-IL" sz="4000" b="1" i="1" dirty="0" smtClean="0">
                <a:solidFill>
                  <a:srgbClr val="FFFF00"/>
                </a:solidFill>
              </a:rPr>
              <a:t>מוגן </a:t>
            </a:r>
            <a:r>
              <a:rPr lang="en-US" sz="4000" b="1" i="1" dirty="0" smtClean="0">
                <a:solidFill>
                  <a:srgbClr val="FFFF00"/>
                </a:solidFill>
              </a:rPr>
              <a:t>(safe mode)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he-IL" b="1" dirty="0" smtClean="0"/>
              <a:t>הארכיטקטורה תומכת בשני מצבים לפחות:</a:t>
            </a:r>
            <a:endParaRPr lang="he-IL" sz="2800" b="1" dirty="0" smtClean="0"/>
          </a:p>
          <a:p>
            <a:pPr lvl="1">
              <a:lnSpc>
                <a:spcPct val="90000"/>
              </a:lnSpc>
            </a:pPr>
            <a:r>
              <a:rPr lang="en-US" sz="2800" b="1" dirty="0" smtClean="0"/>
              <a:t>kernel mode	</a:t>
            </a:r>
          </a:p>
          <a:p>
            <a:pPr lvl="1">
              <a:lnSpc>
                <a:spcPct val="90000"/>
              </a:lnSpc>
            </a:pPr>
            <a:r>
              <a:rPr lang="en-US" sz="2800" b="1" dirty="0" smtClean="0"/>
              <a:t>user mode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he-IL" b="1" dirty="0" smtClean="0"/>
          </a:p>
          <a:p>
            <a:pPr>
              <a:lnSpc>
                <a:spcPct val="90000"/>
              </a:lnSpc>
            </a:pPr>
            <a:r>
              <a:rPr lang="he-IL" b="1" dirty="0" smtClean="0"/>
              <a:t>המצב נשמר באמצעות </a:t>
            </a:r>
            <a:r>
              <a:rPr lang="en-US" sz="2400" b="1" dirty="0" smtClean="0"/>
              <a:t>status bit</a:t>
            </a:r>
            <a:r>
              <a:rPr lang="he-IL" sz="2400" b="1" dirty="0" smtClean="0"/>
              <a:t> </a:t>
            </a:r>
            <a:r>
              <a:rPr lang="he-IL" b="1" dirty="0" smtClean="0"/>
              <a:t>ברגיסטר מוגן </a:t>
            </a:r>
            <a:r>
              <a:rPr lang="en-US" b="1" dirty="0" smtClean="0"/>
              <a:t>(safe)</a:t>
            </a:r>
            <a:r>
              <a:rPr lang="he-IL" b="1" dirty="0" smtClean="0"/>
              <a:t>.</a:t>
            </a:r>
            <a:endParaRPr lang="he-IL" sz="2800" b="1" dirty="0" smtClean="0"/>
          </a:p>
          <a:p>
            <a:pPr lvl="1">
              <a:lnSpc>
                <a:spcPct val="90000"/>
              </a:lnSpc>
            </a:pPr>
            <a:r>
              <a:rPr lang="he-IL" sz="2800" b="1" dirty="0" smtClean="0"/>
              <a:t>תכניות משתמש רצות ב-</a:t>
            </a:r>
            <a:r>
              <a:rPr lang="en-US" sz="2800" b="1" dirty="0" smtClean="0"/>
              <a:t>user mode</a:t>
            </a:r>
            <a:r>
              <a:rPr lang="he-IL" sz="2800" b="1" dirty="0" smtClean="0"/>
              <a:t>.</a:t>
            </a:r>
          </a:p>
          <a:p>
            <a:pPr lvl="1">
              <a:lnSpc>
                <a:spcPct val="90000"/>
              </a:lnSpc>
            </a:pPr>
            <a:r>
              <a:rPr lang="he-IL" sz="2800" b="1" dirty="0" smtClean="0"/>
              <a:t>מערכת ההפעלה רצה ב-</a:t>
            </a:r>
            <a:r>
              <a:rPr lang="en-US" sz="2800" b="1" dirty="0" smtClean="0"/>
              <a:t>kernel mode</a:t>
            </a:r>
            <a:r>
              <a:rPr lang="he-IL" sz="2800" b="1" dirty="0" smtClean="0"/>
              <a:t>.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he-IL" b="1" dirty="0" smtClean="0"/>
          </a:p>
          <a:p>
            <a:pPr>
              <a:lnSpc>
                <a:spcPct val="90000"/>
              </a:lnSpc>
            </a:pPr>
            <a:r>
              <a:rPr lang="he-IL" b="1" dirty="0" smtClean="0"/>
              <a:t>המעבד מבצע פקודות מוגנות רק ב-</a:t>
            </a:r>
            <a:r>
              <a:rPr lang="en-US" sz="2800" b="1" dirty="0" smtClean="0"/>
              <a:t>kernel mode</a:t>
            </a:r>
            <a:r>
              <a:rPr lang="he-IL" b="1" dirty="0" smtClean="0"/>
              <a:t>.</a:t>
            </a:r>
            <a:endParaRPr lang="en-GB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02915"/>
          </a:xfrm>
        </p:spPr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אז איך משתמש ניגש לדיסק?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3413782" y="1037170"/>
            <a:ext cx="5478698" cy="5488174"/>
          </a:xfrm>
        </p:spPr>
        <p:txBody>
          <a:bodyPr/>
          <a:lstStyle/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he-IL" sz="2800" b="1" dirty="0" smtClean="0"/>
              <a:t>קריאה לפרוצדורת מערכת-הפעלה (</a:t>
            </a:r>
            <a:r>
              <a:rPr lang="en-US" sz="2800" b="1" i="1" dirty="0" smtClean="0">
                <a:solidFill>
                  <a:srgbClr val="FFFF00"/>
                </a:solidFill>
              </a:rPr>
              <a:t>system call</a:t>
            </a:r>
            <a:r>
              <a:rPr lang="he-IL" sz="2800" b="1" dirty="0" smtClean="0"/>
              <a:t>)</a:t>
            </a:r>
          </a:p>
          <a:p>
            <a:pPr>
              <a:spcBef>
                <a:spcPts val="0"/>
              </a:spcBef>
            </a:pPr>
            <a:r>
              <a:rPr lang="he-IL" sz="2800" b="1" dirty="0" smtClean="0"/>
              <a:t>קריאה לפסיקה:</a:t>
            </a:r>
            <a:endParaRPr lang="en-US" sz="2800" b="1" dirty="0" smtClean="0"/>
          </a:p>
          <a:p>
            <a:pPr lvl="1">
              <a:spcBef>
                <a:spcPts val="0"/>
              </a:spcBef>
            </a:pPr>
            <a:r>
              <a:rPr lang="he-IL" sz="2800" b="1" dirty="0" smtClean="0"/>
              <a:t>מציב ברגיסטר </a:t>
            </a:r>
            <a:r>
              <a:rPr lang="en-US" sz="2800" b="1" dirty="0" err="1" smtClean="0"/>
              <a:t>eax</a:t>
            </a:r>
            <a:r>
              <a:rPr lang="he-IL" sz="2800" b="1" dirty="0" smtClean="0"/>
              <a:t> את המספר של ה- </a:t>
            </a:r>
            <a:r>
              <a:rPr lang="en-US" sz="2800" b="1" dirty="0" smtClean="0"/>
              <a:t>system call</a:t>
            </a:r>
            <a:r>
              <a:rPr lang="he-IL" sz="2800" b="1" dirty="0" smtClean="0"/>
              <a:t> המבוקש.</a:t>
            </a:r>
          </a:p>
          <a:p>
            <a:pPr lvl="1">
              <a:spcBef>
                <a:spcPts val="0"/>
              </a:spcBef>
            </a:pPr>
            <a:r>
              <a:rPr lang="he-IL" sz="2800" b="1" dirty="0" smtClean="0"/>
              <a:t>מכין פרמטרים לפי השרות המבוקש</a:t>
            </a:r>
          </a:p>
          <a:p>
            <a:pPr lvl="1">
              <a:spcBef>
                <a:spcPts val="0"/>
              </a:spcBef>
            </a:pPr>
            <a:r>
              <a:rPr lang="he-IL" sz="2800" b="1" dirty="0" smtClean="0"/>
              <a:t>מבצע פקודת </a:t>
            </a:r>
            <a:r>
              <a:rPr lang="en-US" sz="2800" b="1" dirty="0" smtClean="0">
                <a:latin typeface="Arial" pitchFamily="34" charset="0"/>
              </a:rPr>
              <a:t>“</a:t>
            </a:r>
            <a:r>
              <a:rPr lang="en-US" sz="2800" b="1" dirty="0" err="1" smtClean="0"/>
              <a:t>int</a:t>
            </a:r>
            <a:r>
              <a:rPr lang="en-US" sz="2800" b="1" dirty="0" smtClean="0"/>
              <a:t> 0x80</a:t>
            </a:r>
            <a:r>
              <a:rPr lang="en-US" sz="2800" b="1" dirty="0" smtClean="0">
                <a:latin typeface="Arial" pitchFamily="34" charset="0"/>
              </a:rPr>
              <a:t>”</a:t>
            </a:r>
            <a:endParaRPr lang="he-IL" sz="2800" b="1" dirty="0" smtClean="0"/>
          </a:p>
          <a:p>
            <a:pPr>
              <a:spcBef>
                <a:spcPts val="0"/>
              </a:spcBef>
            </a:pPr>
            <a:r>
              <a:rPr lang="he-IL" sz="2800" b="1" dirty="0" smtClean="0"/>
              <a:t>פרמטר מזהה את קריאת המערכת</a:t>
            </a:r>
            <a:endParaRPr lang="en-US" sz="2800" b="1" dirty="0" smtClean="0"/>
          </a:p>
          <a:p>
            <a:pPr>
              <a:spcBef>
                <a:spcPts val="0"/>
              </a:spcBef>
            </a:pPr>
            <a:r>
              <a:rPr lang="he-IL" sz="2800" b="1" dirty="0" smtClean="0"/>
              <a:t>שומרת את מצב התוכנית הקוראת</a:t>
            </a:r>
          </a:p>
          <a:p>
            <a:pPr>
              <a:spcBef>
                <a:spcPts val="0"/>
              </a:spcBef>
            </a:pPr>
            <a:r>
              <a:rPr lang="he-IL" sz="2800" b="1" dirty="0" smtClean="0"/>
              <a:t>מוודאת את הפרמטרים (מצביעים)</a:t>
            </a:r>
          </a:p>
          <a:p>
            <a:pPr>
              <a:spcBef>
                <a:spcPts val="0"/>
              </a:spcBef>
            </a:pPr>
            <a:r>
              <a:rPr lang="he-IL" sz="2800" b="1" dirty="0" smtClean="0"/>
              <a:t>רוטינת השירות במערכת ההפעלה</a:t>
            </a:r>
          </a:p>
          <a:p>
            <a:pPr>
              <a:spcBef>
                <a:spcPts val="0"/>
              </a:spcBef>
            </a:pPr>
            <a:r>
              <a:rPr lang="he-IL" sz="2800" b="1" dirty="0" smtClean="0"/>
              <a:t>חזרה לתוכנית הקוראת כאשר מסיימים</a:t>
            </a:r>
            <a:endParaRPr lang="en-GB" sz="2800" b="1" dirty="0" smtClean="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07504" y="3407754"/>
            <a:ext cx="3744912" cy="801687"/>
            <a:chOff x="249" y="2183"/>
            <a:chExt cx="2359" cy="505"/>
          </a:xfrm>
        </p:grpSpPr>
        <p:sp>
          <p:nvSpPr>
            <p:cNvPr id="57362" name="Line 7"/>
            <p:cNvSpPr>
              <a:spLocks noChangeShapeType="1"/>
            </p:cNvSpPr>
            <p:nvPr/>
          </p:nvSpPr>
          <p:spPr bwMode="auto">
            <a:xfrm>
              <a:off x="363" y="2432"/>
              <a:ext cx="2245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57363" name="Text Box 8"/>
            <p:cNvSpPr txBox="1">
              <a:spLocks noChangeArrowheads="1"/>
            </p:cNvSpPr>
            <p:nvPr/>
          </p:nvSpPr>
          <p:spPr bwMode="auto">
            <a:xfrm>
              <a:off x="264" y="2183"/>
              <a:ext cx="86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FF00"/>
                  </a:solidFill>
                  <a:latin typeface="Comic Sans MS" pitchFamily="66" charset="0"/>
                </a:rPr>
                <a:t>User mode</a:t>
              </a:r>
            </a:p>
          </p:txBody>
        </p:sp>
        <p:sp>
          <p:nvSpPr>
            <p:cNvPr id="57364" name="Text Box 10"/>
            <p:cNvSpPr txBox="1">
              <a:spLocks noChangeArrowheads="1"/>
            </p:cNvSpPr>
            <p:nvPr/>
          </p:nvSpPr>
          <p:spPr bwMode="auto">
            <a:xfrm>
              <a:off x="249" y="2455"/>
              <a:ext cx="97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en-US" b="1">
                  <a:solidFill>
                    <a:srgbClr val="FFFF00"/>
                  </a:solidFill>
                  <a:latin typeface="Comic Sans MS" pitchFamily="66" charset="0"/>
                </a:rPr>
                <a:t>Kernel mode</a:t>
              </a:r>
            </a:p>
          </p:txBody>
        </p:sp>
      </p:grpSp>
      <p:sp>
        <p:nvSpPr>
          <p:cNvPr id="74763" name="Text Box 11"/>
          <p:cNvSpPr txBox="1">
            <a:spLocks noChangeArrowheads="1"/>
          </p:cNvSpPr>
          <p:nvPr/>
        </p:nvSpPr>
        <p:spPr bwMode="auto">
          <a:xfrm>
            <a:off x="1188591" y="2471129"/>
            <a:ext cx="22862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b="1" dirty="0">
                <a:solidFill>
                  <a:srgbClr val="FFFF00"/>
                </a:solidFill>
              </a:rPr>
              <a:t>Explorer: read()</a:t>
            </a:r>
          </a:p>
        </p:txBody>
      </p:sp>
      <p:sp>
        <p:nvSpPr>
          <p:cNvPr id="74765" name="Line 13"/>
          <p:cNvSpPr>
            <a:spLocks noChangeShapeType="1"/>
          </p:cNvSpPr>
          <p:nvPr/>
        </p:nvSpPr>
        <p:spPr bwMode="auto">
          <a:xfrm>
            <a:off x="1835696" y="2960042"/>
            <a:ext cx="0" cy="11890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he-IL"/>
          </a:p>
        </p:txBody>
      </p:sp>
      <p:sp>
        <p:nvSpPr>
          <p:cNvPr id="74766" name="Text Box 14"/>
          <p:cNvSpPr txBox="1">
            <a:spLocks noChangeArrowheads="1"/>
          </p:cNvSpPr>
          <p:nvPr/>
        </p:nvSpPr>
        <p:spPr bwMode="auto">
          <a:xfrm>
            <a:off x="1188591" y="4199916"/>
            <a:ext cx="15135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he-IL" b="1">
                <a:solidFill>
                  <a:srgbClr val="FFFF00"/>
                </a:solidFill>
              </a:rPr>
              <a:t>טיפול בפסיקה</a:t>
            </a:r>
            <a:endParaRPr lang="en-GB" b="1">
              <a:solidFill>
                <a:srgbClr val="FFFF00"/>
              </a:solidFill>
            </a:endParaRPr>
          </a:p>
        </p:txBody>
      </p:sp>
      <p:sp>
        <p:nvSpPr>
          <p:cNvPr id="74767" name="Line 15"/>
          <p:cNvSpPr>
            <a:spLocks noChangeShapeType="1"/>
          </p:cNvSpPr>
          <p:nvPr/>
        </p:nvSpPr>
        <p:spPr bwMode="auto">
          <a:xfrm>
            <a:off x="1836291" y="4595204"/>
            <a:ext cx="0" cy="8286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he-IL" b="1">
              <a:solidFill>
                <a:srgbClr val="FFFF00"/>
              </a:solidFill>
            </a:endParaRPr>
          </a:p>
        </p:txBody>
      </p:sp>
      <p:sp>
        <p:nvSpPr>
          <p:cNvPr id="57354" name="Text Box 18"/>
          <p:cNvSpPr txBox="1">
            <a:spLocks noChangeArrowheads="1"/>
          </p:cNvSpPr>
          <p:nvPr/>
        </p:nvSpPr>
        <p:spPr bwMode="auto">
          <a:xfrm>
            <a:off x="1924050" y="56038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l" eaLnBrk="1" hangingPunct="1"/>
            <a:endParaRPr lang="he-IL"/>
          </a:p>
        </p:txBody>
      </p:sp>
      <p:sp>
        <p:nvSpPr>
          <p:cNvPr id="74771" name="Text Box 19"/>
          <p:cNvSpPr txBox="1">
            <a:spLocks noChangeArrowheads="1"/>
          </p:cNvSpPr>
          <p:nvPr/>
        </p:nvSpPr>
        <p:spPr bwMode="auto">
          <a:xfrm>
            <a:off x="1188591" y="5495316"/>
            <a:ext cx="29418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b="1" dirty="0">
                <a:solidFill>
                  <a:srgbClr val="FFFF00"/>
                </a:solidFill>
              </a:rPr>
              <a:t>read() kernel routine</a:t>
            </a:r>
          </a:p>
        </p:txBody>
      </p: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664966" y="2889250"/>
            <a:ext cx="576263" cy="2519363"/>
            <a:chOff x="2109" y="1820"/>
            <a:chExt cx="363" cy="1587"/>
          </a:xfrm>
        </p:grpSpPr>
        <p:sp>
          <p:nvSpPr>
            <p:cNvPr id="57359" name="Line 24"/>
            <p:cNvSpPr>
              <a:spLocks noChangeShapeType="1"/>
            </p:cNvSpPr>
            <p:nvPr/>
          </p:nvSpPr>
          <p:spPr bwMode="auto">
            <a:xfrm flipV="1">
              <a:off x="2109" y="2976"/>
              <a:ext cx="363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57360" name="Line 26"/>
            <p:cNvSpPr>
              <a:spLocks noChangeShapeType="1"/>
            </p:cNvSpPr>
            <p:nvPr/>
          </p:nvSpPr>
          <p:spPr bwMode="auto">
            <a:xfrm flipV="1">
              <a:off x="2472" y="2115"/>
              <a:ext cx="0" cy="8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57361" name="Line 27"/>
            <p:cNvSpPr>
              <a:spLocks noChangeShapeType="1"/>
            </p:cNvSpPr>
            <p:nvPr/>
          </p:nvSpPr>
          <p:spPr bwMode="auto">
            <a:xfrm flipH="1" flipV="1">
              <a:off x="2132" y="1820"/>
              <a:ext cx="34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</p:grpSp>
      <p:sp>
        <p:nvSpPr>
          <p:cNvPr id="74782" name="Text Box 30"/>
          <p:cNvSpPr txBox="1">
            <a:spLocks noChangeArrowheads="1"/>
          </p:cNvSpPr>
          <p:nvPr/>
        </p:nvSpPr>
        <p:spPr bwMode="auto">
          <a:xfrm>
            <a:off x="3002529" y="4811104"/>
            <a:ext cx="683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b="1">
                <a:solidFill>
                  <a:srgbClr val="FFFF00"/>
                </a:solidFill>
              </a:rPr>
              <a:t>חזרה</a:t>
            </a:r>
            <a:endParaRPr lang="en-GB" b="1">
              <a:solidFill>
                <a:srgbClr val="FFFF00"/>
              </a:solidFill>
            </a:endParaRP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GB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Chapter 1 - Introduction</a:t>
            </a:r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16625A-66FE-4B36-8BAE-15BC56F75543}" type="slidenum">
              <a:rPr lang="he-IL" smtClean="0"/>
              <a:pPr>
                <a:defRPr/>
              </a:pPr>
              <a:t>33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3" grpId="0"/>
      <p:bldP spid="74765" grpId="0" animBg="1"/>
      <p:bldP spid="74766" grpId="0"/>
      <p:bldP spid="74767" grpId="0" animBg="1"/>
      <p:bldP spid="74771" grpId="0"/>
      <p:bldP spid="7478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הגנה על הזיכרון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 smtClean="0"/>
              <a:t>מערכת ההפעלה צריכה להגן על תוכניות המשתמשים,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he-IL" b="1" dirty="0" smtClean="0"/>
              <a:t>זו מפני זו (עם או בלי כוונה רעה).</a:t>
            </a:r>
          </a:p>
          <a:p>
            <a:r>
              <a:rPr lang="he-IL" b="1" dirty="0" smtClean="0"/>
              <a:t>מערכת ההפעלה צריכה להגן על עצמה מפני תוכניות המשתמשים.</a:t>
            </a:r>
          </a:p>
          <a:p>
            <a:pPr lvl="1"/>
            <a:r>
              <a:rPr lang="he-IL" sz="2800" b="1" dirty="0" smtClean="0"/>
              <a:t>ועל תוכניות המשתמשים מפניה?</a:t>
            </a:r>
          </a:p>
          <a:p>
            <a:r>
              <a:rPr lang="he-IL" b="1" dirty="0" smtClean="0"/>
              <a:t>שיטה פשוטה: </a:t>
            </a:r>
            <a:r>
              <a:rPr lang="en-US" sz="2400" b="1" dirty="0" smtClean="0"/>
              <a:t>base register</a:t>
            </a:r>
            <a:r>
              <a:rPr lang="he-IL" sz="2400" b="1" dirty="0" smtClean="0"/>
              <a:t>, </a:t>
            </a:r>
            <a:r>
              <a:rPr lang="en-US" sz="2400" b="1" dirty="0" smtClean="0"/>
              <a:t>limit register</a:t>
            </a:r>
            <a:r>
              <a:rPr lang="he-IL" b="1" dirty="0" smtClean="0"/>
              <a:t> </a:t>
            </a:r>
          </a:p>
          <a:p>
            <a:pPr>
              <a:buFont typeface="Wingdings 2" pitchFamily="18" charset="2"/>
              <a:buNone/>
            </a:pPr>
            <a:r>
              <a:rPr lang="he-IL" b="1" dirty="0" smtClean="0"/>
              <a:t>לכל אחת מהתוכניות.</a:t>
            </a:r>
          </a:p>
          <a:p>
            <a:pPr lvl="1"/>
            <a:r>
              <a:rPr lang="he-IL" b="1" dirty="0" smtClean="0"/>
              <a:t>מוגנים בעצמם.</a:t>
            </a:r>
          </a:p>
          <a:p>
            <a:r>
              <a:rPr lang="he-IL" b="1" dirty="0" smtClean="0"/>
              <a:t>זיכרון וירטואלי.</a:t>
            </a:r>
            <a:endParaRPr lang="en-GB" b="1" dirty="0" smtClean="0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251520" y="4652963"/>
            <a:ext cx="4890817" cy="1655762"/>
            <a:chOff x="1224" y="2795"/>
            <a:chExt cx="2316" cy="1043"/>
          </a:xfrm>
        </p:grpSpPr>
        <p:grpSp>
          <p:nvGrpSpPr>
            <p:cNvPr id="59399" name="Group 11"/>
            <p:cNvGrpSpPr>
              <a:grpSpLocks/>
            </p:cNvGrpSpPr>
            <p:nvPr/>
          </p:nvGrpSpPr>
          <p:grpSpPr bwMode="auto">
            <a:xfrm>
              <a:off x="1224" y="2795"/>
              <a:ext cx="681" cy="1043"/>
              <a:chOff x="1224" y="2795"/>
              <a:chExt cx="681" cy="1043"/>
            </a:xfrm>
          </p:grpSpPr>
          <p:sp>
            <p:nvSpPr>
              <p:cNvPr id="59405" name="Rectangle 4"/>
              <p:cNvSpPr>
                <a:spLocks noChangeArrowheads="1"/>
              </p:cNvSpPr>
              <p:nvPr/>
            </p:nvSpPr>
            <p:spPr bwMode="auto">
              <a:xfrm>
                <a:off x="1270" y="2795"/>
                <a:ext cx="635" cy="1043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he-IL"/>
              </a:p>
            </p:txBody>
          </p:sp>
          <p:sp>
            <p:nvSpPr>
              <p:cNvPr id="59406" name="Line 5"/>
              <p:cNvSpPr>
                <a:spLocks noChangeShapeType="1"/>
              </p:cNvSpPr>
              <p:nvPr/>
            </p:nvSpPr>
            <p:spPr bwMode="auto">
              <a:xfrm>
                <a:off x="1270" y="3090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he-IL"/>
              </a:p>
            </p:txBody>
          </p:sp>
          <p:sp>
            <p:nvSpPr>
              <p:cNvPr id="59407" name="Line 6"/>
              <p:cNvSpPr>
                <a:spLocks noChangeShapeType="1"/>
              </p:cNvSpPr>
              <p:nvPr/>
            </p:nvSpPr>
            <p:spPr bwMode="auto">
              <a:xfrm>
                <a:off x="1270" y="3453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he-IL"/>
              </a:p>
            </p:txBody>
          </p:sp>
          <p:sp>
            <p:nvSpPr>
              <p:cNvPr id="59408" name="Text Box 8"/>
              <p:cNvSpPr txBox="1">
                <a:spLocks noChangeArrowheads="1"/>
              </p:cNvSpPr>
              <p:nvPr/>
            </p:nvSpPr>
            <p:spPr bwMode="auto">
              <a:xfrm>
                <a:off x="1232" y="3498"/>
                <a:ext cx="65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n-US" b="1">
                    <a:solidFill>
                      <a:srgbClr val="FFFF00"/>
                    </a:solidFill>
                  </a:rPr>
                  <a:t>Prog C</a:t>
                </a:r>
              </a:p>
            </p:txBody>
          </p:sp>
          <p:sp>
            <p:nvSpPr>
              <p:cNvPr id="59409" name="Text Box 9"/>
              <p:cNvSpPr txBox="1">
                <a:spLocks noChangeArrowheads="1"/>
              </p:cNvSpPr>
              <p:nvPr/>
            </p:nvSpPr>
            <p:spPr bwMode="auto">
              <a:xfrm>
                <a:off x="1226" y="3158"/>
                <a:ext cx="65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n-US" b="1">
                    <a:solidFill>
                      <a:srgbClr val="FFFF00"/>
                    </a:solidFill>
                  </a:rPr>
                  <a:t>Prog B</a:t>
                </a:r>
              </a:p>
            </p:txBody>
          </p:sp>
          <p:sp>
            <p:nvSpPr>
              <p:cNvPr id="59410" name="Text Box 10"/>
              <p:cNvSpPr txBox="1">
                <a:spLocks noChangeArrowheads="1"/>
              </p:cNvSpPr>
              <p:nvPr/>
            </p:nvSpPr>
            <p:spPr bwMode="auto">
              <a:xfrm>
                <a:off x="1224" y="2818"/>
                <a:ext cx="66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n-US" b="1" dirty="0" err="1">
                    <a:solidFill>
                      <a:srgbClr val="FFFF00"/>
                    </a:solidFill>
                  </a:rPr>
                  <a:t>Prog</a:t>
                </a:r>
                <a:r>
                  <a:rPr lang="en-US" b="1" dirty="0">
                    <a:solidFill>
                      <a:srgbClr val="FFFF00"/>
                    </a:solidFill>
                  </a:rPr>
                  <a:t> A</a:t>
                </a:r>
              </a:p>
            </p:txBody>
          </p:sp>
        </p:grpSp>
        <p:grpSp>
          <p:nvGrpSpPr>
            <p:cNvPr id="59400" name="Group 17"/>
            <p:cNvGrpSpPr>
              <a:grpSpLocks/>
            </p:cNvGrpSpPr>
            <p:nvPr/>
          </p:nvGrpSpPr>
          <p:grpSpPr bwMode="auto">
            <a:xfrm>
              <a:off x="2340" y="3158"/>
              <a:ext cx="1200" cy="446"/>
              <a:chOff x="2086" y="3317"/>
              <a:chExt cx="1200" cy="446"/>
            </a:xfrm>
          </p:grpSpPr>
          <p:sp>
            <p:nvSpPr>
              <p:cNvPr id="59403" name="Text Box 15"/>
              <p:cNvSpPr txBox="1">
                <a:spLocks noChangeArrowheads="1"/>
              </p:cNvSpPr>
              <p:nvPr/>
            </p:nvSpPr>
            <p:spPr bwMode="auto">
              <a:xfrm>
                <a:off x="2086" y="3317"/>
                <a:ext cx="1200" cy="213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sz="1600" b="1" dirty="0">
                    <a:solidFill>
                      <a:srgbClr val="FFFF00"/>
                    </a:solidFill>
                  </a:rPr>
                  <a:t>Base register</a:t>
                </a:r>
              </a:p>
            </p:txBody>
          </p:sp>
          <p:sp>
            <p:nvSpPr>
              <p:cNvPr id="59404" name="Text Box 16"/>
              <p:cNvSpPr txBox="1">
                <a:spLocks noChangeArrowheads="1"/>
              </p:cNvSpPr>
              <p:nvPr/>
            </p:nvSpPr>
            <p:spPr bwMode="auto">
              <a:xfrm>
                <a:off x="2086" y="3550"/>
                <a:ext cx="1200" cy="213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sz="1600" b="1" dirty="0">
                    <a:solidFill>
                      <a:srgbClr val="FFFF00"/>
                    </a:solidFill>
                  </a:rPr>
                  <a:t>Limit register</a:t>
                </a:r>
              </a:p>
            </p:txBody>
          </p:sp>
        </p:grpSp>
        <p:sp>
          <p:nvSpPr>
            <p:cNvPr id="59401" name="Line 18"/>
            <p:cNvSpPr>
              <a:spLocks noChangeShapeType="1"/>
            </p:cNvSpPr>
            <p:nvPr/>
          </p:nvSpPr>
          <p:spPr bwMode="auto">
            <a:xfrm flipH="1">
              <a:off x="1905" y="3407"/>
              <a:ext cx="43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he-IL"/>
            </a:p>
          </p:txBody>
        </p:sp>
        <p:sp>
          <p:nvSpPr>
            <p:cNvPr id="59402" name="Line 19"/>
            <p:cNvSpPr>
              <a:spLocks noChangeShapeType="1"/>
            </p:cNvSpPr>
            <p:nvPr/>
          </p:nvSpPr>
          <p:spPr bwMode="auto">
            <a:xfrm flipH="1" flipV="1">
              <a:off x="1905" y="3090"/>
              <a:ext cx="431" cy="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he-IL"/>
            </a:p>
          </p:txBody>
        </p:sp>
      </p:grp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יום בחיים של מערכת ההפעלה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84784"/>
            <a:ext cx="864096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b="1" dirty="0" smtClean="0"/>
              <a:t>מלבד אתחול המערכת, נכנסים לגרעין רק בגלל </a:t>
            </a:r>
            <a:r>
              <a:rPr lang="he-IL" b="1" dirty="0" smtClean="0">
                <a:solidFill>
                  <a:srgbClr val="FFFF00"/>
                </a:solidFill>
              </a:rPr>
              <a:t>מאורע.</a:t>
            </a:r>
            <a:endParaRPr lang="he-IL" b="1" i="1" dirty="0" smtClean="0">
              <a:solidFill>
                <a:srgbClr val="FFFF00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he-IL" b="1" dirty="0" smtClean="0"/>
          </a:p>
          <a:p>
            <a:pPr>
              <a:lnSpc>
                <a:spcPct val="90000"/>
              </a:lnSpc>
            </a:pPr>
            <a:r>
              <a:rPr lang="he-IL" b="1" dirty="0" smtClean="0"/>
              <a:t>הגרעין מגדיר אופן טיפול בכל מאורע.</a:t>
            </a:r>
          </a:p>
          <a:p>
            <a:pPr lvl="1">
              <a:lnSpc>
                <a:spcPct val="90000"/>
              </a:lnSpc>
            </a:pPr>
            <a:r>
              <a:rPr lang="he-IL" sz="2800" b="1" dirty="0" smtClean="0"/>
              <a:t>חלק נקבע על ידי ארכיטקטורת המעבד.</a:t>
            </a:r>
          </a:p>
          <a:p>
            <a:pPr lvl="1">
              <a:lnSpc>
                <a:spcPct val="90000"/>
              </a:lnSpc>
            </a:pPr>
            <a:r>
              <a:rPr lang="he-IL" sz="2800" b="1" dirty="0" smtClean="0"/>
              <a:t>מנגנון כפי שראינו.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he-IL" sz="2000" b="1" dirty="0" smtClean="0"/>
          </a:p>
          <a:p>
            <a:pPr>
              <a:lnSpc>
                <a:spcPct val="90000"/>
              </a:lnSpc>
            </a:pPr>
            <a:r>
              <a:rPr lang="he-IL" b="1" dirty="0" smtClean="0"/>
              <a:t>פסיקות ו-</a:t>
            </a:r>
            <a:r>
              <a:rPr lang="en-US" b="1" dirty="0" smtClean="0"/>
              <a:t>exceptions</a:t>
            </a:r>
            <a:r>
              <a:rPr lang="he-IL" b="1" dirty="0" smtClean="0"/>
              <a:t>:</a:t>
            </a:r>
          </a:p>
          <a:p>
            <a:pPr lvl="1">
              <a:lnSpc>
                <a:spcPct val="90000"/>
              </a:lnSpc>
            </a:pPr>
            <a:r>
              <a:rPr lang="en-US" b="1" dirty="0" smtClean="0">
                <a:solidFill>
                  <a:srgbClr val="FFFF00"/>
                </a:solidFill>
              </a:rPr>
              <a:t>) Interrupts</a:t>
            </a:r>
            <a:r>
              <a:rPr lang="he-IL" sz="2800" b="1" dirty="0" smtClean="0">
                <a:solidFill>
                  <a:srgbClr val="FFFF00"/>
                </a:solidFill>
              </a:rPr>
              <a:t>פסיקות</a:t>
            </a:r>
            <a:r>
              <a:rPr lang="en-US" sz="2800" b="1" dirty="0" smtClean="0">
                <a:solidFill>
                  <a:srgbClr val="FFFF00"/>
                </a:solidFill>
              </a:rPr>
              <a:t>(</a:t>
            </a:r>
            <a:r>
              <a:rPr lang="he-IL" sz="2800" b="1" dirty="0" smtClean="0">
                <a:solidFill>
                  <a:srgbClr val="FFFF00"/>
                </a:solidFill>
              </a:rPr>
              <a:t> נגרמות על-ידי רכיבי חומרה (שעונים, סיום פעילויות קלט/פלט)</a:t>
            </a:r>
          </a:p>
          <a:p>
            <a:pPr lvl="1">
              <a:lnSpc>
                <a:spcPct val="90000"/>
              </a:lnSpc>
            </a:pPr>
            <a:r>
              <a:rPr lang="en-US" sz="2800" b="1" dirty="0" smtClean="0">
                <a:solidFill>
                  <a:srgbClr val="FFFF00"/>
                </a:solidFill>
              </a:rPr>
              <a:t>Exceptions</a:t>
            </a:r>
            <a:r>
              <a:rPr lang="he-IL" sz="2800" b="1" dirty="0" smtClean="0">
                <a:solidFill>
                  <a:srgbClr val="FFFF00"/>
                </a:solidFill>
              </a:rPr>
              <a:t> מגיעות מהתוכנה (פקודה מפורשת, </a:t>
            </a:r>
            <a:r>
              <a:rPr lang="en-US" sz="2800" b="1" dirty="0" smtClean="0">
                <a:solidFill>
                  <a:srgbClr val="FFFF00"/>
                </a:solidFill>
              </a:rPr>
              <a:t>page fault</a:t>
            </a:r>
            <a:r>
              <a:rPr lang="he-IL" sz="2800" b="1" dirty="0" smtClean="0">
                <a:solidFill>
                  <a:srgbClr val="FFFF00"/>
                </a:solidFill>
              </a:rPr>
              <a:t>)</a:t>
            </a:r>
            <a:endParaRPr lang="en-GB" sz="2800" b="1" dirty="0" smtClean="0">
              <a:solidFill>
                <a:srgbClr val="FFFF00"/>
              </a:solidFill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4206-C09D-4EB0-BD37-1A3EEF6116AA}" type="slidenum">
              <a:rPr lang="he-IL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רכיבי מערכת ההפעלה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46238"/>
            <a:ext cx="4038600" cy="45259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endParaRPr lang="he-IL" b="1" dirty="0" smtClean="0"/>
          </a:p>
          <a:p>
            <a:pPr>
              <a:buFont typeface="Wingdings" pitchFamily="2" charset="2"/>
              <a:buNone/>
            </a:pPr>
            <a:endParaRPr lang="he-IL" b="1" dirty="0" smtClean="0"/>
          </a:p>
          <a:p>
            <a:pPr>
              <a:buFont typeface="Wingdings" pitchFamily="2" charset="2"/>
              <a:buNone/>
            </a:pPr>
            <a:endParaRPr lang="he-IL" b="1" dirty="0" smtClean="0"/>
          </a:p>
          <a:p>
            <a:pPr>
              <a:buFont typeface="Wingdings" pitchFamily="2" charset="2"/>
              <a:buNone/>
            </a:pPr>
            <a:r>
              <a:rPr lang="he-IL" b="1" dirty="0" smtClean="0"/>
              <a:t>זאת ועוד...</a:t>
            </a:r>
          </a:p>
          <a:p>
            <a:r>
              <a:rPr lang="he-IL" b="1" dirty="0" smtClean="0"/>
              <a:t>אתחול</a:t>
            </a:r>
          </a:p>
          <a:p>
            <a:r>
              <a:rPr lang="he-IL" b="1" dirty="0" smtClean="0"/>
              <a:t>גיבוי</a:t>
            </a:r>
          </a:p>
          <a:p>
            <a:r>
              <a:rPr lang="he-IL" b="1" dirty="0" smtClean="0"/>
              <a:t>...</a:t>
            </a:r>
          </a:p>
          <a:p>
            <a:r>
              <a:rPr lang="he-IL" b="1" dirty="0" smtClean="0"/>
              <a:t>דפדפן?</a:t>
            </a:r>
          </a:p>
          <a:p>
            <a:pPr>
              <a:buFont typeface="Wingdings" pitchFamily="2" charset="2"/>
              <a:buNone/>
            </a:pPr>
            <a:endParaRPr lang="en-GB" b="1" dirty="0" smtClean="0"/>
          </a:p>
        </p:txBody>
      </p:sp>
      <p:sp>
        <p:nvSpPr>
          <p:cNvPr id="6144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646238"/>
            <a:ext cx="4038600" cy="4525962"/>
          </a:xfrm>
        </p:spPr>
        <p:txBody>
          <a:bodyPr/>
          <a:lstStyle/>
          <a:p>
            <a:r>
              <a:rPr lang="he-IL" b="1" dirty="0" smtClean="0"/>
              <a:t>תהליכים</a:t>
            </a:r>
          </a:p>
          <a:p>
            <a:r>
              <a:rPr lang="he-IL" b="1" dirty="0" smtClean="0"/>
              <a:t>זיכרון</a:t>
            </a:r>
          </a:p>
          <a:p>
            <a:r>
              <a:rPr lang="he-IL" b="1" dirty="0" smtClean="0"/>
              <a:t>קלט / פלט</a:t>
            </a:r>
          </a:p>
          <a:p>
            <a:r>
              <a:rPr lang="he-IL" b="1" dirty="0" smtClean="0"/>
              <a:t>זיכרון משני</a:t>
            </a:r>
          </a:p>
          <a:p>
            <a:r>
              <a:rPr lang="he-IL" b="1" dirty="0" smtClean="0"/>
              <a:t>מערכות קבצים</a:t>
            </a:r>
          </a:p>
          <a:p>
            <a:r>
              <a:rPr lang="he-IL" b="1" dirty="0" smtClean="0"/>
              <a:t>הגנה</a:t>
            </a:r>
          </a:p>
          <a:p>
            <a:r>
              <a:rPr lang="he-IL" b="1" dirty="0" smtClean="0"/>
              <a:t>ניהול חשבונות משתמשים</a:t>
            </a:r>
            <a:endParaRPr lang="en-US" b="1" dirty="0" smtClean="0"/>
          </a:p>
          <a:p>
            <a:r>
              <a:rPr lang="he-IL" b="1" dirty="0" smtClean="0"/>
              <a:t>ממשק משתמש (</a:t>
            </a:r>
            <a:r>
              <a:rPr lang="en-US" b="1" dirty="0" smtClean="0"/>
              <a:t>shell</a:t>
            </a:r>
            <a:r>
              <a:rPr lang="he-IL" b="1" dirty="0" smtClean="0"/>
              <a:t>)</a:t>
            </a:r>
            <a:endParaRPr lang="en-GB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65DBC-D705-40D2-92B7-1C8DF840364F}" type="slidenum">
              <a:rPr lang="he-IL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ארגון מערכת ההפעלה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46238"/>
            <a:ext cx="4038600" cy="4525962"/>
          </a:xfrm>
        </p:spPr>
        <p:txBody>
          <a:bodyPr/>
          <a:lstStyle/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תקשורת זולה בין מודולים</a:t>
            </a:r>
          </a:p>
          <a:p>
            <a:pPr>
              <a:buFont typeface="Wingdings" pitchFamily="2" charset="2"/>
              <a:buNone/>
            </a:pPr>
            <a:endParaRPr lang="he-IL" sz="2400" b="1" dirty="0" smtClean="0"/>
          </a:p>
          <a:p>
            <a:pPr>
              <a:buSzTx/>
              <a:buFont typeface="Wingdings" pitchFamily="2" charset="2"/>
              <a:buChar char="û"/>
            </a:pPr>
            <a:r>
              <a:rPr lang="he-IL" sz="2400" b="1" dirty="0" smtClean="0"/>
              <a:t>קשה להבין</a:t>
            </a:r>
          </a:p>
          <a:p>
            <a:pPr>
              <a:buSzTx/>
              <a:buFont typeface="Wingdings" pitchFamily="2" charset="2"/>
              <a:buChar char="û"/>
            </a:pPr>
            <a:r>
              <a:rPr lang="he-IL" sz="2400" b="1" dirty="0" smtClean="0"/>
              <a:t>קשה לשנות או להוסיף רכיבים</a:t>
            </a:r>
          </a:p>
          <a:p>
            <a:pPr>
              <a:buFont typeface="Wingdings" pitchFamily="2" charset="2"/>
              <a:buNone/>
            </a:pPr>
            <a:endParaRPr lang="he-IL" sz="2400" b="1" dirty="0" smtClean="0"/>
          </a:p>
          <a:p>
            <a:pPr>
              <a:buFont typeface="Wingdings" pitchFamily="2" charset="2"/>
              <a:buNone/>
            </a:pPr>
            <a:r>
              <a:rPr lang="he-IL" sz="2400" b="1" dirty="0" smtClean="0"/>
              <a:t>מה האלטרנטיבה?</a:t>
            </a:r>
            <a:endParaRPr lang="en-GB" sz="2400" b="1" dirty="0" smtClean="0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3474647" y="1628800"/>
            <a:ext cx="5417833" cy="45259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he-IL" b="1" smtClean="0">
                <a:solidFill>
                  <a:srgbClr val="FFFF00"/>
                </a:solidFill>
              </a:rPr>
              <a:t>בראשית... מונוליתית</a:t>
            </a:r>
            <a:endParaRPr lang="en-GB" b="1" smtClean="0">
              <a:solidFill>
                <a:srgbClr val="FFFF00"/>
              </a:solidFill>
            </a:endParaRPr>
          </a:p>
        </p:txBody>
      </p:sp>
      <p:grpSp>
        <p:nvGrpSpPr>
          <p:cNvPr id="2" name="Group 87"/>
          <p:cNvGrpSpPr>
            <a:grpSpLocks/>
          </p:cNvGrpSpPr>
          <p:nvPr/>
        </p:nvGrpSpPr>
        <p:grpSpPr bwMode="auto">
          <a:xfrm>
            <a:off x="4932040" y="2205038"/>
            <a:ext cx="3816424" cy="3214687"/>
            <a:chOff x="3909" y="1389"/>
            <a:chExt cx="1480" cy="2025"/>
          </a:xfrm>
        </p:grpSpPr>
        <p:sp>
          <p:nvSpPr>
            <p:cNvPr id="62472" name="Line 6"/>
            <p:cNvSpPr>
              <a:spLocks noChangeShapeType="1"/>
            </p:cNvSpPr>
            <p:nvPr/>
          </p:nvSpPr>
          <p:spPr bwMode="auto">
            <a:xfrm>
              <a:off x="3909" y="2850"/>
              <a:ext cx="14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 lang="he-IL" sz="2000" b="1">
                <a:solidFill>
                  <a:srgbClr val="FFFF00"/>
                </a:solidFill>
              </a:endParaRPr>
            </a:p>
          </p:txBody>
        </p:sp>
        <p:sp>
          <p:nvSpPr>
            <p:cNvPr id="62473" name="Line 7"/>
            <p:cNvSpPr>
              <a:spLocks noChangeShapeType="1"/>
            </p:cNvSpPr>
            <p:nvPr/>
          </p:nvSpPr>
          <p:spPr bwMode="auto">
            <a:xfrm>
              <a:off x="3909" y="1979"/>
              <a:ext cx="14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 lang="he-IL" sz="2000" b="1">
                <a:solidFill>
                  <a:srgbClr val="FFFF00"/>
                </a:solidFill>
              </a:endParaRPr>
            </a:p>
          </p:txBody>
        </p:sp>
        <p:sp>
          <p:nvSpPr>
            <p:cNvPr id="62474" name="Rectangle 8"/>
            <p:cNvSpPr>
              <a:spLocks noChangeArrowheads="1"/>
            </p:cNvSpPr>
            <p:nvPr/>
          </p:nvSpPr>
          <p:spPr bwMode="auto">
            <a:xfrm>
              <a:off x="4286" y="2024"/>
              <a:ext cx="729" cy="7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he-IL" sz="2400" b="1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62475" name="Rectangle 9"/>
            <p:cNvSpPr>
              <a:spLocks noChangeArrowheads="1"/>
            </p:cNvSpPr>
            <p:nvPr/>
          </p:nvSpPr>
          <p:spPr bwMode="auto">
            <a:xfrm>
              <a:off x="4286" y="1389"/>
              <a:ext cx="729" cy="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he-IL" sz="2400" b="1" dirty="0">
                  <a:solidFill>
                    <a:srgbClr val="FFFF00"/>
                  </a:solidFill>
                  <a:latin typeface="Arial" pitchFamily="34" charset="0"/>
                </a:rPr>
                <a:t>תוכניות</a:t>
              </a:r>
            </a:p>
            <a:p>
              <a:pPr algn="ctr" eaLnBrk="0" hangingPunct="0">
                <a:spcBef>
                  <a:spcPct val="50000"/>
                </a:spcBef>
              </a:pPr>
              <a:r>
                <a:rPr lang="he-IL" sz="2400" b="1" dirty="0">
                  <a:solidFill>
                    <a:srgbClr val="FFFF00"/>
                  </a:solidFill>
                  <a:latin typeface="Arial" pitchFamily="34" charset="0"/>
                </a:rPr>
                <a:t>משתמש</a:t>
              </a:r>
              <a:endParaRPr lang="en-GB" sz="2400" b="1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62476" name="Rectangle 10"/>
            <p:cNvSpPr>
              <a:spLocks noChangeArrowheads="1"/>
            </p:cNvSpPr>
            <p:nvPr/>
          </p:nvSpPr>
          <p:spPr bwMode="auto">
            <a:xfrm>
              <a:off x="4286" y="2894"/>
              <a:ext cx="729" cy="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he-IL" sz="2400" b="1">
                  <a:solidFill>
                    <a:srgbClr val="FFFF00"/>
                  </a:solidFill>
                  <a:latin typeface="Arial" pitchFamily="34" charset="0"/>
                </a:rPr>
                <a:t>חומרה</a:t>
              </a:r>
              <a:endParaRPr lang="en-GB" sz="2400" b="1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62477" name="Rectangle 11"/>
            <p:cNvSpPr>
              <a:spLocks noChangeArrowheads="1"/>
            </p:cNvSpPr>
            <p:nvPr/>
          </p:nvSpPr>
          <p:spPr bwMode="auto">
            <a:xfrm>
              <a:off x="4286" y="2115"/>
              <a:ext cx="72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he-IL" sz="2400" b="1">
                  <a:solidFill>
                    <a:srgbClr val="FFFF00"/>
                  </a:solidFill>
                  <a:latin typeface="Arial" pitchFamily="34" charset="0"/>
                </a:rPr>
                <a:t>גרעין מערכת ההפעלה</a:t>
              </a:r>
              <a:endParaRPr lang="en-GB" sz="2400" b="1">
                <a:solidFill>
                  <a:srgbClr val="FFFF00"/>
                </a:solidFill>
                <a:latin typeface="Arial" pitchFamily="34" charset="0"/>
              </a:endParaRPr>
            </a:p>
          </p:txBody>
        </p:sp>
      </p:grp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65DBC-D705-40D2-92B7-1C8DF840364F}" type="slidenum">
              <a:rPr lang="he-IL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ארגון מערכת ההפעלה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1527485"/>
            <a:ext cx="4608512" cy="4525962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he-IL" sz="2400" b="1" dirty="0" smtClean="0">
                <a:solidFill>
                  <a:srgbClr val="FFFF00"/>
                </a:solidFill>
              </a:rPr>
              <a:t>אח"כ... גרעין קטן</a:t>
            </a:r>
            <a:endParaRPr lang="en-GB" sz="2400" b="1" dirty="0" smtClean="0">
              <a:solidFill>
                <a:srgbClr val="FFFF00"/>
              </a:solidFill>
            </a:endParaRPr>
          </a:p>
        </p:txBody>
      </p:sp>
      <p:sp>
        <p:nvSpPr>
          <p:cNvPr id="22733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563328" y="1634332"/>
            <a:ext cx="5401160" cy="4525962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he-IL" b="1" smtClean="0">
                <a:solidFill>
                  <a:srgbClr val="FFFF00"/>
                </a:solidFill>
              </a:rPr>
              <a:t>בראשית... מונוליתית</a:t>
            </a:r>
            <a:endParaRPr lang="en-GB" b="1" smtClean="0">
              <a:solidFill>
                <a:srgbClr val="FFFF00"/>
              </a:solidFill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13784" y="2205038"/>
            <a:ext cx="3142184" cy="3214687"/>
            <a:chOff x="3909" y="1389"/>
            <a:chExt cx="1480" cy="2025"/>
          </a:xfrm>
        </p:grpSpPr>
        <p:sp>
          <p:nvSpPr>
            <p:cNvPr id="63510" name="Line 6"/>
            <p:cNvSpPr>
              <a:spLocks noChangeShapeType="1"/>
            </p:cNvSpPr>
            <p:nvPr/>
          </p:nvSpPr>
          <p:spPr bwMode="auto">
            <a:xfrm>
              <a:off x="3909" y="2850"/>
              <a:ext cx="14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 lang="he-IL" sz="2000" b="1">
                <a:solidFill>
                  <a:srgbClr val="FFFF00"/>
                </a:solidFill>
              </a:endParaRPr>
            </a:p>
          </p:txBody>
        </p:sp>
        <p:sp>
          <p:nvSpPr>
            <p:cNvPr id="63511" name="Line 7"/>
            <p:cNvSpPr>
              <a:spLocks noChangeShapeType="1"/>
            </p:cNvSpPr>
            <p:nvPr/>
          </p:nvSpPr>
          <p:spPr bwMode="auto">
            <a:xfrm>
              <a:off x="3909" y="1979"/>
              <a:ext cx="14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 lang="he-IL" sz="2000" b="1">
                <a:solidFill>
                  <a:srgbClr val="FFFF00"/>
                </a:solidFill>
              </a:endParaRPr>
            </a:p>
          </p:txBody>
        </p:sp>
        <p:sp>
          <p:nvSpPr>
            <p:cNvPr id="63512" name="Rectangle 8"/>
            <p:cNvSpPr>
              <a:spLocks noChangeArrowheads="1"/>
            </p:cNvSpPr>
            <p:nvPr/>
          </p:nvSpPr>
          <p:spPr bwMode="auto">
            <a:xfrm>
              <a:off x="4286" y="2024"/>
              <a:ext cx="729" cy="7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he-IL" sz="2400" b="1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63513" name="Rectangle 9"/>
            <p:cNvSpPr>
              <a:spLocks noChangeArrowheads="1"/>
            </p:cNvSpPr>
            <p:nvPr/>
          </p:nvSpPr>
          <p:spPr bwMode="auto">
            <a:xfrm>
              <a:off x="4286" y="1389"/>
              <a:ext cx="729" cy="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he-IL" sz="2400" b="1" dirty="0">
                  <a:solidFill>
                    <a:srgbClr val="FFFF00"/>
                  </a:solidFill>
                  <a:latin typeface="Arial" pitchFamily="34" charset="0"/>
                </a:rPr>
                <a:t>תוכניות</a:t>
              </a:r>
            </a:p>
            <a:p>
              <a:pPr algn="ctr" eaLnBrk="0" hangingPunct="0">
                <a:spcBef>
                  <a:spcPct val="50000"/>
                </a:spcBef>
              </a:pPr>
              <a:r>
                <a:rPr lang="he-IL" sz="2400" b="1" dirty="0">
                  <a:solidFill>
                    <a:srgbClr val="FFFF00"/>
                  </a:solidFill>
                  <a:latin typeface="Arial" pitchFamily="34" charset="0"/>
                </a:rPr>
                <a:t>משתמש</a:t>
              </a:r>
              <a:endParaRPr lang="en-GB" sz="2400" b="1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63514" name="Rectangle 10"/>
            <p:cNvSpPr>
              <a:spLocks noChangeArrowheads="1"/>
            </p:cNvSpPr>
            <p:nvPr/>
          </p:nvSpPr>
          <p:spPr bwMode="auto">
            <a:xfrm>
              <a:off x="4286" y="2894"/>
              <a:ext cx="729" cy="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he-IL" sz="2400" b="1">
                  <a:solidFill>
                    <a:srgbClr val="FFFF00"/>
                  </a:solidFill>
                  <a:latin typeface="Arial" pitchFamily="34" charset="0"/>
                </a:rPr>
                <a:t>חומרה</a:t>
              </a:r>
              <a:endParaRPr lang="en-GB" sz="2400" b="1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63515" name="Rectangle 11"/>
            <p:cNvSpPr>
              <a:spLocks noChangeArrowheads="1"/>
            </p:cNvSpPr>
            <p:nvPr/>
          </p:nvSpPr>
          <p:spPr bwMode="auto">
            <a:xfrm>
              <a:off x="4286" y="2092"/>
              <a:ext cx="726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he-IL" sz="2400" b="1">
                  <a:solidFill>
                    <a:srgbClr val="FFFF00"/>
                  </a:solidFill>
                  <a:latin typeface="Arial" pitchFamily="34" charset="0"/>
                </a:rPr>
                <a:t>גרעין מערכת ההפעלה</a:t>
              </a:r>
              <a:endParaRPr lang="en-GB" sz="2400" b="1">
                <a:solidFill>
                  <a:srgbClr val="FFFF00"/>
                </a:solidFill>
                <a:latin typeface="Arial" pitchFamily="34" charset="0"/>
              </a:endParaRPr>
            </a:p>
          </p:txBody>
        </p:sp>
      </p:grpSp>
      <p:sp>
        <p:nvSpPr>
          <p:cNvPr id="227340" name="Line 12"/>
          <p:cNvSpPr>
            <a:spLocks noChangeShapeType="1"/>
          </p:cNvSpPr>
          <p:nvPr/>
        </p:nvSpPr>
        <p:spPr bwMode="auto">
          <a:xfrm>
            <a:off x="1619250" y="4524375"/>
            <a:ext cx="2349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/>
          </a:p>
        </p:txBody>
      </p:sp>
      <p:sp>
        <p:nvSpPr>
          <p:cNvPr id="227341" name="Line 13"/>
          <p:cNvSpPr>
            <a:spLocks noChangeShapeType="1"/>
          </p:cNvSpPr>
          <p:nvPr/>
        </p:nvSpPr>
        <p:spPr bwMode="auto">
          <a:xfrm>
            <a:off x="1619250" y="3213100"/>
            <a:ext cx="2349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/>
          </a:p>
        </p:txBody>
      </p:sp>
      <p:sp>
        <p:nvSpPr>
          <p:cNvPr id="227342" name="Rectangle 14"/>
          <p:cNvSpPr>
            <a:spLocks noChangeArrowheads="1"/>
          </p:cNvSpPr>
          <p:nvPr/>
        </p:nvSpPr>
        <p:spPr bwMode="auto">
          <a:xfrm>
            <a:off x="574675" y="3860800"/>
            <a:ext cx="93503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b="1">
                <a:solidFill>
                  <a:srgbClr val="FFFF00"/>
                </a:solidFill>
                <a:latin typeface="Comic Sans MS" pitchFamily="66" charset="0"/>
              </a:rPr>
              <a:t>Micro-kernel</a:t>
            </a:r>
          </a:p>
        </p:txBody>
      </p:sp>
      <p:sp>
        <p:nvSpPr>
          <p:cNvPr id="227343" name="Rectangle 15"/>
          <p:cNvSpPr>
            <a:spLocks noChangeArrowheads="1"/>
          </p:cNvSpPr>
          <p:nvPr/>
        </p:nvSpPr>
        <p:spPr bwMode="auto">
          <a:xfrm>
            <a:off x="2195513" y="4594225"/>
            <a:ext cx="1157287" cy="825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r>
              <a:rPr lang="he-IL" sz="2000" b="1">
                <a:solidFill>
                  <a:srgbClr val="FFFF00"/>
                </a:solidFill>
                <a:latin typeface="Arial" pitchFamily="34" charset="0"/>
              </a:rPr>
              <a:t>חומרה</a:t>
            </a:r>
            <a:endParaRPr lang="en-GB" sz="2000" b="1">
              <a:solidFill>
                <a:srgbClr val="FFFF00"/>
              </a:solidFill>
              <a:latin typeface="Arial" pitchFamily="34" charset="0"/>
            </a:endParaRPr>
          </a:p>
        </p:txBody>
      </p:sp>
      <p:sp>
        <p:nvSpPr>
          <p:cNvPr id="227344" name="Rectangle 16"/>
          <p:cNvSpPr>
            <a:spLocks noChangeArrowheads="1"/>
          </p:cNvSpPr>
          <p:nvPr/>
        </p:nvSpPr>
        <p:spPr bwMode="auto">
          <a:xfrm>
            <a:off x="2195513" y="2205038"/>
            <a:ext cx="1157287" cy="825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he-IL" sz="2000" b="1" dirty="0">
                <a:solidFill>
                  <a:srgbClr val="FFFF00"/>
                </a:solidFill>
                <a:latin typeface="Arial" pitchFamily="34" charset="0"/>
              </a:rPr>
              <a:t>תוכניות</a:t>
            </a:r>
          </a:p>
          <a:p>
            <a:pPr eaLnBrk="0" hangingPunct="0">
              <a:spcBef>
                <a:spcPct val="50000"/>
              </a:spcBef>
            </a:pPr>
            <a:r>
              <a:rPr lang="he-IL" sz="2000" b="1" dirty="0">
                <a:solidFill>
                  <a:srgbClr val="FFFF00"/>
                </a:solidFill>
                <a:latin typeface="Arial" pitchFamily="34" charset="0"/>
              </a:rPr>
              <a:t>משתמש</a:t>
            </a:r>
            <a:endParaRPr lang="en-GB" sz="2000" b="1" dirty="0">
              <a:solidFill>
                <a:srgbClr val="FFFF00"/>
              </a:solidFill>
              <a:latin typeface="Arial" pitchFamily="34" charset="0"/>
            </a:endParaRPr>
          </a:p>
        </p:txBody>
      </p:sp>
      <p:sp>
        <p:nvSpPr>
          <p:cNvPr id="227345" name="Line 17"/>
          <p:cNvSpPr>
            <a:spLocks noChangeShapeType="1"/>
          </p:cNvSpPr>
          <p:nvPr/>
        </p:nvSpPr>
        <p:spPr bwMode="auto">
          <a:xfrm>
            <a:off x="1619250" y="3860800"/>
            <a:ext cx="2349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/>
          </a:p>
        </p:txBody>
      </p:sp>
      <p:sp>
        <p:nvSpPr>
          <p:cNvPr id="227346" name="Rectangle 18"/>
          <p:cNvSpPr>
            <a:spLocks noChangeArrowheads="1"/>
          </p:cNvSpPr>
          <p:nvPr/>
        </p:nvSpPr>
        <p:spPr bwMode="auto">
          <a:xfrm>
            <a:off x="574675" y="3213100"/>
            <a:ext cx="1512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b="1" dirty="0">
                <a:solidFill>
                  <a:srgbClr val="FFFF00"/>
                </a:solidFill>
                <a:latin typeface="Comic Sans MS" pitchFamily="66" charset="0"/>
              </a:rPr>
              <a:t>System processes</a:t>
            </a:r>
          </a:p>
        </p:txBody>
      </p:sp>
      <p:sp>
        <p:nvSpPr>
          <p:cNvPr id="227347" name="Text Box 19"/>
          <p:cNvSpPr txBox="1">
            <a:spLocks noChangeArrowheads="1"/>
          </p:cNvSpPr>
          <p:nvPr/>
        </p:nvSpPr>
        <p:spPr bwMode="auto">
          <a:xfrm rot="5400000">
            <a:off x="3750216" y="2678976"/>
            <a:ext cx="1655762" cy="707886"/>
          </a:xfrm>
          <a:prstGeom prst="rect">
            <a:avLst/>
          </a:prstGeom>
          <a:solidFill>
            <a:schemeClr val="accent1">
              <a:alpha val="18823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2000" b="1"/>
              <a:t>User mode</a:t>
            </a:r>
          </a:p>
        </p:txBody>
      </p:sp>
      <p:sp>
        <p:nvSpPr>
          <p:cNvPr id="227348" name="Text Box 20"/>
          <p:cNvSpPr txBox="1">
            <a:spLocks noChangeArrowheads="1"/>
          </p:cNvSpPr>
          <p:nvPr/>
        </p:nvSpPr>
        <p:spPr bwMode="auto">
          <a:xfrm>
            <a:off x="1736587" y="3500438"/>
            <a:ext cx="11304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 dirty="0">
                <a:solidFill>
                  <a:srgbClr val="FFFF00"/>
                </a:solidFill>
              </a:rPr>
              <a:t>file system</a:t>
            </a:r>
          </a:p>
        </p:txBody>
      </p:sp>
      <p:sp>
        <p:nvSpPr>
          <p:cNvPr id="227349" name="Text Box 21"/>
          <p:cNvSpPr txBox="1">
            <a:spLocks noChangeArrowheads="1"/>
          </p:cNvSpPr>
          <p:nvPr/>
        </p:nvSpPr>
        <p:spPr bwMode="auto">
          <a:xfrm>
            <a:off x="2887664" y="3536950"/>
            <a:ext cx="11160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 dirty="0">
                <a:solidFill>
                  <a:srgbClr val="FFFF00"/>
                </a:solidFill>
              </a:rPr>
              <a:t>scheduling</a:t>
            </a:r>
          </a:p>
        </p:txBody>
      </p:sp>
      <p:sp>
        <p:nvSpPr>
          <p:cNvPr id="227350" name="Text Box 22"/>
          <p:cNvSpPr txBox="1">
            <a:spLocks noChangeArrowheads="1"/>
          </p:cNvSpPr>
          <p:nvPr/>
        </p:nvSpPr>
        <p:spPr bwMode="auto">
          <a:xfrm>
            <a:off x="2267997" y="3249613"/>
            <a:ext cx="11721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>
                <a:solidFill>
                  <a:srgbClr val="FFFF00"/>
                </a:solidFill>
              </a:rPr>
              <a:t>networking</a:t>
            </a:r>
          </a:p>
        </p:txBody>
      </p:sp>
      <p:sp>
        <p:nvSpPr>
          <p:cNvPr id="227351" name="Text Box 23"/>
          <p:cNvSpPr txBox="1">
            <a:spLocks noChangeArrowheads="1"/>
          </p:cNvSpPr>
          <p:nvPr/>
        </p:nvSpPr>
        <p:spPr bwMode="auto">
          <a:xfrm>
            <a:off x="1860550" y="4221163"/>
            <a:ext cx="552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>
                <a:solidFill>
                  <a:srgbClr val="FFFF00"/>
                </a:solidFill>
              </a:rPr>
              <a:t>הגנה</a:t>
            </a: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227352" name="Text Box 24"/>
          <p:cNvSpPr txBox="1">
            <a:spLocks noChangeArrowheads="1"/>
          </p:cNvSpPr>
          <p:nvPr/>
        </p:nvSpPr>
        <p:spPr bwMode="auto">
          <a:xfrm>
            <a:off x="2854325" y="4221163"/>
            <a:ext cx="1117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>
                <a:solidFill>
                  <a:srgbClr val="FFFF00"/>
                </a:solidFill>
              </a:rPr>
              <a:t>ניהול המעבד</a:t>
            </a: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227353" name="Text Box 25"/>
          <p:cNvSpPr txBox="1">
            <a:spLocks noChangeArrowheads="1"/>
          </p:cNvSpPr>
          <p:nvPr/>
        </p:nvSpPr>
        <p:spPr bwMode="auto">
          <a:xfrm>
            <a:off x="2037189" y="3897313"/>
            <a:ext cx="12362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>
                <a:solidFill>
                  <a:srgbClr val="FFFF00"/>
                </a:solidFill>
              </a:rPr>
              <a:t>זיכרון וירטואלי</a:t>
            </a: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65DBC-D705-40D2-92B7-1C8DF840364F}" type="slidenum">
              <a:rPr lang="he-IL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7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7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7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7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7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7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7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7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7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7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7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7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7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7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7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7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7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7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7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40" grpId="0" animBg="1"/>
      <p:bldP spid="227341" grpId="0" animBg="1"/>
      <p:bldP spid="227341" grpId="1" animBg="1"/>
      <p:bldP spid="227342" grpId="0"/>
      <p:bldP spid="227343" grpId="0" animBg="1"/>
      <p:bldP spid="227344" grpId="0" animBg="1"/>
      <p:bldP spid="227345" grpId="0" animBg="1"/>
      <p:bldP spid="227345" grpId="1" animBg="1"/>
      <p:bldP spid="227346" grpId="0"/>
      <p:bldP spid="227347" grpId="0" animBg="1"/>
      <p:bldP spid="227348" grpId="0"/>
      <p:bldP spid="227349" grpId="0"/>
      <p:bldP spid="227350" grpId="0"/>
      <p:bldP spid="227351" grpId="0"/>
      <p:bldP spid="227352" grpId="0"/>
      <p:bldP spid="22735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b="1" i="1" dirty="0">
                <a:solidFill>
                  <a:srgbClr val="FFFF00"/>
                </a:solidFill>
              </a:rPr>
              <a:t>ארגון מערכת ההפעלה</a:t>
            </a:r>
            <a:endParaRPr lang="en-GB" b="1" i="1" dirty="0">
              <a:solidFill>
                <a:srgbClr val="FFFF00"/>
              </a:solidFill>
            </a:endParaRP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46238"/>
            <a:ext cx="4038600" cy="45259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he-IL" sz="2400" smtClean="0"/>
              <a:t>אח"כ... גרעין קטן</a:t>
            </a:r>
            <a:endParaRPr lang="en-GB" sz="2400" smtClean="0"/>
          </a:p>
        </p:txBody>
      </p:sp>
      <p:sp>
        <p:nvSpPr>
          <p:cNvPr id="22835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70401" y="1646238"/>
            <a:ext cx="4216399" cy="4525962"/>
          </a:xfrm>
        </p:spPr>
        <p:txBody>
          <a:bodyPr/>
          <a:lstStyle/>
          <a:p>
            <a:r>
              <a:rPr lang="en-US" sz="2400" b="1" dirty="0" smtClean="0"/>
              <a:t>Micro Kernel</a:t>
            </a:r>
            <a:r>
              <a:rPr lang="he-IL" sz="2400" b="1" dirty="0" smtClean="0"/>
              <a:t>: שכבה דקה מספקת שירותי גרעין</a:t>
            </a:r>
          </a:p>
          <a:p>
            <a:endParaRPr lang="he-IL" sz="2400" b="1" dirty="0" smtClean="0"/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אמינות גבוהה יותר</a:t>
            </a:r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קל להרחיב ולשנות</a:t>
            </a:r>
          </a:p>
          <a:p>
            <a:pPr>
              <a:buSzTx/>
              <a:buFont typeface="Wingdings" pitchFamily="2" charset="2"/>
              <a:buChar char="û"/>
            </a:pPr>
            <a:r>
              <a:rPr lang="he-IL" sz="2400" b="1" dirty="0" smtClean="0"/>
              <a:t>ביצועים גרועים (מעבר בין </a:t>
            </a:r>
            <a:r>
              <a:rPr lang="en-US" sz="2000" b="1" dirty="0" smtClean="0"/>
              <a:t>user-mode</a:t>
            </a:r>
            <a:r>
              <a:rPr lang="he-IL" sz="2400" b="1" dirty="0" smtClean="0"/>
              <a:t> לבין </a:t>
            </a:r>
            <a:r>
              <a:rPr lang="en-US" sz="2000" b="1" dirty="0" smtClean="0"/>
              <a:t>kernel-mode</a:t>
            </a:r>
            <a:r>
              <a:rPr lang="he-IL" sz="2400" b="1" dirty="0" smtClean="0"/>
              <a:t>)</a:t>
            </a:r>
          </a:p>
          <a:p>
            <a:pPr>
              <a:buFont typeface="Wingdings" pitchFamily="2" charset="2"/>
              <a:buNone/>
            </a:pPr>
            <a:r>
              <a:rPr lang="he-IL" sz="2400" b="1" dirty="0" smtClean="0"/>
              <a:t>דוגמאות: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000" b="1" dirty="0" smtClean="0"/>
              <a:t>Mach, OS X, ~Windows NT</a:t>
            </a:r>
          </a:p>
          <a:p>
            <a:pPr>
              <a:buSzTx/>
              <a:buFont typeface="Wingdings" pitchFamily="2" charset="2"/>
              <a:buNone/>
            </a:pPr>
            <a:endParaRPr lang="he-IL" sz="2400" b="1" dirty="0" smtClean="0"/>
          </a:p>
        </p:txBody>
      </p:sp>
      <p:sp>
        <p:nvSpPr>
          <p:cNvPr id="64518" name="Line 12"/>
          <p:cNvSpPr>
            <a:spLocks noChangeShapeType="1"/>
          </p:cNvSpPr>
          <p:nvPr/>
        </p:nvSpPr>
        <p:spPr bwMode="auto">
          <a:xfrm>
            <a:off x="1619250" y="4524375"/>
            <a:ext cx="2349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/>
          </a:p>
        </p:txBody>
      </p:sp>
      <p:sp>
        <p:nvSpPr>
          <p:cNvPr id="64519" name="Line 13"/>
          <p:cNvSpPr>
            <a:spLocks noChangeShapeType="1"/>
          </p:cNvSpPr>
          <p:nvPr/>
        </p:nvSpPr>
        <p:spPr bwMode="auto">
          <a:xfrm>
            <a:off x="1619250" y="3213100"/>
            <a:ext cx="2349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/>
          </a:p>
        </p:txBody>
      </p:sp>
      <p:sp>
        <p:nvSpPr>
          <p:cNvPr id="64520" name="Rectangle 14"/>
          <p:cNvSpPr>
            <a:spLocks noChangeArrowheads="1"/>
          </p:cNvSpPr>
          <p:nvPr/>
        </p:nvSpPr>
        <p:spPr bwMode="auto">
          <a:xfrm>
            <a:off x="574675" y="3860800"/>
            <a:ext cx="9350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Comic Sans MS" pitchFamily="66" charset="0"/>
              </a:rPr>
              <a:t>Micro-kernel</a:t>
            </a:r>
          </a:p>
        </p:txBody>
      </p:sp>
      <p:sp>
        <p:nvSpPr>
          <p:cNvPr id="64521" name="Rectangle 15"/>
          <p:cNvSpPr>
            <a:spLocks noChangeArrowheads="1"/>
          </p:cNvSpPr>
          <p:nvPr/>
        </p:nvSpPr>
        <p:spPr bwMode="auto">
          <a:xfrm>
            <a:off x="2195513" y="4594225"/>
            <a:ext cx="1157287" cy="825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he-IL" sz="2000">
                <a:latin typeface="Arial" pitchFamily="34" charset="0"/>
              </a:rPr>
              <a:t>חומרה</a:t>
            </a:r>
            <a:endParaRPr lang="en-GB" sz="2000">
              <a:latin typeface="Arial" pitchFamily="34" charset="0"/>
            </a:endParaRPr>
          </a:p>
        </p:txBody>
      </p:sp>
      <p:sp>
        <p:nvSpPr>
          <p:cNvPr id="64522" name="Rectangle 16"/>
          <p:cNvSpPr>
            <a:spLocks noChangeArrowheads="1"/>
          </p:cNvSpPr>
          <p:nvPr/>
        </p:nvSpPr>
        <p:spPr bwMode="auto">
          <a:xfrm>
            <a:off x="2195513" y="2205038"/>
            <a:ext cx="1157287" cy="825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he-IL" sz="2000">
                <a:latin typeface="Arial" pitchFamily="34" charset="0"/>
              </a:rPr>
              <a:t>תוכניות</a:t>
            </a:r>
          </a:p>
          <a:p>
            <a:pPr eaLnBrk="0" hangingPunct="0">
              <a:spcBef>
                <a:spcPct val="50000"/>
              </a:spcBef>
            </a:pPr>
            <a:r>
              <a:rPr lang="he-IL" sz="2000">
                <a:latin typeface="Arial" pitchFamily="34" charset="0"/>
              </a:rPr>
              <a:t>משתמש</a:t>
            </a:r>
            <a:endParaRPr lang="en-GB" sz="2000">
              <a:latin typeface="Arial" pitchFamily="34" charset="0"/>
            </a:endParaRPr>
          </a:p>
        </p:txBody>
      </p:sp>
      <p:sp>
        <p:nvSpPr>
          <p:cNvPr id="64523" name="Line 17"/>
          <p:cNvSpPr>
            <a:spLocks noChangeShapeType="1"/>
          </p:cNvSpPr>
          <p:nvPr/>
        </p:nvSpPr>
        <p:spPr bwMode="auto">
          <a:xfrm>
            <a:off x="1619250" y="3860800"/>
            <a:ext cx="2349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/>
          </a:p>
        </p:txBody>
      </p:sp>
      <p:sp>
        <p:nvSpPr>
          <p:cNvPr id="64524" name="Rectangle 18"/>
          <p:cNvSpPr>
            <a:spLocks noChangeArrowheads="1"/>
          </p:cNvSpPr>
          <p:nvPr/>
        </p:nvSpPr>
        <p:spPr bwMode="auto">
          <a:xfrm>
            <a:off x="574675" y="3213100"/>
            <a:ext cx="1512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Comic Sans MS" pitchFamily="66" charset="0"/>
              </a:rPr>
              <a:t>System processes</a:t>
            </a:r>
          </a:p>
        </p:txBody>
      </p:sp>
      <p:sp>
        <p:nvSpPr>
          <p:cNvPr id="64525" name="Text Box 19"/>
          <p:cNvSpPr txBox="1">
            <a:spLocks noChangeArrowheads="1"/>
          </p:cNvSpPr>
          <p:nvPr/>
        </p:nvSpPr>
        <p:spPr bwMode="auto">
          <a:xfrm rot="5400000">
            <a:off x="3454401" y="2844800"/>
            <a:ext cx="1655762" cy="376237"/>
          </a:xfrm>
          <a:prstGeom prst="rect">
            <a:avLst/>
          </a:prstGeom>
          <a:solidFill>
            <a:schemeClr val="accent1">
              <a:alpha val="18823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b="1" dirty="0"/>
              <a:t>User mode</a:t>
            </a:r>
          </a:p>
        </p:txBody>
      </p:sp>
      <p:sp>
        <p:nvSpPr>
          <p:cNvPr id="64526" name="Text Box 20"/>
          <p:cNvSpPr txBox="1">
            <a:spLocks noChangeArrowheads="1"/>
          </p:cNvSpPr>
          <p:nvPr/>
        </p:nvSpPr>
        <p:spPr bwMode="auto">
          <a:xfrm>
            <a:off x="1746250" y="3500438"/>
            <a:ext cx="11207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/>
              <a:t>file system</a:t>
            </a:r>
          </a:p>
        </p:txBody>
      </p:sp>
      <p:sp>
        <p:nvSpPr>
          <p:cNvPr id="64527" name="Text Box 21"/>
          <p:cNvSpPr txBox="1">
            <a:spLocks noChangeArrowheads="1"/>
          </p:cNvSpPr>
          <p:nvPr/>
        </p:nvSpPr>
        <p:spPr bwMode="auto">
          <a:xfrm>
            <a:off x="2897188" y="3536950"/>
            <a:ext cx="11064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/>
              <a:t>scheduling</a:t>
            </a:r>
          </a:p>
        </p:txBody>
      </p:sp>
      <p:sp>
        <p:nvSpPr>
          <p:cNvPr id="64528" name="Text Box 22"/>
          <p:cNvSpPr txBox="1">
            <a:spLocks noChangeArrowheads="1"/>
          </p:cNvSpPr>
          <p:nvPr/>
        </p:nvSpPr>
        <p:spPr bwMode="auto">
          <a:xfrm>
            <a:off x="2278063" y="3249613"/>
            <a:ext cx="1162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/>
              <a:t>networking</a:t>
            </a:r>
          </a:p>
        </p:txBody>
      </p:sp>
      <p:sp>
        <p:nvSpPr>
          <p:cNvPr id="64529" name="Text Box 23"/>
          <p:cNvSpPr txBox="1">
            <a:spLocks noChangeArrowheads="1"/>
          </p:cNvSpPr>
          <p:nvPr/>
        </p:nvSpPr>
        <p:spPr bwMode="auto">
          <a:xfrm>
            <a:off x="1860550" y="4221163"/>
            <a:ext cx="552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/>
              <a:t>הגנה</a:t>
            </a:r>
            <a:endParaRPr lang="en-GB" sz="1400" b="1"/>
          </a:p>
        </p:txBody>
      </p:sp>
      <p:sp>
        <p:nvSpPr>
          <p:cNvPr id="64530" name="Text Box 24"/>
          <p:cNvSpPr txBox="1">
            <a:spLocks noChangeArrowheads="1"/>
          </p:cNvSpPr>
          <p:nvPr/>
        </p:nvSpPr>
        <p:spPr bwMode="auto">
          <a:xfrm>
            <a:off x="2854325" y="4221163"/>
            <a:ext cx="1117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/>
              <a:t>ניהול המעבד</a:t>
            </a:r>
            <a:endParaRPr lang="en-GB" sz="1400" b="1"/>
          </a:p>
        </p:txBody>
      </p:sp>
      <p:sp>
        <p:nvSpPr>
          <p:cNvPr id="64531" name="Text Box 25"/>
          <p:cNvSpPr txBox="1">
            <a:spLocks noChangeArrowheads="1"/>
          </p:cNvSpPr>
          <p:nvPr/>
        </p:nvSpPr>
        <p:spPr bwMode="auto">
          <a:xfrm>
            <a:off x="2047875" y="3897313"/>
            <a:ext cx="1225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/>
              <a:t>זיכרון וירטואלי</a:t>
            </a:r>
            <a:endParaRPr lang="en-GB" sz="1400" b="1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65DBC-D705-40D2-92B7-1C8DF840364F}" type="slidenum">
              <a:rPr lang="he-IL" smtClean="0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ארגון מערכת ההפעלה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46238"/>
            <a:ext cx="4038600" cy="45259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he-IL" sz="2400" smtClean="0"/>
              <a:t>היום... גרעין מודולרי</a:t>
            </a:r>
            <a:endParaRPr lang="en-GB" sz="2400" smtClean="0"/>
          </a:p>
        </p:txBody>
      </p:sp>
      <p:sp>
        <p:nvSpPr>
          <p:cNvPr id="88269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076825" y="1600200"/>
            <a:ext cx="3609975" cy="4852988"/>
          </a:xfrm>
        </p:spPr>
        <p:txBody>
          <a:bodyPr/>
          <a:lstStyle/>
          <a:p>
            <a:pPr>
              <a:buSzTx/>
              <a:buFont typeface="Wingdings" pitchFamily="2" charset="2"/>
              <a:buNone/>
            </a:pPr>
            <a:r>
              <a:rPr lang="he-IL" sz="2400" b="1" dirty="0" smtClean="0"/>
              <a:t>מודולים דינמיים, שניתן לטעון ולהסיר אותם מהזיכרון</a:t>
            </a:r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מאפשר לטעון רכיבי קוד ונתונים לפי דרישה </a:t>
            </a:r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מונע מהגרעין "להתנפח" ללא צורך בזיכרון המחשב</a:t>
            </a:r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קל להרחיב ולשנות</a:t>
            </a:r>
            <a:endParaRPr lang="en-US" sz="2400" b="1" dirty="0" smtClean="0"/>
          </a:p>
          <a:p>
            <a:pPr>
              <a:buSzTx/>
              <a:buFont typeface="Wingdings" pitchFamily="2" charset="2"/>
              <a:buChar char="ü"/>
            </a:pPr>
            <a:r>
              <a:rPr lang="he-IL" sz="2400" b="1" dirty="0" smtClean="0"/>
              <a:t>ביצועים טובים</a:t>
            </a:r>
          </a:p>
          <a:p>
            <a:pPr>
              <a:buFont typeface="Wingdings" pitchFamily="2" charset="2"/>
              <a:buNone/>
            </a:pPr>
            <a:r>
              <a:rPr lang="he-IL" sz="2400" b="1" dirty="0" smtClean="0"/>
              <a:t>דוגמאות: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he-IL" sz="1800" b="1" dirty="0" smtClean="0"/>
              <a:t> </a:t>
            </a:r>
            <a:r>
              <a:rPr lang="en-US" sz="1800" b="1" dirty="0" smtClean="0"/>
              <a:t>Solaris, Mac OS X,</a:t>
            </a:r>
            <a:br>
              <a:rPr lang="en-US" sz="1800" b="1" dirty="0" smtClean="0"/>
            </a:br>
            <a:r>
              <a:rPr lang="en-US" sz="1800" b="1" dirty="0" smtClean="0"/>
              <a:t>Linux (kernel modules), Windows (Dynamic device Drivers)</a:t>
            </a:r>
          </a:p>
        </p:txBody>
      </p:sp>
      <p:sp>
        <p:nvSpPr>
          <p:cNvPr id="65542" name="Line 5"/>
          <p:cNvSpPr>
            <a:spLocks noChangeShapeType="1"/>
          </p:cNvSpPr>
          <p:nvPr/>
        </p:nvSpPr>
        <p:spPr bwMode="auto">
          <a:xfrm>
            <a:off x="1619250" y="4524375"/>
            <a:ext cx="2349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/>
          </a:p>
        </p:txBody>
      </p:sp>
      <p:sp>
        <p:nvSpPr>
          <p:cNvPr id="65543" name="Line 6"/>
          <p:cNvSpPr>
            <a:spLocks noChangeShapeType="1"/>
          </p:cNvSpPr>
          <p:nvPr/>
        </p:nvSpPr>
        <p:spPr bwMode="auto">
          <a:xfrm>
            <a:off x="1619250" y="3213100"/>
            <a:ext cx="23495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/>
          </a:p>
        </p:txBody>
      </p:sp>
      <p:sp>
        <p:nvSpPr>
          <p:cNvPr id="65544" name="Rectangle 7"/>
          <p:cNvSpPr>
            <a:spLocks noChangeArrowheads="1"/>
          </p:cNvSpPr>
          <p:nvPr/>
        </p:nvSpPr>
        <p:spPr bwMode="auto">
          <a:xfrm>
            <a:off x="539750" y="3500438"/>
            <a:ext cx="9350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Comic Sans MS" pitchFamily="66" charset="0"/>
              </a:rPr>
              <a:t>Core kernel</a:t>
            </a:r>
          </a:p>
        </p:txBody>
      </p:sp>
      <p:sp>
        <p:nvSpPr>
          <p:cNvPr id="65545" name="Rectangle 8"/>
          <p:cNvSpPr>
            <a:spLocks noChangeArrowheads="1"/>
          </p:cNvSpPr>
          <p:nvPr/>
        </p:nvSpPr>
        <p:spPr bwMode="auto">
          <a:xfrm>
            <a:off x="2195513" y="4594225"/>
            <a:ext cx="1157287" cy="825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he-IL" sz="2000">
                <a:latin typeface="Arial" pitchFamily="34" charset="0"/>
              </a:rPr>
              <a:t>חומרה</a:t>
            </a:r>
            <a:endParaRPr lang="en-GB" sz="2000">
              <a:latin typeface="Arial" pitchFamily="34" charset="0"/>
            </a:endParaRPr>
          </a:p>
        </p:txBody>
      </p:sp>
      <p:sp>
        <p:nvSpPr>
          <p:cNvPr id="65546" name="Rectangle 9"/>
          <p:cNvSpPr>
            <a:spLocks noChangeArrowheads="1"/>
          </p:cNvSpPr>
          <p:nvPr/>
        </p:nvSpPr>
        <p:spPr bwMode="auto">
          <a:xfrm>
            <a:off x="2195513" y="2205038"/>
            <a:ext cx="1157287" cy="825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r>
              <a:rPr lang="he-IL" sz="2000">
                <a:latin typeface="Arial" pitchFamily="34" charset="0"/>
              </a:rPr>
              <a:t>תוכניות</a:t>
            </a:r>
          </a:p>
          <a:p>
            <a:pPr eaLnBrk="0" hangingPunct="0">
              <a:spcBef>
                <a:spcPct val="50000"/>
              </a:spcBef>
            </a:pPr>
            <a:r>
              <a:rPr lang="he-IL" sz="2000">
                <a:latin typeface="Arial" pitchFamily="34" charset="0"/>
              </a:rPr>
              <a:t>משתמש</a:t>
            </a:r>
            <a:endParaRPr lang="en-GB" sz="2000">
              <a:latin typeface="Arial" pitchFamily="34" charset="0"/>
            </a:endParaRPr>
          </a:p>
        </p:txBody>
      </p:sp>
      <p:sp>
        <p:nvSpPr>
          <p:cNvPr id="65547" name="Text Box 12"/>
          <p:cNvSpPr txBox="1">
            <a:spLocks noChangeArrowheads="1"/>
          </p:cNvSpPr>
          <p:nvPr/>
        </p:nvSpPr>
        <p:spPr bwMode="auto">
          <a:xfrm rot="5400000">
            <a:off x="3781425" y="2347913"/>
            <a:ext cx="936625" cy="650875"/>
          </a:xfrm>
          <a:prstGeom prst="rect">
            <a:avLst/>
          </a:prstGeom>
          <a:solidFill>
            <a:schemeClr val="accent1">
              <a:alpha val="18823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User mode</a:t>
            </a:r>
          </a:p>
        </p:txBody>
      </p:sp>
      <p:sp>
        <p:nvSpPr>
          <p:cNvPr id="65548" name="Oval 19"/>
          <p:cNvSpPr>
            <a:spLocks noChangeArrowheads="1"/>
          </p:cNvSpPr>
          <p:nvPr/>
        </p:nvSpPr>
        <p:spPr bwMode="auto">
          <a:xfrm>
            <a:off x="4140200" y="3187666"/>
            <a:ext cx="1008063" cy="584269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050" b="1"/>
              <a:t>Device drivers</a:t>
            </a:r>
          </a:p>
        </p:txBody>
      </p:sp>
      <p:sp>
        <p:nvSpPr>
          <p:cNvPr id="65549" name="Oval 20"/>
          <p:cNvSpPr>
            <a:spLocks noChangeArrowheads="1"/>
          </p:cNvSpPr>
          <p:nvPr/>
        </p:nvSpPr>
        <p:spPr bwMode="auto">
          <a:xfrm>
            <a:off x="4140200" y="3835367"/>
            <a:ext cx="1008063" cy="584269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050" b="1"/>
              <a:t>New FS</a:t>
            </a:r>
          </a:p>
        </p:txBody>
      </p:sp>
      <p:sp>
        <p:nvSpPr>
          <p:cNvPr id="65551" name="Text Box 28"/>
          <p:cNvSpPr txBox="1">
            <a:spLocks noChangeArrowheads="1"/>
          </p:cNvSpPr>
          <p:nvPr/>
        </p:nvSpPr>
        <p:spPr bwMode="auto">
          <a:xfrm>
            <a:off x="1746250" y="3500438"/>
            <a:ext cx="11207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/>
              <a:t>file system</a:t>
            </a:r>
          </a:p>
        </p:txBody>
      </p:sp>
      <p:sp>
        <p:nvSpPr>
          <p:cNvPr id="65552" name="Text Box 29"/>
          <p:cNvSpPr txBox="1">
            <a:spLocks noChangeArrowheads="1"/>
          </p:cNvSpPr>
          <p:nvPr/>
        </p:nvSpPr>
        <p:spPr bwMode="auto">
          <a:xfrm>
            <a:off x="2897188" y="3536950"/>
            <a:ext cx="11064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/>
              <a:t>scheduling</a:t>
            </a:r>
          </a:p>
        </p:txBody>
      </p:sp>
      <p:sp>
        <p:nvSpPr>
          <p:cNvPr id="65553" name="Text Box 30"/>
          <p:cNvSpPr txBox="1">
            <a:spLocks noChangeArrowheads="1"/>
          </p:cNvSpPr>
          <p:nvPr/>
        </p:nvSpPr>
        <p:spPr bwMode="auto">
          <a:xfrm>
            <a:off x="2278063" y="3249613"/>
            <a:ext cx="1162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b="1"/>
              <a:t>networking</a:t>
            </a:r>
          </a:p>
        </p:txBody>
      </p:sp>
      <p:sp>
        <p:nvSpPr>
          <p:cNvPr id="65554" name="Text Box 31"/>
          <p:cNvSpPr txBox="1">
            <a:spLocks noChangeArrowheads="1"/>
          </p:cNvSpPr>
          <p:nvPr/>
        </p:nvSpPr>
        <p:spPr bwMode="auto">
          <a:xfrm>
            <a:off x="1860550" y="4221163"/>
            <a:ext cx="552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/>
              <a:t>הגנה</a:t>
            </a:r>
            <a:endParaRPr lang="en-GB" sz="1400" b="1"/>
          </a:p>
        </p:txBody>
      </p:sp>
      <p:sp>
        <p:nvSpPr>
          <p:cNvPr id="65555" name="Text Box 32"/>
          <p:cNvSpPr txBox="1">
            <a:spLocks noChangeArrowheads="1"/>
          </p:cNvSpPr>
          <p:nvPr/>
        </p:nvSpPr>
        <p:spPr bwMode="auto">
          <a:xfrm>
            <a:off x="2854325" y="4221163"/>
            <a:ext cx="1117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/>
              <a:t>ניהול המעבד</a:t>
            </a:r>
            <a:endParaRPr lang="en-GB" sz="1400" b="1"/>
          </a:p>
        </p:txBody>
      </p:sp>
      <p:sp>
        <p:nvSpPr>
          <p:cNvPr id="65556" name="Text Box 33"/>
          <p:cNvSpPr txBox="1">
            <a:spLocks noChangeArrowheads="1"/>
          </p:cNvSpPr>
          <p:nvPr/>
        </p:nvSpPr>
        <p:spPr bwMode="auto">
          <a:xfrm>
            <a:off x="2047875" y="3897313"/>
            <a:ext cx="1225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1400" b="1"/>
              <a:t>זיכרון וירטואלי</a:t>
            </a:r>
            <a:endParaRPr lang="en-GB" sz="1400" b="1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65DBC-D705-40D2-92B7-1C8DF840364F}" type="slidenum">
              <a:rPr lang="he-IL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charRg st="115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 smtClean="0">
                <a:solidFill>
                  <a:srgbClr val="FFFF00"/>
                </a:solidFill>
              </a:rPr>
              <a:t>תרגול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88269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076825" y="1600200"/>
            <a:ext cx="3609975" cy="4852988"/>
          </a:xfrm>
        </p:spPr>
        <p:txBody>
          <a:bodyPr/>
          <a:lstStyle/>
          <a:p>
            <a:pPr>
              <a:buSzTx/>
              <a:buFont typeface="Wingdings" pitchFamily="2" charset="2"/>
              <a:buNone/>
            </a:pPr>
            <a:r>
              <a:rPr lang="he-IL" sz="1800" b="1" dirty="0" smtClean="0"/>
              <a:t>1.מה מטרת מערכת ההפעלה</a:t>
            </a:r>
          </a:p>
          <a:p>
            <a:pPr>
              <a:buSzTx/>
              <a:buFont typeface="Wingdings" pitchFamily="2" charset="2"/>
              <a:buNone/>
            </a:pPr>
            <a:r>
              <a:rPr lang="he-IL" sz="1800" b="1" dirty="0" smtClean="0"/>
              <a:t>2.במידה ולא היה מערכת הפעלה – מה היה צריך המתכנת לבצע בתוכנה?</a:t>
            </a:r>
          </a:p>
          <a:p>
            <a:pPr>
              <a:buSzTx/>
              <a:buFont typeface="Wingdings" pitchFamily="2" charset="2"/>
              <a:buNone/>
            </a:pPr>
            <a:r>
              <a:rPr lang="he-IL" sz="1800" b="1" dirty="0" smtClean="0"/>
              <a:t>3.ציין מס' שמות של מערכות הפעלה</a:t>
            </a:r>
          </a:p>
          <a:p>
            <a:pPr>
              <a:buSzTx/>
              <a:buFont typeface="Wingdings" pitchFamily="2" charset="2"/>
              <a:buNone/>
            </a:pPr>
            <a:r>
              <a:rPr lang="he-IL" sz="1800" b="1" dirty="0" smtClean="0"/>
              <a:t>4. </a:t>
            </a:r>
            <a:r>
              <a:rPr lang="he-IL" sz="1800" b="1" dirty="0" smtClean="0"/>
              <a:t>אילו שירותים מערכת הפעלה</a:t>
            </a:r>
          </a:p>
          <a:p>
            <a:pPr>
              <a:buSzTx/>
              <a:buFont typeface="Wingdings" pitchFamily="2" charset="2"/>
              <a:buNone/>
            </a:pPr>
            <a:r>
              <a:rPr lang="he-IL" sz="1800" b="1" dirty="0" smtClean="0"/>
              <a:t>5. צלמו את מסך מנהל ההתקנים</a:t>
            </a:r>
          </a:p>
          <a:p>
            <a:pPr>
              <a:buSzTx/>
              <a:buFont typeface="Wingdings" pitchFamily="2" charset="2"/>
              <a:buNone/>
            </a:pPr>
            <a:r>
              <a:rPr lang="he-IL" sz="1800" b="1" dirty="0" smtClean="0"/>
              <a:t>6. מהם דרישות החומרה למערכת הפעלה וינדוס 10</a:t>
            </a:r>
          </a:p>
          <a:p>
            <a:pPr>
              <a:buSzTx/>
              <a:buFont typeface="Wingdings" pitchFamily="2" charset="2"/>
              <a:buNone/>
            </a:pPr>
            <a:r>
              <a:rPr lang="he-IL" sz="1800" b="1" dirty="0" smtClean="0"/>
              <a:t>7. </a:t>
            </a:r>
            <a:r>
              <a:rPr lang="he-IL" sz="1800" b="1" dirty="0" smtClean="0"/>
              <a:t>צלמו מסך עם תהליכים שרצים במחשב</a:t>
            </a:r>
          </a:p>
          <a:p>
            <a:pPr>
              <a:buSzTx/>
              <a:buFont typeface="Wingdings" pitchFamily="2" charset="2"/>
              <a:buNone/>
            </a:pPr>
            <a:r>
              <a:rPr lang="he-IL" sz="1800" b="1" dirty="0" smtClean="0"/>
              <a:t>8. מה ההבדל בין תוכנה לתהליך ? הסברו</a:t>
            </a:r>
          </a:p>
          <a:p>
            <a:pPr>
              <a:buSzTx/>
              <a:buFont typeface="Wingdings" pitchFamily="2" charset="2"/>
              <a:buNone/>
            </a:pPr>
            <a:r>
              <a:rPr lang="he-IL" sz="1800" b="1" dirty="0" smtClean="0"/>
              <a:t>9. תארו אילו התמודדויות עם חומרה נדרשת מערכת ההפעלה להתמודד, מהם האתגרים החדשים.</a:t>
            </a:r>
          </a:p>
          <a:p>
            <a:pPr>
              <a:buSzTx/>
              <a:buFont typeface="Wingdings" pitchFamily="2" charset="2"/>
              <a:buNone/>
            </a:pPr>
            <a:r>
              <a:rPr lang="he-IL" sz="1800" b="1" dirty="0" smtClean="0"/>
              <a:t>10. תארו במילים שלכם את מצבי התהליך </a:t>
            </a:r>
            <a:endParaRPr lang="en-US" sz="1800" b="1" dirty="0" smtClean="0"/>
          </a:p>
        </p:txBody>
      </p:sp>
      <p:sp>
        <p:nvSpPr>
          <p:cNvPr id="65544" name="Rectangle 7"/>
          <p:cNvSpPr>
            <a:spLocks noChangeArrowheads="1"/>
          </p:cNvSpPr>
          <p:nvPr/>
        </p:nvSpPr>
        <p:spPr bwMode="auto">
          <a:xfrm>
            <a:off x="539750" y="3500438"/>
            <a:ext cx="9350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endParaRPr lang="en-US" dirty="0">
              <a:solidFill>
                <a:schemeClr val="tx2"/>
              </a:solidFill>
              <a:latin typeface="Comic Sans MS" pitchFamily="66" charset="0"/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1 - Introduction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65DBC-D705-40D2-92B7-1C8DF840364F}" type="slidenum">
              <a:rPr lang="he-IL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5" name="מציין מיקום תוכן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"/>
          </a:p>
        </p:txBody>
      </p:sp>
    </p:spTree>
    <p:extLst>
      <p:ext uri="{BB962C8B-B14F-4D97-AF65-F5344CB8AC3E}">
        <p14:creationId xmlns:p14="http://schemas.microsoft.com/office/powerpoint/2010/main" val="12350888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charRg st="115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Carnival">
      <a:dk1>
        <a:sysClr val="windowText" lastClr="000000"/>
      </a:dk1>
      <a:lt1>
        <a:sysClr val="window" lastClr="FFFFFF"/>
      </a:lt1>
      <a:dk2>
        <a:srgbClr val="2A2D6C"/>
      </a:dk2>
      <a:lt2>
        <a:srgbClr val="FCED90"/>
      </a:lt2>
      <a:accent1>
        <a:srgbClr val="E0B602"/>
      </a:accent1>
      <a:accent2>
        <a:srgbClr val="C77D00"/>
      </a:accent2>
      <a:accent3>
        <a:srgbClr val="C43D1F"/>
      </a:accent3>
      <a:accent4>
        <a:srgbClr val="B42469"/>
      </a:accent4>
      <a:accent5>
        <a:srgbClr val="7B309B"/>
      </a:accent5>
      <a:accent6>
        <a:srgbClr val="4560AD"/>
      </a:accent6>
      <a:hlink>
        <a:srgbClr val="118FBF"/>
      </a:hlink>
      <a:folHlink>
        <a:srgbClr val="0CA15F"/>
      </a:folHlink>
    </a:clrScheme>
    <a:fontScheme name="Office קלאסי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בית יציקה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9349</TotalTime>
  <Words>2737</Words>
  <Application>Microsoft Office PowerPoint</Application>
  <PresentationFormat>‫הצגה על המסך (4:3)</PresentationFormat>
  <Paragraphs>586</Paragraphs>
  <Slides>41</Slides>
  <Notes>20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41</vt:i4>
      </vt:variant>
    </vt:vector>
  </HeadingPairs>
  <TitlesOfParts>
    <vt:vector size="42" baseType="lpstr">
      <vt:lpstr>Foundry</vt:lpstr>
      <vt:lpstr>מהי חשיבותה של מערכת ההפעלה?</vt:lpstr>
      <vt:lpstr>תפקיד מערכת ההפעלה</vt:lpstr>
      <vt:lpstr>מהי מערכת הפעלה?</vt:lpstr>
      <vt:lpstr>מהי מערכת הפעלה?</vt:lpstr>
      <vt:lpstr>החיים ללא מערכת הפעלה</vt:lpstr>
      <vt:lpstr>שיתוף משאבים</vt:lpstr>
      <vt:lpstr>המבנה הגראפי של מערכת ההפעלה</vt:lpstr>
      <vt:lpstr>מצגת של PowerPoint</vt:lpstr>
      <vt:lpstr>הדגשים במערכות הפעלה</vt:lpstr>
      <vt:lpstr>מושגים במערכות הפעלה</vt:lpstr>
      <vt:lpstr>מצגת של PowerPoint</vt:lpstr>
      <vt:lpstr>קידום תוכנית לקראת ריצה</vt:lpstr>
      <vt:lpstr>מצגת של PowerPoint</vt:lpstr>
      <vt:lpstr>מבנה השכבות של מערכת הפעלה</vt:lpstr>
      <vt:lpstr>סוגי מבני מערכת הפעלה</vt:lpstr>
      <vt:lpstr>מערכת עשויה מקשה אחת</vt:lpstr>
      <vt:lpstr>מערכת עשויה מקשה אחת (המשך)</vt:lpstr>
      <vt:lpstr>מערכת היררכית המבוססת על שכבות</vt:lpstr>
      <vt:lpstr>מערכת היררכית מבוססת שכבות (המשך)</vt:lpstr>
      <vt:lpstr>אז מהי בעצם מערכת הפעלה?</vt:lpstr>
      <vt:lpstr>מכונה וירטואלית</vt:lpstr>
      <vt:lpstr>אז מה בעצם מתרחש כאן?</vt:lpstr>
      <vt:lpstr>מיקרו גרעין - מתאים למודל שרת/לקוח </vt:lpstr>
      <vt:lpstr>אפיון גרעין מערכת ההפעלה kernel - </vt:lpstr>
      <vt:lpstr>ארגון מערכת ההפעלה</vt:lpstr>
      <vt:lpstr>ארגון מערכת ההפעלה</vt:lpstr>
      <vt:lpstr>הווה ועתיד</vt:lpstr>
      <vt:lpstr>העתיד הקרוב</vt:lpstr>
      <vt:lpstr>מבנה המחשב</vt:lpstr>
      <vt:lpstr>מנגנוני חומרה לתמיכה במערכת ההפעלה</vt:lpstr>
      <vt:lpstr>פקודות מוגנות</vt:lpstr>
      <vt:lpstr>עבודה במצב מוגן (safe mode)</vt:lpstr>
      <vt:lpstr>אז איך משתמש ניגש לדיסק?</vt:lpstr>
      <vt:lpstr>הגנה על הזיכרון</vt:lpstr>
      <vt:lpstr>יום בחיים של מערכת ההפעלה</vt:lpstr>
      <vt:lpstr>רכיבי מערכת ההפעלה</vt:lpstr>
      <vt:lpstr>ארגון מערכת ההפעלה</vt:lpstr>
      <vt:lpstr>ארגון מערכת ההפעלה</vt:lpstr>
      <vt:lpstr>ארגון מערכת ההפעלה</vt:lpstr>
      <vt:lpstr>ארגון מערכת ההפעלה</vt:lpstr>
      <vt:lpstr>תרגול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OS1</dc:title>
  <dc:creator>Shayke Bilu</dc:creator>
  <cp:lastModifiedBy>Windows User</cp:lastModifiedBy>
  <cp:revision>248</cp:revision>
  <cp:lastPrinted>1998-02-12T08:14:48Z</cp:lastPrinted>
  <dcterms:created xsi:type="dcterms:W3CDTF">1998-02-10T14:37:26Z</dcterms:created>
  <dcterms:modified xsi:type="dcterms:W3CDTF">2018-11-04T18:35:47Z</dcterms:modified>
</cp:coreProperties>
</file>