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987" r:id="rId1"/>
  </p:sldMasterIdLst>
  <p:notesMasterIdLst>
    <p:notesMasterId r:id="rId30"/>
  </p:notesMasterIdLst>
  <p:handoutMasterIdLst>
    <p:handoutMasterId r:id="rId31"/>
  </p:handoutMasterIdLst>
  <p:sldIdLst>
    <p:sldId id="374" r:id="rId2"/>
    <p:sldId id="324" r:id="rId3"/>
    <p:sldId id="402" r:id="rId4"/>
    <p:sldId id="401" r:id="rId5"/>
    <p:sldId id="370" r:id="rId6"/>
    <p:sldId id="353" r:id="rId7"/>
    <p:sldId id="403" r:id="rId8"/>
    <p:sldId id="404" r:id="rId9"/>
    <p:sldId id="405" r:id="rId10"/>
    <p:sldId id="371" r:id="rId11"/>
    <p:sldId id="325" r:id="rId12"/>
    <p:sldId id="326" r:id="rId13"/>
    <p:sldId id="406" r:id="rId14"/>
    <p:sldId id="327" r:id="rId15"/>
    <p:sldId id="328" r:id="rId16"/>
    <p:sldId id="329" r:id="rId17"/>
    <p:sldId id="330" r:id="rId18"/>
    <p:sldId id="331" r:id="rId19"/>
    <p:sldId id="355" r:id="rId20"/>
    <p:sldId id="407" r:id="rId21"/>
    <p:sldId id="332" r:id="rId22"/>
    <p:sldId id="333" r:id="rId23"/>
    <p:sldId id="334" r:id="rId24"/>
    <p:sldId id="335" r:id="rId25"/>
    <p:sldId id="336" r:id="rId26"/>
    <p:sldId id="337" r:id="rId27"/>
    <p:sldId id="408" r:id="rId28"/>
    <p:sldId id="372" r:id="rId29"/>
  </p:sldIdLst>
  <p:sldSz cx="9144000" cy="6858000" type="screen4x3"/>
  <p:notesSz cx="7315200" cy="9601200"/>
  <p:defaultTextStyle>
    <a:defPPr>
      <a:defRPr lang="en-AU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FFFFFF"/>
    <a:srgbClr val="FFFFCC"/>
    <a:srgbClr val="CCECFF"/>
    <a:srgbClr val="FFFF66"/>
    <a:srgbClr val="FFFF00"/>
    <a:srgbClr val="0033CC"/>
    <a:srgbClr val="008000"/>
    <a:srgbClr val="CCFF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435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7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blackWhite">
          <a:xfrm>
            <a:off x="0" y="0"/>
            <a:ext cx="3169920" cy="4800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9057" tIns="49528" rIns="99057" bIns="49528" numCol="1" anchor="ctr" anchorCtr="0" compatLnSpc="1">
            <a:prstTxWarp prst="textNoShape">
              <a:avLst/>
            </a:prstTxWarp>
          </a:bodyPr>
          <a:lstStyle>
            <a:lvl1pPr algn="l" rtl="0" eaLnBrk="0" hangingPunct="0">
              <a:defRPr sz="1300" b="1" i="1"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sz="quarter" idx="1"/>
          </p:nvPr>
        </p:nvSpPr>
        <p:spPr bwMode="blackWhite">
          <a:xfrm>
            <a:off x="4145281" y="0"/>
            <a:ext cx="3169920" cy="4800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9057" tIns="49528" rIns="99057" bIns="49528" numCol="1" anchor="ctr" anchorCtr="0" compatLnSpc="1">
            <a:prstTxWarp prst="textNoShape">
              <a:avLst/>
            </a:prstTxWarp>
          </a:bodyPr>
          <a:lstStyle>
            <a:lvl1pPr rtl="0" eaLnBrk="0" hangingPunct="0">
              <a:defRPr sz="1300" b="1" i="1">
                <a:latin typeface="Times New Roman" pitchFamily="18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ftr" sz="quarter" idx="2"/>
          </p:nvPr>
        </p:nvSpPr>
        <p:spPr bwMode="blackWhite">
          <a:xfrm>
            <a:off x="0" y="9121141"/>
            <a:ext cx="3169920" cy="4800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9057" tIns="49528" rIns="99057" bIns="49528" numCol="1" anchor="b" anchorCtr="0" compatLnSpc="1">
            <a:prstTxWarp prst="textNoShape">
              <a:avLst/>
            </a:prstTxWarp>
          </a:bodyPr>
          <a:lstStyle>
            <a:lvl1pPr algn="l" rtl="0" eaLnBrk="0" hangingPunct="0">
              <a:defRPr sz="1300" b="1" i="1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he-IL" altLang="en-US"/>
              <a:t>Bilu.S.Shay</a:t>
            </a:r>
            <a:endParaRPr lang="en-US" altLang="en-US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sldNum" sz="quarter" idx="3"/>
          </p:nvPr>
        </p:nvSpPr>
        <p:spPr bwMode="blackWhite">
          <a:xfrm>
            <a:off x="4145281" y="9121141"/>
            <a:ext cx="3169920" cy="4800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9057" tIns="49528" rIns="99057" bIns="49528" numCol="1" anchor="b" anchorCtr="0" compatLnSpc="1">
            <a:prstTxWarp prst="textNoShape">
              <a:avLst/>
            </a:prstTxWarp>
          </a:bodyPr>
          <a:lstStyle>
            <a:lvl1pPr rtl="0" eaLnBrk="0" hangingPunct="0">
              <a:defRPr sz="1300" b="1" i="1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1FB32784-561A-47C7-B05B-7FADD0CEACED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40162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4568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>
          <a:xfrm>
            <a:off x="731521" y="4620577"/>
            <a:ext cx="5852160" cy="3780473"/>
          </a:xfrm>
          <a:prstGeom prst="rect">
            <a:avLst/>
          </a:prstGeom>
        </p:spPr>
        <p:txBody>
          <a:bodyPr lIns="99057" tIns="49528" rIns="99057" bIns="49528"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47947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>
          <a:xfrm>
            <a:off x="731521" y="4620577"/>
            <a:ext cx="5852160" cy="3780473"/>
          </a:xfrm>
          <a:prstGeom prst="rect">
            <a:avLst/>
          </a:prstGeom>
        </p:spPr>
        <p:txBody>
          <a:bodyPr lIns="99057" tIns="49528" rIns="99057" bIns="49528"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2123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>
          <a:xfrm>
            <a:off x="731521" y="4620577"/>
            <a:ext cx="5852160" cy="3780473"/>
          </a:xfrm>
          <a:prstGeom prst="rect">
            <a:avLst/>
          </a:prstGeom>
        </p:spPr>
        <p:txBody>
          <a:bodyPr lIns="99057" tIns="49528" rIns="99057" bIns="49528"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65516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695" y="9119474"/>
            <a:ext cx="3169920" cy="48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9" tIns="45720" rIns="91439" bIns="45720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804838" indent="-309553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238212" indent="-247642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733497" indent="-247642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228781" indent="-247642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724066" indent="-247642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3219351" indent="-247642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714636" indent="-247642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4209920" indent="-247642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/>
            <a:fld id="{722ED24C-ADCA-40F1-829D-8494FB2C4F44}" type="slidenum">
              <a:rPr lang="he-IL"/>
              <a:pPr eaLnBrk="1" hangingPunct="1"/>
              <a:t>5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5713" y="719138"/>
            <a:ext cx="4803775" cy="36020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521" y="4560570"/>
            <a:ext cx="5852160" cy="432054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9" tIns="45720" rIns="91439" bIns="45720"/>
          <a:lstStyle/>
          <a:p>
            <a:endParaRPr lang="he-IL" smtClean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79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695" y="9119474"/>
            <a:ext cx="3169920" cy="48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9" tIns="45720" rIns="91439" bIns="45720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804838" indent="-309553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238212" indent="-247642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733497" indent="-247642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228781" indent="-247642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724066" indent="-247642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3219351" indent="-247642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714636" indent="-247642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4209920" indent="-247642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/>
            <a:fld id="{8E063873-4179-4385-B014-4FCE7A94B01D}" type="slidenum">
              <a:rPr lang="he-IL"/>
              <a:pPr eaLnBrk="1" hangingPunct="1"/>
              <a:t>6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5713" y="719138"/>
            <a:ext cx="4803775" cy="36020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521" y="4560570"/>
            <a:ext cx="5852160" cy="432054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9" tIns="45720" rIns="91439" bIns="45720"/>
          <a:lstStyle/>
          <a:p>
            <a:endParaRPr lang="he-IL" smtClean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825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>
          <a:xfrm>
            <a:off x="731521" y="4620577"/>
            <a:ext cx="5852160" cy="3780473"/>
          </a:xfrm>
          <a:prstGeom prst="rect">
            <a:avLst/>
          </a:prstGeom>
        </p:spPr>
        <p:txBody>
          <a:bodyPr lIns="99057" tIns="49528" rIns="99057" bIns="49528"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55668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>
          <a:xfrm>
            <a:off x="731521" y="4620577"/>
            <a:ext cx="5852160" cy="3780473"/>
          </a:xfrm>
          <a:prstGeom prst="rect">
            <a:avLst/>
          </a:prstGeom>
        </p:spPr>
        <p:txBody>
          <a:bodyPr lIns="99057" tIns="49528" rIns="99057" bIns="49528"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7429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>
          <a:xfrm>
            <a:off x="731521" y="4620577"/>
            <a:ext cx="5852160" cy="3780473"/>
          </a:xfrm>
          <a:prstGeom prst="rect">
            <a:avLst/>
          </a:prstGeom>
        </p:spPr>
        <p:txBody>
          <a:bodyPr lIns="99057" tIns="49528" rIns="99057" bIns="49528"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203677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695" y="9119474"/>
            <a:ext cx="3169920" cy="48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9" tIns="45720" rIns="91439" bIns="45720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804838" indent="-309553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238212" indent="-247642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733497" indent="-247642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228781" indent="-247642" eaLnBrk="0" hangingPunct="0"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72406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3219351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71463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4209920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fld id="{8E5A3888-F8D4-4434-8091-3ECFE41A2CD0}" type="slidenum">
              <a:rPr lang="he-IL"/>
              <a:pPr eaLnBrk="1" hangingPunct="1"/>
              <a:t>10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19138"/>
            <a:ext cx="4803775" cy="36036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521" y="4562238"/>
            <a:ext cx="5852160" cy="431887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9" tIns="45720" rIns="91439" bIns="45720"/>
          <a:lstStyle/>
          <a:p>
            <a:r>
              <a:rPr lang="he-IL" smtClean="0"/>
              <a:t>שימו לב שיש כאן חלק "לבן", שגודלו משתנה ויכול להיות קטן או גדול.</a:t>
            </a:r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495055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695" y="9119474"/>
            <a:ext cx="3169920" cy="48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9" tIns="45720" rIns="91439" bIns="45720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804838" indent="-309553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238212" indent="-247642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733497" indent="-247642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228781" indent="-247642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724066" indent="-247642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3219351" indent="-247642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714636" indent="-247642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4209920" indent="-247642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/>
            <a:fld id="{F3A19ACC-683E-4C56-B5E0-3C2E6AD3CD2A}" type="slidenum">
              <a:rPr lang="he-IL"/>
              <a:pPr eaLnBrk="1" hangingPunct="1"/>
              <a:t>19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5713" y="719138"/>
            <a:ext cx="4803775" cy="36020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521" y="4560570"/>
            <a:ext cx="5852160" cy="432054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9" tIns="45720" rIns="91439" bIns="45720"/>
          <a:lstStyle/>
          <a:p>
            <a:r>
              <a:rPr lang="he-IL" smtClean="0">
                <a:cs typeface="Arial" charset="0"/>
              </a:rPr>
              <a:t>מערכות </a:t>
            </a:r>
            <a:r>
              <a:rPr lang="en-US" smtClean="0">
                <a:cs typeface="Arial" charset="0"/>
              </a:rPr>
              <a:t>time-sharing</a:t>
            </a:r>
            <a:r>
              <a:rPr lang="he-IL" smtClean="0">
                <a:cs typeface="Arial" charset="0"/>
              </a:rPr>
              <a:t> מבצעות מאות ואלפי החלפות</a:t>
            </a:r>
          </a:p>
          <a:p>
            <a:r>
              <a:rPr lang="he-IL" smtClean="0">
                <a:cs typeface="Arial" charset="0"/>
              </a:rPr>
              <a:t>כל-אחת לוקחת כ-5 מיקרו-שניות, במעבדים נוכחיים.</a:t>
            </a:r>
            <a:endParaRPr lang="en-GB" smtClean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470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695" y="9119474"/>
            <a:ext cx="3169920" cy="48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9" tIns="45720" rIns="91439" bIns="45720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804838" indent="-309553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238212" indent="-247642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733497" indent="-247642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228781" indent="-247642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724066" indent="-247642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3219351" indent="-247642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714636" indent="-247642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4209920" indent="-247642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/>
            <a:fld id="{F3A19ACC-683E-4C56-B5E0-3C2E6AD3CD2A}" type="slidenum">
              <a:rPr lang="he-IL"/>
              <a:pPr eaLnBrk="1" hangingPunct="1"/>
              <a:t>20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5713" y="719138"/>
            <a:ext cx="4803775" cy="36020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521" y="4560570"/>
            <a:ext cx="5852160" cy="432054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9" tIns="45720" rIns="91439" bIns="45720"/>
          <a:lstStyle/>
          <a:p>
            <a:r>
              <a:rPr lang="he-IL" smtClean="0">
                <a:cs typeface="Arial" charset="0"/>
              </a:rPr>
              <a:t>מערכות </a:t>
            </a:r>
            <a:r>
              <a:rPr lang="en-US" smtClean="0">
                <a:cs typeface="Arial" charset="0"/>
              </a:rPr>
              <a:t>time-sharing</a:t>
            </a:r>
            <a:r>
              <a:rPr lang="he-IL" smtClean="0">
                <a:cs typeface="Arial" charset="0"/>
              </a:rPr>
              <a:t> מבצעות מאות ואלפי החלפות</a:t>
            </a:r>
          </a:p>
          <a:p>
            <a:r>
              <a:rPr lang="he-IL" smtClean="0">
                <a:cs typeface="Arial" charset="0"/>
              </a:rPr>
              <a:t>כל-אחת לוקחת כ-5 מיקרו-שניות, במעבדים נוכחיים.</a:t>
            </a:r>
            <a:endParaRPr lang="en-GB" smtClean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727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695" y="9119474"/>
            <a:ext cx="3169920" cy="48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9" tIns="45720" rIns="91439" bIns="45720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804838" indent="-309553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238212" indent="-247642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733497" indent="-247642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228781" indent="-247642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724066" indent="-247642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3219351" indent="-247642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714636" indent="-247642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4209920" indent="-247642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/>
            <a:fld id="{A17B39D0-E658-4F37-B5B9-38ADE7DB297E}" type="slidenum">
              <a:rPr lang="he-IL"/>
              <a:pPr eaLnBrk="1" hangingPunct="1"/>
              <a:t>28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5713" y="719138"/>
            <a:ext cx="4803775" cy="360203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521" y="4560570"/>
            <a:ext cx="5852160" cy="432054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9" tIns="45720" rIns="91439" bIns="45720"/>
          <a:lstStyle/>
          <a:p>
            <a:endParaRPr lang="en-US" smtClean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285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Diagonal Corner Rectangle 7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/>
          <a:lstStyle>
            <a:lvl1pPr marL="0" algn="r">
              <a:defRPr sz="480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8750"/>
            <a:ext cx="3001963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6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9175" y="6508750"/>
            <a:ext cx="463550" cy="274638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AFCF3F6A-014D-40A0-BDEC-613A6433FC61}" type="slidenum">
              <a:rPr lang="he-IL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8750"/>
            <a:ext cx="3906838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268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/>
          <p:nvPr/>
        </p:nvSpPr>
        <p:spPr>
          <a:xfrm>
            <a:off x="588963" y="1423988"/>
            <a:ext cx="8001000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68B76A0-DD57-4893-8EB9-EABA858C5995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35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/>
          <p:nvPr/>
        </p:nvSpPr>
        <p:spPr>
          <a:xfrm>
            <a:off x="1000125" y="3267075"/>
            <a:ext cx="7407275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513"/>
            <a:ext cx="3001963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9175" y="6513513"/>
            <a:ext cx="463550" cy="274637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907AA339-AF38-457F-935E-8C9D38D1F88E}" type="slidenum">
              <a:rPr lang="he-IL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513"/>
            <a:ext cx="3906838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964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588963" y="1423988"/>
            <a:ext cx="8001000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0763" y="6515100"/>
            <a:ext cx="465137" cy="273050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1B45DC0-BE8F-4A60-BD30-30AFF4CD9552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129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/>
          <p:nvPr/>
        </p:nvSpPr>
        <p:spPr>
          <a:xfrm>
            <a:off x="617538" y="2165350"/>
            <a:ext cx="3748087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8"/>
          <p:cNvSpPr/>
          <p:nvPr/>
        </p:nvSpPr>
        <p:spPr>
          <a:xfrm>
            <a:off x="4800600" y="2165350"/>
            <a:ext cx="3749675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0763" y="6515100"/>
            <a:ext cx="465137" cy="273050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9664CAD-8FCA-44CD-AF23-5D1CD3FAF74C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06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/>
          <p:nvPr/>
        </p:nvSpPr>
        <p:spPr>
          <a:xfrm>
            <a:off x="588963" y="1423988"/>
            <a:ext cx="8001000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4262005-DCB5-4735-ABB6-7E59B9B1E1EB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407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14DB9C-235B-42DD-9AFA-4650A8148A1F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36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5057775" y="1057275"/>
            <a:ext cx="3748088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/>
          <a:lstStyle>
            <a:lvl1pPr marL="0" algn="r">
              <a:buNone/>
              <a:defRPr sz="2000" b="1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513"/>
            <a:ext cx="3001963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7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9175" y="6513513"/>
            <a:ext cx="463550" cy="274637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AA5F6272-B97A-4C50-A343-98A8C654D153}" type="slidenum">
              <a:rPr lang="he-IL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513"/>
            <a:ext cx="3906838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232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/>
          <a:lstStyle>
            <a:lvl1pPr marL="0" algn="r">
              <a:buNone/>
              <a:defRPr sz="2000" b="1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8750"/>
            <a:ext cx="3001963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9175" y="6508750"/>
            <a:ext cx="463550" cy="274638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8A659AAF-1662-445A-B575-431A15779FA4}" type="slidenum">
              <a:rPr lang="he-IL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8750"/>
            <a:ext cx="3906838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0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FBD27-77C9-4D2B-A68E-9C51F31A939A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05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37C6FF-D5D4-4E88-A90E-C522C52A0B0C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8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1638" cy="274638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  <a:cs typeface="Arial" pitchFamily="34" charset="0"/>
              </a:defRPr>
            </a:lvl1pPr>
            <a:extLst/>
          </a:lstStyle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1963" cy="274638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  <a:cs typeface="Arial" pitchFamily="34" charset="0"/>
              </a:defRPr>
            </a:lvl1pPr>
            <a:extLst/>
          </a:lstStyle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9175" y="6515100"/>
            <a:ext cx="463550" cy="27305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  <a:cs typeface="Arial" pitchFamily="34" charset="0"/>
              </a:defRPr>
            </a:lvl1pPr>
            <a:extLst/>
          </a:lstStyle>
          <a:p>
            <a:pPr>
              <a:defRPr/>
            </a:pPr>
            <a:fld id="{1295C563-0B44-4DFA-B5CE-5D0B8DAB5FEB}" type="slidenum">
              <a:rPr lang="he-IL"/>
              <a:pPr>
                <a:defRPr/>
              </a:pPr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4000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33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462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250" r:id="rId1"/>
    <p:sldLayoutId id="2147484251" r:id="rId2"/>
    <p:sldLayoutId id="2147484252" r:id="rId3"/>
    <p:sldLayoutId id="2147484253" r:id="rId4"/>
    <p:sldLayoutId id="2147484254" r:id="rId5"/>
    <p:sldLayoutId id="2147484255" r:id="rId6"/>
    <p:sldLayoutId id="2147484247" r:id="rId7"/>
    <p:sldLayoutId id="2147484256" r:id="rId8"/>
    <p:sldLayoutId id="2147484257" r:id="rId9"/>
    <p:sldLayoutId id="2147484248" r:id="rId10"/>
    <p:sldLayoutId id="2147484249" r:id="rId11"/>
  </p:sldLayoutIdLst>
  <p:hf sldNum="0" hdr="0"/>
  <p:txStyles>
    <p:titleStyle>
      <a:lvl1pPr marL="53975" indent="-53975" algn="r" rtl="1" eaLnBrk="0" fontAlgn="base" hangingPunct="0">
        <a:spcBef>
          <a:spcPct val="0"/>
        </a:spcBef>
        <a:spcAft>
          <a:spcPct val="0"/>
        </a:spcAft>
        <a:defRPr sz="4600" kern="1200">
          <a:solidFill>
            <a:srgbClr val="E7EACB"/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lvl2pPr marL="53975" indent="-53975" algn="r" rtl="1" eaLnBrk="0" fontAlgn="base" hangingPunct="0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2pPr>
      <a:lvl3pPr marL="53975" indent="-53975" algn="r" rtl="1" eaLnBrk="0" fontAlgn="base" hangingPunct="0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3pPr>
      <a:lvl4pPr marL="53975" indent="-53975" algn="r" rtl="1" eaLnBrk="0" fontAlgn="base" hangingPunct="0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4pPr>
      <a:lvl5pPr marL="53975" indent="-53975" algn="r" rtl="1" eaLnBrk="0" fontAlgn="base" hangingPunct="0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5pPr>
      <a:lvl6pPr marL="511175" indent="-53975" algn="r" rtl="1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6pPr>
      <a:lvl7pPr marL="968375" indent="-53975" algn="r" rtl="1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7pPr>
      <a:lvl8pPr marL="1425575" indent="-53975" algn="r" rtl="1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8pPr>
      <a:lvl9pPr marL="1882775" indent="-53975" algn="r" rtl="1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 pitchFamily="18" charset="0"/>
        </a:defRPr>
      </a:lvl9pPr>
      <a:extLst/>
    </p:titleStyle>
    <p:bodyStyle>
      <a:lvl1pPr marL="292100" indent="-292100" algn="r" rtl="1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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28600" algn="r" rtl="1" eaLnBrk="0" fontAlgn="base" hangingPunct="0">
        <a:spcBef>
          <a:spcPts val="400"/>
        </a:spcBef>
        <a:spcAft>
          <a:spcPct val="0"/>
        </a:spcAft>
        <a:buClr>
          <a:schemeClr val="accent2"/>
        </a:buClr>
        <a:buSzPct val="9000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190500" algn="r" rtl="1" eaLnBrk="0" fontAlgn="base" hangingPunct="0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itchFamily="18" charset="2"/>
        <a:buChar char="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182563" algn="r" rtl="1" eaLnBrk="0" fontAlgn="base" hangingPunct="0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7450" indent="-182563" algn="r" rtl="1" eaLnBrk="0" fontAlgn="base" hangingPunct="0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r" rtl="1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r" rtl="1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r" rtl="1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r" rtl="1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1535831"/>
          </a:xfrm>
        </p:spPr>
        <p:txBody>
          <a:bodyPr>
            <a:normAutofit/>
          </a:bodyPr>
          <a:lstStyle/>
          <a:p>
            <a:pPr algn="ctr"/>
            <a:r>
              <a:rPr lang="he-IL" sz="4400" b="1" dirty="0" smtClean="0">
                <a:solidFill>
                  <a:srgbClr val="FFFF00"/>
                </a:solidFill>
                <a:effectLst/>
              </a:rPr>
              <a:t>תהליכים</a:t>
            </a:r>
            <a:r>
              <a:rPr lang="he-IL" sz="4400" b="1" dirty="0">
                <a:solidFill>
                  <a:srgbClr val="FFFF00"/>
                </a:solidFill>
              </a:rPr>
              <a:t/>
            </a:r>
            <a:br>
              <a:rPr lang="he-IL" sz="4400" b="1" dirty="0">
                <a:solidFill>
                  <a:srgbClr val="FFFF00"/>
                </a:solidFill>
              </a:rPr>
            </a:br>
            <a:r>
              <a:rPr lang="en-US" sz="4400" b="1" dirty="0" smtClean="0">
                <a:solidFill>
                  <a:srgbClr val="FFFF00"/>
                </a:solidFill>
              </a:rPr>
              <a:t>Processes</a:t>
            </a:r>
            <a:endParaRPr lang="he-IL" sz="4400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971600" y="2780928"/>
            <a:ext cx="7996238" cy="390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246888" bIns="45720" numCol="1" anchor="t" anchorCtr="0" compatLnSpc="1">
            <a:prstTxWarp prst="textNoShape">
              <a:avLst/>
            </a:prstTxWarp>
          </a:bodyPr>
          <a:lstStyle>
            <a:lvl1pPr marL="0" indent="0" algn="r" rtl="1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None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rtl="1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9000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1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1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1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8CDD7"/>
              </a:buClr>
              <a:buSzPct val="100000"/>
              <a:buFont typeface="Wingdings 2" pitchFamily="18" charset="2"/>
              <a:buNone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1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None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1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1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1" eaLnBrk="1" latinLnBrk="0" hangingPunct="1">
              <a:spcBef>
                <a:spcPts val="400"/>
              </a:spcBef>
              <a:buClr>
                <a:schemeClr val="accent4"/>
              </a:buClr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 algn="just" eaLnBrk="1" hangingPunct="1">
              <a:buFont typeface="Arial" pitchFamily="34" charset="0"/>
              <a:buChar char="•"/>
            </a:pPr>
            <a:r>
              <a:rPr lang="he-IL" altLang="he-IL" b="1" dirty="0" smtClean="0"/>
              <a:t>מהו תהליך?</a:t>
            </a:r>
          </a:p>
          <a:p>
            <a:pPr marL="457200" indent="-457200" algn="just" eaLnBrk="1" hangingPunct="1">
              <a:buFont typeface="Arial" pitchFamily="34" charset="0"/>
              <a:buChar char="•"/>
            </a:pPr>
            <a:r>
              <a:rPr lang="he-IL" altLang="he-IL" b="1" dirty="0" smtClean="0"/>
              <a:t>ביצוע תהליכים באצווה ובבוזמניות</a:t>
            </a:r>
          </a:p>
          <a:p>
            <a:pPr marL="457200" indent="-457200" algn="just" eaLnBrk="1" hangingPunct="1">
              <a:buFont typeface="Arial" pitchFamily="34" charset="0"/>
              <a:buChar char="•"/>
            </a:pPr>
            <a:r>
              <a:rPr lang="he-IL" altLang="he-IL" b="1" dirty="0" smtClean="0"/>
              <a:t>טבלת ה- </a:t>
            </a:r>
            <a:r>
              <a:rPr lang="en-US" altLang="he-IL" b="1" dirty="0" smtClean="0"/>
              <a:t>PCB</a:t>
            </a:r>
            <a:endParaRPr lang="he-IL" altLang="he-IL" b="1" dirty="0" smtClean="0"/>
          </a:p>
          <a:p>
            <a:pPr marL="457200" indent="-457200" algn="just" eaLnBrk="1" hangingPunct="1">
              <a:buFont typeface="Arial" pitchFamily="34" charset="0"/>
              <a:buChar char="•"/>
            </a:pPr>
            <a:r>
              <a:rPr lang="he-IL" altLang="he-IL" b="1" dirty="0" smtClean="0"/>
              <a:t>מצבי תהליכים</a:t>
            </a:r>
          </a:p>
          <a:p>
            <a:pPr marL="457200" indent="-457200" algn="just" eaLnBrk="1" hangingPunct="1">
              <a:buFont typeface="Arial" pitchFamily="34" charset="0"/>
              <a:buChar char="•"/>
            </a:pPr>
            <a:r>
              <a:rPr lang="he-IL" altLang="he-IL" b="1" dirty="0" smtClean="0"/>
              <a:t>תורי תהליכים</a:t>
            </a:r>
          </a:p>
          <a:p>
            <a:pPr marL="457200" indent="-457200" algn="just" eaLnBrk="1" hangingPunct="1">
              <a:buFont typeface="Arial" pitchFamily="34" charset="0"/>
              <a:buChar char="•"/>
            </a:pPr>
            <a:r>
              <a:rPr lang="he-IL" altLang="he-IL" b="1" dirty="0" smtClean="0"/>
              <a:t>יצירת תהליכים</a:t>
            </a:r>
          </a:p>
          <a:p>
            <a:pPr marL="457200" indent="-457200" algn="just" eaLnBrk="1" hangingPunct="1">
              <a:buFont typeface="Arial" pitchFamily="34" charset="0"/>
              <a:buChar char="•"/>
            </a:pPr>
            <a:endParaRPr lang="he-IL" altLang="he-IL" b="1" dirty="0" smtClean="0"/>
          </a:p>
          <a:p>
            <a:pPr marL="457200" indent="-457200" algn="just" eaLnBrk="1" hangingPunct="1">
              <a:buFont typeface="Arial" pitchFamily="34" charset="0"/>
              <a:buChar char="•"/>
            </a:pPr>
            <a:endParaRPr lang="he-IL" altLang="he-IL" b="1" dirty="0" smtClean="0"/>
          </a:p>
          <a:p>
            <a:pPr marL="457200" indent="-457200" algn="just" eaLnBrk="1" hangingPunct="1">
              <a:buFont typeface="Arial" pitchFamily="34" charset="0"/>
              <a:buChar char="•"/>
            </a:pPr>
            <a:endParaRPr lang="en-US" altLang="he-IL" b="1" dirty="0" smtClean="0"/>
          </a:p>
          <a:p>
            <a:pPr marL="457200" indent="-457200" algn="just" eaLnBrk="1" hangingPunct="1">
              <a:buFont typeface="Arial" pitchFamily="34" charset="0"/>
              <a:buChar char="•"/>
            </a:pPr>
            <a:endParaRPr lang="en-US" altLang="en-AU" b="1" dirty="0" smtClean="0"/>
          </a:p>
        </p:txBody>
      </p:sp>
      <p:pic>
        <p:nvPicPr>
          <p:cNvPr id="1026" name="Picture 2" descr="תוצאת תמונה עבור ‪process‬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3912332"/>
            <a:ext cx="5424537" cy="2772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3230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57232"/>
            <a:ext cx="8229600" cy="539304"/>
          </a:xfrm>
        </p:spPr>
        <p:txBody>
          <a:bodyPr>
            <a:normAutofit fontScale="90000"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i="1" dirty="0" smtClean="0">
                <a:solidFill>
                  <a:srgbClr val="FFFF00"/>
                </a:solidFill>
              </a:rPr>
              <a:t>תהליכים</a:t>
            </a:r>
            <a:endParaRPr lang="en-US" altLang="en-AU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396536"/>
            <a:ext cx="8538294" cy="4840776"/>
          </a:xfrm>
        </p:spPr>
        <p:txBody>
          <a:bodyPr/>
          <a:lstStyle/>
          <a:p>
            <a:pPr algn="r"/>
            <a:r>
              <a:rPr lang="he-IL" b="1" u="sng" dirty="0"/>
              <a:t>תהליכים-</a:t>
            </a:r>
            <a:r>
              <a:rPr lang="en-US" b="1" u="sng" dirty="0"/>
              <a:t>process:</a:t>
            </a:r>
            <a:r>
              <a:rPr lang="en-US" dirty="0"/>
              <a:t/>
            </a:r>
            <a:br>
              <a:rPr lang="en-US" dirty="0"/>
            </a:br>
            <a:r>
              <a:rPr lang="he-IL" dirty="0"/>
              <a:t>ישנם 2 סוגי תהליכים:</a:t>
            </a:r>
          </a:p>
          <a:p>
            <a:pPr lvl="0" algn="r"/>
            <a:r>
              <a:rPr lang="en-US" b="1" dirty="0" smtClean="0"/>
              <a:t>-Job</a:t>
            </a:r>
            <a:r>
              <a:rPr lang="en-US" dirty="0" smtClean="0"/>
              <a:t> </a:t>
            </a:r>
            <a:r>
              <a:rPr lang="he-IL" dirty="0" smtClean="0"/>
              <a:t>תהליך </a:t>
            </a:r>
            <a:r>
              <a:rPr lang="he-IL" dirty="0"/>
              <a:t>שפועל ברקע (בערכת אצווה-</a:t>
            </a:r>
            <a:r>
              <a:rPr lang="en-US" dirty="0"/>
              <a:t>Batch).</a:t>
            </a:r>
          </a:p>
          <a:p>
            <a:pPr lvl="0"/>
            <a:r>
              <a:rPr lang="en-US" b="1" dirty="0" smtClean="0"/>
              <a:t> -Task </a:t>
            </a:r>
            <a:r>
              <a:rPr lang="en-US" b="1" dirty="0"/>
              <a:t>/ User </a:t>
            </a:r>
            <a:r>
              <a:rPr lang="en-US" b="1" dirty="0" smtClean="0"/>
              <a:t>Program</a:t>
            </a:r>
            <a:r>
              <a:rPr lang="en-US" dirty="0" smtClean="0"/>
              <a:t> </a:t>
            </a:r>
            <a:r>
              <a:rPr lang="he-IL" dirty="0" err="1" smtClean="0"/>
              <a:t>תוכניות</a:t>
            </a:r>
            <a:r>
              <a:rPr lang="he-IL" dirty="0" smtClean="0"/>
              <a:t> </a:t>
            </a:r>
            <a:r>
              <a:rPr lang="he-IL" dirty="0"/>
              <a:t>שיש להם קשר עם המשתמש (התהליך כולל תגובה של ה-</a:t>
            </a:r>
            <a:r>
              <a:rPr lang="en-US" dirty="0"/>
              <a:t>User).</a:t>
            </a:r>
          </a:p>
        </p:txBody>
      </p:sp>
      <p:sp>
        <p:nvSpPr>
          <p:cNvPr id="62469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57232"/>
            <a:ext cx="8229600" cy="539304"/>
          </a:xfrm>
        </p:spPr>
        <p:txBody>
          <a:bodyPr>
            <a:normAutofit fontScale="90000"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i="1" dirty="0" smtClean="0">
                <a:solidFill>
                  <a:srgbClr val="FFFF00"/>
                </a:solidFill>
              </a:rPr>
              <a:t>תהליכים</a:t>
            </a:r>
            <a:endParaRPr lang="en-US" altLang="en-AU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396536"/>
            <a:ext cx="8538294" cy="4840776"/>
          </a:xfrm>
        </p:spPr>
        <p:txBody>
          <a:bodyPr/>
          <a:lstStyle/>
          <a:p>
            <a:r>
              <a:rPr lang="he-IL" b="1" dirty="0" err="1"/>
              <a:t>תוכנית</a:t>
            </a:r>
            <a:r>
              <a:rPr lang="he-IL" b="1" dirty="0"/>
              <a:t> (</a:t>
            </a:r>
            <a:r>
              <a:rPr lang="en-US" b="1" dirty="0"/>
              <a:t> </a:t>
            </a:r>
            <a:r>
              <a:rPr lang="en-US" b="1" dirty="0" smtClean="0"/>
              <a:t>Program</a:t>
            </a:r>
            <a:r>
              <a:rPr lang="he-IL" dirty="0" smtClean="0"/>
              <a:t>קוד </a:t>
            </a:r>
            <a:r>
              <a:rPr lang="he-IL" dirty="0"/>
              <a:t>כתוב ששמורה בזיכרון המשני או בדיסק הקשיח</a:t>
            </a:r>
            <a:r>
              <a:rPr lang="he-IL" dirty="0" smtClean="0"/>
              <a:t>) </a:t>
            </a:r>
          </a:p>
          <a:p>
            <a:endParaRPr lang="he-IL" b="1" dirty="0"/>
          </a:p>
          <a:p>
            <a:r>
              <a:rPr lang="he-IL" b="1" dirty="0" smtClean="0"/>
              <a:t>תהליך </a:t>
            </a:r>
            <a:r>
              <a:rPr lang="he-IL" dirty="0"/>
              <a:t>(</a:t>
            </a:r>
            <a:r>
              <a:rPr lang="en-US" b="1" dirty="0"/>
              <a:t>Process</a:t>
            </a:r>
            <a:r>
              <a:rPr lang="he-IL" dirty="0"/>
              <a:t> התוכנית בזמן הרצה שמאוחסן בזיכרון הראשי אחרי קומפילציה והבאת הנתונים הנדרשים לתוכנית</a:t>
            </a:r>
            <a:endParaRPr lang="en-US" dirty="0"/>
          </a:p>
        </p:txBody>
      </p:sp>
      <p:sp>
        <p:nvSpPr>
          <p:cNvPr id="62469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3614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57232"/>
            <a:ext cx="8229600" cy="539304"/>
          </a:xfrm>
        </p:spPr>
        <p:txBody>
          <a:bodyPr>
            <a:normAutofit fontScale="90000"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i="1" dirty="0" smtClean="0">
                <a:solidFill>
                  <a:srgbClr val="FFFF00"/>
                </a:solidFill>
              </a:rPr>
              <a:t>מהו תהליך?</a:t>
            </a:r>
            <a:endParaRPr lang="en-US" altLang="en-AU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396536"/>
            <a:ext cx="8538294" cy="4840776"/>
          </a:xfrm>
        </p:spPr>
        <p:txBody>
          <a:bodyPr/>
          <a:lstStyle/>
          <a:p>
            <a:pPr algn="just" eaLnBrk="1" hangingPunct="1">
              <a:spcBef>
                <a:spcPts val="1200"/>
              </a:spcBef>
            </a:pPr>
            <a:r>
              <a:rPr lang="he-IL" altLang="he-IL" b="1" dirty="0" smtClean="0"/>
              <a:t> </a:t>
            </a:r>
            <a:r>
              <a:rPr lang="he-IL" altLang="en-US" b="1" dirty="0" smtClean="0"/>
              <a:t>תהליך (משימה, עבודה, מטלה) הוא תוצאת הפעילות של הרצת תוכנית, כולל המידע האצור בה, בעיבוד סדרתי.</a:t>
            </a:r>
            <a:endParaRPr lang="en-US" altLang="en-US" b="1" dirty="0" smtClean="0"/>
          </a:p>
          <a:p>
            <a:pPr algn="just" eaLnBrk="1" hangingPunct="1">
              <a:spcBef>
                <a:spcPts val="1200"/>
              </a:spcBef>
            </a:pPr>
            <a:r>
              <a:rPr lang="he-IL" altLang="en-US" b="1" dirty="0" smtClean="0"/>
              <a:t> תהליך הוא ביטוי מופשט של תבנית התוכנית.</a:t>
            </a:r>
            <a:endParaRPr lang="en-US" altLang="en-US" b="1" dirty="0" smtClean="0"/>
          </a:p>
          <a:p>
            <a:pPr algn="just" eaLnBrk="1" hangingPunct="1">
              <a:spcBef>
                <a:spcPts val="1200"/>
              </a:spcBef>
            </a:pPr>
            <a:r>
              <a:rPr lang="he-IL" altLang="en-US" b="1" dirty="0" smtClean="0"/>
              <a:t>תהליך הוא אוסף תת-פעילויות המהווים בסיומו תוצר הניתן לכימות, לבדיקה, לצפייה, לניתוח, לשימוש מתמשך בתוכניות אחרות.</a:t>
            </a:r>
            <a:endParaRPr lang="en-US" altLang="he-IL" b="1" dirty="0" smtClean="0"/>
          </a:p>
          <a:p>
            <a:pPr algn="just" eaLnBrk="1" hangingPunct="1">
              <a:spcBef>
                <a:spcPts val="1200"/>
              </a:spcBef>
            </a:pPr>
            <a:endParaRPr lang="en-US" altLang="en-AU" b="1" dirty="0" smtClean="0"/>
          </a:p>
        </p:txBody>
      </p:sp>
      <p:sp>
        <p:nvSpPr>
          <p:cNvPr id="62469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82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906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he-IL" b="1" dirty="0">
                <a:solidFill>
                  <a:srgbClr val="FFFF00"/>
                </a:solidFill>
              </a:rPr>
              <a:t>תהליך   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7062" y="1124744"/>
            <a:ext cx="8229600" cy="45259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he-IL" sz="4000" b="1" dirty="0" smtClean="0"/>
              <a:t>אבסטרקציה:</a:t>
            </a:r>
          </a:p>
          <a:p>
            <a:pPr lvl="1">
              <a:lnSpc>
                <a:spcPct val="150000"/>
              </a:lnSpc>
            </a:pPr>
            <a:r>
              <a:rPr lang="he-IL" sz="3200" b="1" dirty="0" smtClean="0"/>
              <a:t>יחידת הביצוע לארגון פעילות המחשב</a:t>
            </a:r>
          </a:p>
          <a:p>
            <a:pPr lvl="1">
              <a:lnSpc>
                <a:spcPct val="150000"/>
              </a:lnSpc>
            </a:pPr>
            <a:r>
              <a:rPr lang="he-IL" sz="3200" b="1" dirty="0" smtClean="0"/>
              <a:t>יחידת הזימון לביצוע במעבד ע"י מערכת ההפעלה</a:t>
            </a:r>
          </a:p>
          <a:p>
            <a:pPr lvl="1">
              <a:lnSpc>
                <a:spcPct val="150000"/>
              </a:lnSpc>
            </a:pPr>
            <a:r>
              <a:rPr lang="he-IL" sz="3200" b="1" dirty="0" smtClean="0"/>
              <a:t>תוכנית בביצוע (סדרתי = פקודה-אחת-אחר-השנייה)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he-IL" sz="4000" b="1" dirty="0" smtClean="0"/>
              <a:t>	נקרא גם </a:t>
            </a:r>
            <a:r>
              <a:rPr lang="en-US" b="1" dirty="0" smtClean="0"/>
              <a:t>job, task, sequential process</a:t>
            </a:r>
            <a:endParaRPr lang="he-IL" b="1" dirty="0" smtClean="0"/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endParaRPr lang="he-IL" b="1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55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90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he-IL" sz="4000" b="1" i="1" dirty="0">
                <a:solidFill>
                  <a:srgbClr val="FFFF00"/>
                </a:solidFill>
              </a:rPr>
              <a:t> מה מאפיין תהליך? </a:t>
            </a:r>
            <a:endParaRPr lang="en-GB" sz="4000" b="1" i="1" dirty="0">
              <a:solidFill>
                <a:srgbClr val="FFFF00"/>
              </a:solidFill>
            </a:endParaRPr>
          </a:p>
        </p:txBody>
      </p:sp>
      <p:sp>
        <p:nvSpPr>
          <p:cNvPr id="908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46238"/>
            <a:ext cx="4038600" cy="452596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he-IL" b="1" dirty="0" smtClean="0"/>
              <a:t>תהליך לעומת </a:t>
            </a:r>
            <a:r>
              <a:rPr lang="he-IL" b="1" dirty="0" err="1" smtClean="0"/>
              <a:t>תוכנית</a:t>
            </a:r>
            <a:r>
              <a:rPr lang="he-IL" b="1" dirty="0" smtClean="0"/>
              <a:t>:</a:t>
            </a:r>
          </a:p>
          <a:p>
            <a:pPr>
              <a:lnSpc>
                <a:spcPct val="150000"/>
              </a:lnSpc>
            </a:pPr>
            <a:r>
              <a:rPr lang="he-IL" b="1" dirty="0" err="1" smtClean="0"/>
              <a:t>תוכנית</a:t>
            </a:r>
            <a:r>
              <a:rPr lang="he-IL" b="1" dirty="0" smtClean="0"/>
              <a:t> היא חלק ממצב התהליך</a:t>
            </a:r>
          </a:p>
          <a:p>
            <a:pPr>
              <a:lnSpc>
                <a:spcPct val="150000"/>
              </a:lnSpc>
            </a:pPr>
            <a:r>
              <a:rPr lang="he-IL" b="1" dirty="0" err="1" smtClean="0"/>
              <a:t>תוכנית</a:t>
            </a:r>
            <a:r>
              <a:rPr lang="he-IL" b="1" dirty="0" smtClean="0"/>
              <a:t> יכולה לייצר כמה תהליכים</a:t>
            </a:r>
          </a:p>
        </p:txBody>
      </p:sp>
      <p:sp>
        <p:nvSpPr>
          <p:cNvPr id="1229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646238"/>
            <a:ext cx="4038600" cy="452596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he-IL" b="1" dirty="0" smtClean="0"/>
              <a:t>מרחב כתובות</a:t>
            </a:r>
            <a:endParaRPr lang="en-GB" b="1" dirty="0" smtClean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he-IL" b="1" dirty="0" smtClean="0"/>
              <a:t>נתונים</a:t>
            </a:r>
            <a:endParaRPr lang="en-GB" b="1" dirty="0" smtClean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he-IL" b="1" dirty="0" smtClean="0"/>
              <a:t>מחסנית זמן-ביצוע</a:t>
            </a:r>
            <a:endParaRPr lang="en-GB" b="1" dirty="0" smtClean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b="1" dirty="0" smtClean="0"/>
              <a:t>program counter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he-IL" b="1" dirty="0" smtClean="0"/>
              <a:t>רגיסטרים</a:t>
            </a:r>
            <a:endParaRPr lang="en-GB" b="1" dirty="0" smtClean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he-IL" b="1" dirty="0" smtClean="0"/>
              <a:t>מספר תהליך (</a:t>
            </a:r>
            <a:r>
              <a:rPr lang="en-US" b="1" dirty="0" smtClean="0"/>
              <a:t>process id</a:t>
            </a:r>
            <a:r>
              <a:rPr lang="he-IL" b="1" dirty="0" smtClean="0"/>
              <a:t>)</a:t>
            </a:r>
            <a:endParaRPr lang="en-GB" b="1" dirty="0" smtClean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None/>
            </a:pPr>
            <a:endParaRPr lang="en-GB" b="1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57232"/>
            <a:ext cx="8229600" cy="539304"/>
          </a:xfrm>
        </p:spPr>
        <p:txBody>
          <a:bodyPr>
            <a:normAutofit fontScale="90000"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endParaRPr lang="en-US" altLang="en-AU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396536"/>
            <a:ext cx="8538294" cy="4840776"/>
          </a:xfrm>
        </p:spPr>
        <p:txBody>
          <a:bodyPr/>
          <a:lstStyle/>
          <a:p>
            <a:r>
              <a:rPr lang="he-IL" dirty="0"/>
              <a:t>מהי </a:t>
            </a:r>
            <a:r>
              <a:rPr lang="he-IL" dirty="0" err="1"/>
              <a:t>תוכנית</a:t>
            </a:r>
            <a:r>
              <a:rPr lang="he-IL" dirty="0"/>
              <a:t> (</a:t>
            </a:r>
            <a:r>
              <a:rPr lang="en-US" dirty="0"/>
              <a:t>Program</a:t>
            </a:r>
            <a:r>
              <a:rPr lang="he-IL" dirty="0"/>
              <a:t>)?</a:t>
            </a:r>
            <a:br>
              <a:rPr lang="he-IL" dirty="0"/>
            </a:br>
            <a:r>
              <a:rPr lang="he-IL" dirty="0"/>
              <a:t>התוכנית היא קובץ הרצה המכיל את אוסף </a:t>
            </a:r>
            <a:r>
              <a:rPr lang="he-IL" dirty="0" smtClean="0"/>
              <a:t>ההוראות.</a:t>
            </a:r>
            <a:r>
              <a:rPr lang="he-IL" dirty="0"/>
              <a:t/>
            </a:r>
            <a:br>
              <a:rPr lang="he-IL" dirty="0"/>
            </a:br>
            <a:r>
              <a:rPr lang="he-IL" dirty="0"/>
              <a:t>לדוגמה, </a:t>
            </a:r>
            <a:r>
              <a:rPr lang="en-US" dirty="0" smtClean="0"/>
              <a:t>powerpoint.exe</a:t>
            </a:r>
            <a:r>
              <a:rPr lang="he-IL" dirty="0" smtClean="0"/>
              <a:t> </a:t>
            </a:r>
            <a:r>
              <a:rPr lang="he-IL" dirty="0"/>
              <a:t>הוא קובץ הפעלה המכיל את סדרת </a:t>
            </a:r>
            <a:r>
              <a:rPr lang="he-IL" b="1" dirty="0"/>
              <a:t>ההוראות</a:t>
            </a:r>
            <a:r>
              <a:rPr lang="he-IL" dirty="0"/>
              <a:t> (קוד בשפה עילית או </a:t>
            </a:r>
            <a:r>
              <a:rPr lang="he-IL" dirty="0" err="1"/>
              <a:t>אסמבלי</a:t>
            </a:r>
            <a:r>
              <a:rPr lang="he-IL" dirty="0"/>
              <a:t>) אשר מסייעות לנו לערוך </a:t>
            </a:r>
            <a:r>
              <a:rPr lang="he-IL" dirty="0" smtClean="0"/>
              <a:t>מצגות.</a:t>
            </a:r>
            <a:r>
              <a:rPr lang="he-IL" dirty="0"/>
              <a:t/>
            </a:r>
            <a:br>
              <a:rPr lang="he-IL" dirty="0"/>
            </a:br>
            <a:r>
              <a:rPr lang="he-IL" dirty="0"/>
              <a:t>התוכניות אינן מאוחסנות בזיכרון הראשי במחשב אלא  מאוחסנות בדיסק קשיח או בזיכרון המשני .</a:t>
            </a:r>
            <a:br>
              <a:rPr lang="he-IL" dirty="0"/>
            </a:br>
            <a:r>
              <a:rPr lang="he-IL" dirty="0"/>
              <a:t>לאחר שלב של קומפילציה  התוכנית נקראת  לזיכרון הראשי (</a:t>
            </a:r>
            <a:r>
              <a:rPr lang="en-US" dirty="0"/>
              <a:t>caching</a:t>
            </a:r>
            <a:r>
              <a:rPr lang="he-IL" dirty="0"/>
              <a:t>) ומבוצעת על ידי מערכת ההפעלה (בשלב הזה זה כבר תהליך).</a:t>
            </a:r>
            <a:br>
              <a:rPr lang="he-IL" dirty="0"/>
            </a:br>
            <a:r>
              <a:rPr lang="he-IL" dirty="0" err="1"/>
              <a:t>תוכנית</a:t>
            </a:r>
            <a:r>
              <a:rPr lang="he-IL" dirty="0"/>
              <a:t> מכונה ישות פאסיבית בגלל שהיא מתגוררת </a:t>
            </a:r>
            <a:r>
              <a:rPr lang="he-IL" dirty="0" smtClean="0"/>
              <a:t>בזיכרון</a:t>
            </a:r>
            <a:endParaRPr lang="en-US" dirty="0"/>
          </a:p>
        </p:txBody>
      </p:sp>
      <p:sp>
        <p:nvSpPr>
          <p:cNvPr id="62469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812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57232"/>
            <a:ext cx="8229600" cy="539304"/>
          </a:xfrm>
        </p:spPr>
        <p:txBody>
          <a:bodyPr>
            <a:normAutofit fontScale="90000"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sz="3600" dirty="0"/>
              <a:t>מהו </a:t>
            </a:r>
            <a:r>
              <a:rPr lang="he-IL" sz="3600" dirty="0" err="1"/>
              <a:t>תהליכון</a:t>
            </a:r>
            <a:r>
              <a:rPr lang="he-IL" sz="3600" dirty="0"/>
              <a:t> (</a:t>
            </a:r>
            <a:r>
              <a:rPr lang="en-US" sz="3600" dirty="0"/>
              <a:t>Thread</a:t>
            </a:r>
            <a:r>
              <a:rPr lang="he-IL" sz="3600" dirty="0"/>
              <a:t>)?</a:t>
            </a:r>
            <a:endParaRPr lang="en-US" altLang="en-AU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396536"/>
            <a:ext cx="8538294" cy="4840776"/>
          </a:xfrm>
        </p:spPr>
        <p:txBody>
          <a:bodyPr/>
          <a:lstStyle/>
          <a:p>
            <a:r>
              <a:rPr lang="he-IL" dirty="0" err="1" smtClean="0"/>
              <a:t>תהליכון</a:t>
            </a:r>
            <a:r>
              <a:rPr lang="he-IL" dirty="0" smtClean="0"/>
              <a:t> </a:t>
            </a:r>
            <a:r>
              <a:rPr lang="he-IL" dirty="0"/>
              <a:t>הוא יחידת ההפעלה הקטנה ביותר של תהליך. לדוגמה, כאשר אתה מפעיל </a:t>
            </a:r>
            <a:r>
              <a:rPr lang="he-IL" dirty="0" err="1"/>
              <a:t>תוכנית</a:t>
            </a:r>
            <a:r>
              <a:rPr lang="he-IL" dirty="0"/>
              <a:t> פנקס רשימות, מערכת ההפעלה יוצרת תהליך  ומתחיל את ביצוע </a:t>
            </a:r>
            <a:r>
              <a:rPr lang="he-IL" dirty="0" err="1"/>
              <a:t>התהליכון</a:t>
            </a:r>
            <a:r>
              <a:rPr lang="he-IL" dirty="0"/>
              <a:t> הראשי של תהליך זה.</a:t>
            </a:r>
            <a:br>
              <a:rPr lang="he-IL" dirty="0"/>
            </a:br>
            <a:r>
              <a:rPr lang="he-IL" dirty="0"/>
              <a:t>תהליך יכול להכיל מספר </a:t>
            </a:r>
            <a:r>
              <a:rPr lang="he-IL" dirty="0" err="1"/>
              <a:t>תהליכונים</a:t>
            </a:r>
            <a:r>
              <a:rPr lang="he-IL" dirty="0"/>
              <a:t> , כל </a:t>
            </a:r>
            <a:r>
              <a:rPr lang="he-IL" dirty="0" err="1"/>
              <a:t>תהליכון</a:t>
            </a:r>
            <a:r>
              <a:rPr lang="he-IL" dirty="0"/>
              <a:t> יהיה בעל משימה משלו ,לדוגמא, בתוכנית פנקס, </a:t>
            </a:r>
            <a:r>
              <a:rPr lang="he-IL" dirty="0" err="1"/>
              <a:t>תהליכון</a:t>
            </a:r>
            <a:r>
              <a:rPr lang="he-IL" dirty="0"/>
              <a:t> אחד יהיה אחראי על הקשר עם המשתמש </a:t>
            </a:r>
            <a:r>
              <a:rPr lang="he-IL" dirty="0" err="1"/>
              <a:t>ותהליכון</a:t>
            </a:r>
            <a:r>
              <a:rPr lang="he-IL" dirty="0"/>
              <a:t>  נוסף יהיה אחראי על הדפסת המסמך.</a:t>
            </a:r>
            <a:br>
              <a:rPr lang="he-IL" dirty="0"/>
            </a:br>
            <a:r>
              <a:rPr lang="he-IL" dirty="0"/>
              <a:t>כל </a:t>
            </a:r>
            <a:r>
              <a:rPr lang="he-IL" dirty="0" err="1"/>
              <a:t>התהליכונים</a:t>
            </a:r>
            <a:r>
              <a:rPr lang="he-IL" dirty="0"/>
              <a:t>  של אותו תהליך חולקים את הזיכרון של התהליך אליו הם שייכים ולכן התקשורת בין </a:t>
            </a:r>
            <a:r>
              <a:rPr lang="he-IL" dirty="0" err="1"/>
              <a:t>תהליכונים</a:t>
            </a:r>
            <a:r>
              <a:rPr lang="he-IL" dirty="0"/>
              <a:t> מהירה מאוד.</a:t>
            </a:r>
            <a:endParaRPr lang="en-US" dirty="0"/>
          </a:p>
        </p:txBody>
      </p:sp>
      <p:sp>
        <p:nvSpPr>
          <p:cNvPr id="62469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320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57232"/>
            <a:ext cx="8229600" cy="539304"/>
          </a:xfrm>
        </p:spPr>
        <p:txBody>
          <a:bodyPr>
            <a:normAutofit fontScale="90000"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endParaRPr lang="en-US" altLang="en-AU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396536"/>
            <a:ext cx="8538294" cy="4840776"/>
          </a:xfrm>
        </p:spPr>
        <p:txBody>
          <a:bodyPr/>
          <a:lstStyle/>
          <a:p>
            <a:r>
              <a:rPr lang="he-IL" sz="2400" b="1" u="sng" dirty="0"/>
              <a:t>מבנה התהליך- </a:t>
            </a:r>
            <a:r>
              <a:rPr lang="en-US" sz="2400" b="1" u="sng" dirty="0"/>
              <a:t>Process Concept:</a:t>
            </a:r>
            <a:br>
              <a:rPr lang="en-US" sz="2400" b="1" u="sng" dirty="0"/>
            </a:br>
            <a:r>
              <a:rPr lang="he-IL" sz="2400" dirty="0"/>
              <a:t>מערכת ההפעלה מקצה לכל תהליך זיכרון משלו שמחולק ל-4 חלקים:</a:t>
            </a:r>
          </a:p>
          <a:p>
            <a:pPr lvl="0"/>
            <a:r>
              <a:rPr lang="en-US" sz="2400" b="1" dirty="0" smtClean="0"/>
              <a:t>Heap </a:t>
            </a:r>
            <a:r>
              <a:rPr lang="he-IL" sz="2400" b="1" dirty="0" smtClean="0"/>
              <a:t>(ערימה</a:t>
            </a:r>
            <a:r>
              <a:rPr lang="he-IL" sz="2400" b="1" dirty="0"/>
              <a:t>)- </a:t>
            </a:r>
            <a:r>
              <a:rPr lang="he-IL" sz="2400" dirty="0"/>
              <a:t>זיכרון דינאמי מוקצה בזמן ריצה-משתנים דינמיים של התהליך (כמו מופע של מחלקה).</a:t>
            </a:r>
          </a:p>
          <a:p>
            <a:pPr lvl="0"/>
            <a:r>
              <a:rPr lang="en-US" sz="2400" b="1" dirty="0"/>
              <a:t>Stack </a:t>
            </a:r>
            <a:r>
              <a:rPr lang="he-IL" sz="2400" b="1" dirty="0" smtClean="0"/>
              <a:t> (מחסנית</a:t>
            </a:r>
            <a:r>
              <a:rPr lang="he-IL" sz="2400" b="1" dirty="0"/>
              <a:t>)-</a:t>
            </a:r>
            <a:r>
              <a:rPr lang="he-IL" sz="2400" dirty="0"/>
              <a:t> בו נשמרים כתובות חזרה לפונקציה/ פרמטרים של פונקציה / משתנים מקומיים.</a:t>
            </a:r>
          </a:p>
          <a:p>
            <a:pPr lvl="0"/>
            <a:r>
              <a:rPr lang="en-US" sz="2400" b="1" dirty="0" smtClean="0"/>
              <a:t>Data</a:t>
            </a:r>
            <a:r>
              <a:rPr lang="he-IL" sz="2400" b="1" dirty="0" smtClean="0"/>
              <a:t> (נתונים</a:t>
            </a:r>
            <a:r>
              <a:rPr lang="he-IL" sz="2400" b="1" dirty="0"/>
              <a:t>)-</a:t>
            </a:r>
            <a:r>
              <a:rPr lang="he-IL" sz="2400" dirty="0"/>
              <a:t> עבור נתונים ומשתנים גלובליים.</a:t>
            </a:r>
          </a:p>
          <a:p>
            <a:r>
              <a:rPr lang="en-US" sz="2400" b="1" dirty="0" smtClean="0"/>
              <a:t>Text</a:t>
            </a:r>
            <a:r>
              <a:rPr lang="he-IL" sz="2400" b="1" dirty="0" smtClean="0"/>
              <a:t> (התוכנית</a:t>
            </a:r>
            <a:r>
              <a:rPr lang="he-IL" sz="2400" b="1" dirty="0"/>
              <a:t>)-</a:t>
            </a:r>
            <a:r>
              <a:rPr lang="he-IL" sz="2400" dirty="0"/>
              <a:t> שם שמור הקוד הכתוב של התוכנית.</a:t>
            </a:r>
            <a:endParaRPr lang="en-US" sz="2400" dirty="0"/>
          </a:p>
        </p:txBody>
      </p:sp>
      <p:sp>
        <p:nvSpPr>
          <p:cNvPr id="62469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  <p:pic>
        <p:nvPicPr>
          <p:cNvPr id="6" name="תמונה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414044"/>
            <a:ext cx="2286000" cy="2124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07712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142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4000"/>
            <a:ext cx="8435280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he-IL" sz="4400" b="1" dirty="0">
                <a:solidFill>
                  <a:srgbClr val="FFFF00"/>
                </a:solidFill>
              </a:rPr>
              <a:t>מרחב הכתובות של </a:t>
            </a:r>
            <a:r>
              <a:rPr lang="he-IL" sz="4400" b="1" dirty="0" smtClean="0">
                <a:solidFill>
                  <a:srgbClr val="FFFF00"/>
                </a:solidFill>
              </a:rPr>
              <a:t>התהליך</a:t>
            </a:r>
            <a:endParaRPr lang="en-GB" sz="4400" b="1" dirty="0">
              <a:solidFill>
                <a:srgbClr val="FFFF00"/>
              </a:solidFill>
            </a:endParaRP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he-IL" smtClean="0"/>
              <a:t> </a:t>
            </a:r>
            <a:endParaRPr lang="en-GB" smtClean="0"/>
          </a:p>
        </p:txBody>
      </p:sp>
      <p:sp>
        <p:nvSpPr>
          <p:cNvPr id="31751" name="Rectangle 4"/>
          <p:cNvSpPr>
            <a:spLocks noChangeArrowheads="1"/>
          </p:cNvSpPr>
          <p:nvPr/>
        </p:nvSpPr>
        <p:spPr bwMode="auto">
          <a:xfrm>
            <a:off x="1198345" y="5697538"/>
            <a:ext cx="146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>
                <a:solidFill>
                  <a:srgbClr val="FFFF00"/>
                </a:solidFill>
                <a:latin typeface="Arial" pitchFamily="34" charset="0"/>
              </a:rPr>
              <a:t>0x00000000</a:t>
            </a:r>
          </a:p>
        </p:txBody>
      </p:sp>
      <p:sp>
        <p:nvSpPr>
          <p:cNvPr id="31752" name="Rectangle 5"/>
          <p:cNvSpPr>
            <a:spLocks noChangeArrowheads="1"/>
          </p:cNvSpPr>
          <p:nvPr/>
        </p:nvSpPr>
        <p:spPr bwMode="auto">
          <a:xfrm>
            <a:off x="1141790" y="1600200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 dirty="0">
                <a:solidFill>
                  <a:srgbClr val="FFFF00"/>
                </a:solidFill>
                <a:latin typeface="Arial" pitchFamily="34" charset="0"/>
              </a:rPr>
              <a:t>0xFFFFFFFF</a:t>
            </a:r>
          </a:p>
        </p:txBody>
      </p:sp>
      <p:sp>
        <p:nvSpPr>
          <p:cNvPr id="31753" name="Rectangle 6"/>
          <p:cNvSpPr>
            <a:spLocks noChangeArrowheads="1"/>
          </p:cNvSpPr>
          <p:nvPr/>
        </p:nvSpPr>
        <p:spPr bwMode="auto">
          <a:xfrm>
            <a:off x="987281" y="3276600"/>
            <a:ext cx="17876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>
                <a:solidFill>
                  <a:srgbClr val="FFFF00"/>
                </a:solidFill>
                <a:latin typeface="Arial" pitchFamily="34" charset="0"/>
              </a:rPr>
              <a:t>address space</a:t>
            </a:r>
          </a:p>
        </p:txBody>
      </p:sp>
      <p:sp>
        <p:nvSpPr>
          <p:cNvPr id="31754" name="Line 7"/>
          <p:cNvSpPr>
            <a:spLocks noChangeShapeType="1"/>
          </p:cNvSpPr>
          <p:nvPr/>
        </p:nvSpPr>
        <p:spPr bwMode="auto">
          <a:xfrm flipV="1">
            <a:off x="1905000" y="2057400"/>
            <a:ext cx="0" cy="1219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he-IL" b="1">
              <a:solidFill>
                <a:srgbClr val="FFFF00"/>
              </a:solidFill>
            </a:endParaRPr>
          </a:p>
        </p:txBody>
      </p:sp>
      <p:sp>
        <p:nvSpPr>
          <p:cNvPr id="31755" name="Line 8"/>
          <p:cNvSpPr>
            <a:spLocks noChangeShapeType="1"/>
          </p:cNvSpPr>
          <p:nvPr/>
        </p:nvSpPr>
        <p:spPr bwMode="auto">
          <a:xfrm flipH="1" flipV="1">
            <a:off x="1905000" y="3810000"/>
            <a:ext cx="3175" cy="1779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he-IL" b="1">
              <a:solidFill>
                <a:srgbClr val="FFFF00"/>
              </a:solidFill>
            </a:endParaRPr>
          </a:p>
        </p:txBody>
      </p:sp>
      <p:sp>
        <p:nvSpPr>
          <p:cNvPr id="31756" name="Rectangle 9"/>
          <p:cNvSpPr>
            <a:spLocks noChangeArrowheads="1"/>
          </p:cNvSpPr>
          <p:nvPr/>
        </p:nvSpPr>
        <p:spPr bwMode="auto">
          <a:xfrm>
            <a:off x="3816350" y="5307013"/>
            <a:ext cx="2743200" cy="762000"/>
          </a:xfrm>
          <a:prstGeom prst="rect">
            <a:avLst/>
          </a:prstGeom>
          <a:solidFill>
            <a:srgbClr val="EBEB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10000"/>
              </a:spcBef>
            </a:pPr>
            <a:r>
              <a:rPr lang="en-US">
                <a:solidFill>
                  <a:schemeClr val="bg1"/>
                </a:solidFill>
                <a:latin typeface="Arial" pitchFamily="34" charset="0"/>
              </a:rPr>
              <a:t>code</a:t>
            </a:r>
          </a:p>
          <a:p>
            <a:pPr algn="ctr" eaLnBrk="0" hangingPunct="0">
              <a:spcBef>
                <a:spcPct val="10000"/>
              </a:spcBef>
            </a:pPr>
            <a:r>
              <a:rPr lang="en-US">
                <a:solidFill>
                  <a:schemeClr val="bg1"/>
                </a:solidFill>
                <a:latin typeface="Arial" pitchFamily="34" charset="0"/>
              </a:rPr>
              <a:t>(text segment)</a:t>
            </a:r>
          </a:p>
        </p:txBody>
      </p:sp>
      <p:sp>
        <p:nvSpPr>
          <p:cNvPr id="31757" name="Rectangle 10"/>
          <p:cNvSpPr>
            <a:spLocks noChangeArrowheads="1"/>
          </p:cNvSpPr>
          <p:nvPr/>
        </p:nvSpPr>
        <p:spPr bwMode="auto">
          <a:xfrm>
            <a:off x="3816350" y="4545013"/>
            <a:ext cx="2743200" cy="762000"/>
          </a:xfrm>
          <a:prstGeom prst="rect">
            <a:avLst/>
          </a:prstGeom>
          <a:solidFill>
            <a:srgbClr val="FFE0D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10000"/>
              </a:spcBef>
            </a:pPr>
            <a:r>
              <a:rPr lang="en-US">
                <a:solidFill>
                  <a:schemeClr val="bg1"/>
                </a:solidFill>
                <a:latin typeface="Arial" pitchFamily="34" charset="0"/>
              </a:rPr>
              <a:t>static data</a:t>
            </a:r>
          </a:p>
          <a:p>
            <a:pPr algn="ctr" eaLnBrk="0" hangingPunct="0">
              <a:spcBef>
                <a:spcPct val="10000"/>
              </a:spcBef>
            </a:pPr>
            <a:r>
              <a:rPr lang="en-US">
                <a:solidFill>
                  <a:schemeClr val="bg1"/>
                </a:solidFill>
                <a:latin typeface="Arial" pitchFamily="34" charset="0"/>
              </a:rPr>
              <a:t>(data segment)</a:t>
            </a:r>
          </a:p>
        </p:txBody>
      </p:sp>
      <p:sp>
        <p:nvSpPr>
          <p:cNvPr id="31758" name="Rectangle 11"/>
          <p:cNvSpPr>
            <a:spLocks noChangeArrowheads="1"/>
          </p:cNvSpPr>
          <p:nvPr/>
        </p:nvSpPr>
        <p:spPr bwMode="auto">
          <a:xfrm>
            <a:off x="3816350" y="3783013"/>
            <a:ext cx="2743200" cy="7620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10000"/>
              </a:spcBef>
            </a:pPr>
            <a:r>
              <a:rPr lang="en-US">
                <a:solidFill>
                  <a:schemeClr val="bg1"/>
                </a:solidFill>
                <a:latin typeface="Arial" pitchFamily="34" charset="0"/>
              </a:rPr>
              <a:t>heap</a:t>
            </a:r>
          </a:p>
          <a:p>
            <a:pPr algn="ctr" eaLnBrk="0" hangingPunct="0">
              <a:spcBef>
                <a:spcPct val="10000"/>
              </a:spcBef>
            </a:pPr>
            <a:r>
              <a:rPr lang="en-US">
                <a:solidFill>
                  <a:schemeClr val="bg1"/>
                </a:solidFill>
                <a:latin typeface="Arial" pitchFamily="34" charset="0"/>
              </a:rPr>
              <a:t>(dynamic allocated mem)</a:t>
            </a:r>
          </a:p>
        </p:txBody>
      </p:sp>
      <p:sp>
        <p:nvSpPr>
          <p:cNvPr id="31759" name="Rectangle 12"/>
          <p:cNvSpPr>
            <a:spLocks noChangeArrowheads="1"/>
          </p:cNvSpPr>
          <p:nvPr/>
        </p:nvSpPr>
        <p:spPr bwMode="auto">
          <a:xfrm>
            <a:off x="3810000" y="2438400"/>
            <a:ext cx="2743200" cy="13509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10000"/>
              </a:spcBef>
            </a:pPr>
            <a:endParaRPr lang="he-IL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31760" name="Rectangle 13"/>
          <p:cNvSpPr>
            <a:spLocks noChangeArrowheads="1"/>
          </p:cNvSpPr>
          <p:nvPr/>
        </p:nvSpPr>
        <p:spPr bwMode="auto">
          <a:xfrm>
            <a:off x="3810000" y="1676400"/>
            <a:ext cx="2743200" cy="7620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10000"/>
              </a:spcBef>
            </a:pPr>
            <a:r>
              <a:rPr lang="en-US" dirty="0">
                <a:solidFill>
                  <a:schemeClr val="bg1"/>
                </a:solidFill>
                <a:latin typeface="Arial" pitchFamily="34" charset="0"/>
              </a:rPr>
              <a:t>stack</a:t>
            </a:r>
          </a:p>
          <a:p>
            <a:pPr algn="ctr" eaLnBrk="0" hangingPunct="0">
              <a:spcBef>
                <a:spcPct val="10000"/>
              </a:spcBef>
            </a:pPr>
            <a:r>
              <a:rPr lang="en-US" dirty="0">
                <a:solidFill>
                  <a:schemeClr val="bg1"/>
                </a:solidFill>
                <a:latin typeface="Arial" pitchFamily="34" charset="0"/>
              </a:rPr>
              <a:t>(dynamic allocated </a:t>
            </a:r>
            <a:r>
              <a:rPr lang="en-US" dirty="0" err="1">
                <a:solidFill>
                  <a:schemeClr val="bg1"/>
                </a:solidFill>
                <a:latin typeface="Arial" pitchFamily="34" charset="0"/>
              </a:rPr>
              <a:t>mem</a:t>
            </a:r>
            <a:r>
              <a:rPr lang="en-US" dirty="0">
                <a:solidFill>
                  <a:schemeClr val="bg1"/>
                </a:solidFill>
                <a:latin typeface="Arial" pitchFamily="34" charset="0"/>
              </a:rPr>
              <a:t>)</a:t>
            </a:r>
          </a:p>
        </p:txBody>
      </p:sp>
      <p:sp>
        <p:nvSpPr>
          <p:cNvPr id="31761" name="Line 14"/>
          <p:cNvSpPr>
            <a:spLocks noChangeShapeType="1"/>
          </p:cNvSpPr>
          <p:nvPr/>
        </p:nvSpPr>
        <p:spPr bwMode="auto">
          <a:xfrm>
            <a:off x="5181600" y="24384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1762" name="Line 15"/>
          <p:cNvSpPr>
            <a:spLocks noChangeShapeType="1"/>
          </p:cNvSpPr>
          <p:nvPr/>
        </p:nvSpPr>
        <p:spPr bwMode="auto">
          <a:xfrm>
            <a:off x="5187950" y="3554413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1763" name="Line 16"/>
          <p:cNvSpPr>
            <a:spLocks noChangeShapeType="1"/>
          </p:cNvSpPr>
          <p:nvPr/>
        </p:nvSpPr>
        <p:spPr bwMode="auto">
          <a:xfrm flipH="1">
            <a:off x="6705600" y="24384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1764" name="Line 17"/>
          <p:cNvSpPr>
            <a:spLocks noChangeShapeType="1"/>
          </p:cNvSpPr>
          <p:nvPr/>
        </p:nvSpPr>
        <p:spPr bwMode="auto">
          <a:xfrm flipH="1">
            <a:off x="6705600" y="5495925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1765" name="Rectangle 18"/>
          <p:cNvSpPr>
            <a:spLocks noChangeArrowheads="1"/>
          </p:cNvSpPr>
          <p:nvPr/>
        </p:nvSpPr>
        <p:spPr bwMode="auto">
          <a:xfrm>
            <a:off x="7092950" y="5300663"/>
            <a:ext cx="1060450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10000"/>
              </a:spcBef>
            </a:pPr>
            <a:r>
              <a:rPr lang="en-US">
                <a:latin typeface="Arial" pitchFamily="34" charset="0"/>
              </a:rPr>
              <a:t>Program</a:t>
            </a:r>
          </a:p>
          <a:p>
            <a:pPr eaLnBrk="0" hangingPunct="0">
              <a:spcBef>
                <a:spcPct val="10000"/>
              </a:spcBef>
            </a:pPr>
            <a:r>
              <a:rPr lang="en-US">
                <a:latin typeface="Arial" pitchFamily="34" charset="0"/>
              </a:rPr>
              <a:t>Counter</a:t>
            </a:r>
          </a:p>
        </p:txBody>
      </p:sp>
      <p:sp>
        <p:nvSpPr>
          <p:cNvPr id="31766" name="Rectangle 19"/>
          <p:cNvSpPr>
            <a:spLocks noChangeArrowheads="1"/>
          </p:cNvSpPr>
          <p:nvPr/>
        </p:nvSpPr>
        <p:spPr bwMode="auto">
          <a:xfrm>
            <a:off x="6985000" y="2241550"/>
            <a:ext cx="90805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10000"/>
              </a:spcBef>
            </a:pPr>
            <a:r>
              <a:rPr lang="en-US">
                <a:latin typeface="Arial" pitchFamily="34" charset="0"/>
              </a:rPr>
              <a:t>Stack</a:t>
            </a:r>
          </a:p>
          <a:p>
            <a:pPr eaLnBrk="0" hangingPunct="0">
              <a:spcBef>
                <a:spcPct val="10000"/>
              </a:spcBef>
            </a:pPr>
            <a:r>
              <a:rPr lang="en-US">
                <a:latin typeface="Arial" pitchFamily="34" charset="0"/>
              </a:rPr>
              <a:t>Pointer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80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85794"/>
            <a:ext cx="8229600" cy="610742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i="1" dirty="0" smtClean="0">
                <a:solidFill>
                  <a:srgbClr val="FFFF00"/>
                </a:solidFill>
              </a:rPr>
              <a:t>טיפול וביצוע סדרת של תוכניות במעבד </a:t>
            </a:r>
            <a:endParaRPr lang="en-US" altLang="he-IL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5214938"/>
            <a:ext cx="8294688" cy="1143000"/>
          </a:xfrm>
        </p:spPr>
        <p:txBody>
          <a:bodyPr/>
          <a:lstStyle/>
          <a:p>
            <a:pPr algn="just" eaLnBrk="1" hangingPunct="1"/>
            <a:r>
              <a:rPr lang="he-IL" altLang="he-IL" sz="2800" b="1" smtClean="0">
                <a:solidFill>
                  <a:srgbClr val="FFFF00"/>
                </a:solidFill>
              </a:rPr>
              <a:t> </a:t>
            </a:r>
            <a:r>
              <a:rPr lang="he-IL" altLang="en-AU" sz="2800" b="1" smtClean="0">
                <a:solidFill>
                  <a:srgbClr val="FFFF00"/>
                </a:solidFill>
              </a:rPr>
              <a:t>תוכניות רצות במעבד אחת אחרי האחרת עד לסיומן והשלמת המטלות שלהן הוגדרו - שלב הפלט</a:t>
            </a:r>
            <a:endParaRPr lang="en-US" altLang="he-IL" sz="2800" b="1" smtClean="0">
              <a:solidFill>
                <a:srgbClr val="FFFF00"/>
              </a:solidFill>
            </a:endParaRPr>
          </a:p>
        </p:txBody>
      </p:sp>
      <p:sp>
        <p:nvSpPr>
          <p:cNvPr id="63494" name="Footer Placeholder 2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grpSp>
        <p:nvGrpSpPr>
          <p:cNvPr id="14343" name="Group 4"/>
          <p:cNvGrpSpPr>
            <a:grpSpLocks/>
          </p:cNvGrpSpPr>
          <p:nvPr/>
        </p:nvGrpSpPr>
        <p:grpSpPr bwMode="auto">
          <a:xfrm>
            <a:off x="428625" y="1500188"/>
            <a:ext cx="8215313" cy="3517900"/>
            <a:chOff x="576" y="767"/>
            <a:chExt cx="4464" cy="2381"/>
          </a:xfrm>
        </p:grpSpPr>
        <p:sp>
          <p:nvSpPr>
            <p:cNvPr id="14344" name="Rectangle 5"/>
            <p:cNvSpPr>
              <a:spLocks noChangeArrowheads="1"/>
            </p:cNvSpPr>
            <p:nvPr/>
          </p:nvSpPr>
          <p:spPr bwMode="auto">
            <a:xfrm>
              <a:off x="2256" y="1440"/>
              <a:ext cx="1056" cy="912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38100">
              <a:solidFill>
                <a:srgbClr val="FFC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rtl="0" eaLnBrk="0" hangingPunct="0"/>
              <a:r>
                <a:rPr lang="en-AU" altLang="he-IL" sz="3200" b="1">
                  <a:solidFill>
                    <a:srgbClr val="C00000"/>
                  </a:solidFill>
                  <a:latin typeface="Times New Roman" pitchFamily="18" charset="0"/>
                </a:rPr>
                <a:t>Program 2</a:t>
              </a:r>
            </a:p>
          </p:txBody>
        </p:sp>
        <p:sp>
          <p:nvSpPr>
            <p:cNvPr id="14345" name="Rectangle 6"/>
            <p:cNvSpPr>
              <a:spLocks noChangeArrowheads="1"/>
            </p:cNvSpPr>
            <p:nvPr/>
          </p:nvSpPr>
          <p:spPr bwMode="auto">
            <a:xfrm>
              <a:off x="576" y="1440"/>
              <a:ext cx="1056" cy="912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38100">
              <a:solidFill>
                <a:srgbClr val="FFC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rtl="0" eaLnBrk="0" hangingPunct="0"/>
              <a:r>
                <a:rPr lang="en-AU" altLang="he-IL" sz="3200" b="1">
                  <a:solidFill>
                    <a:srgbClr val="000099"/>
                  </a:solidFill>
                  <a:latin typeface="Times New Roman" pitchFamily="18" charset="0"/>
                </a:rPr>
                <a:t>Program 1</a:t>
              </a:r>
            </a:p>
          </p:txBody>
        </p:sp>
        <p:sp>
          <p:nvSpPr>
            <p:cNvPr id="60426" name="Rectangle 7"/>
            <p:cNvSpPr>
              <a:spLocks noChangeArrowheads="1"/>
            </p:cNvSpPr>
            <p:nvPr/>
          </p:nvSpPr>
          <p:spPr bwMode="auto">
            <a:xfrm>
              <a:off x="3984" y="1440"/>
              <a:ext cx="1056" cy="910"/>
            </a:xfrm>
            <a:prstGeom prst="rect">
              <a:avLst/>
            </a:prstGeom>
            <a:blipFill dpi="0" rotWithShape="1">
              <a:blip r:embed="rId2" cstate="print"/>
              <a:srcRect/>
              <a:tile tx="0" ty="0" sx="100000" sy="100000" flip="none" algn="tl"/>
            </a:blipFill>
            <a:ln w="38100">
              <a:solidFill>
                <a:srgbClr val="FFC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rtl="0" eaLnBrk="0" hangingPunct="0">
                <a:defRPr/>
              </a:pPr>
              <a:r>
                <a:rPr lang="en-AU" altLang="he-IL" sz="3200" b="1" dirty="0">
                  <a:solidFill>
                    <a:schemeClr val="accent6">
                      <a:lumMod val="10000"/>
                    </a:schemeClr>
                  </a:solidFill>
                  <a:latin typeface="Times New Roman" pitchFamily="18" charset="0"/>
                  <a:cs typeface="Arial" pitchFamily="34" charset="0"/>
                </a:rPr>
                <a:t>Program 3</a:t>
              </a:r>
            </a:p>
          </p:txBody>
        </p:sp>
        <p:sp>
          <p:nvSpPr>
            <p:cNvPr id="14347" name="Text Box 8"/>
            <p:cNvSpPr txBox="1">
              <a:spLocks noChangeArrowheads="1"/>
            </p:cNvSpPr>
            <p:nvPr/>
          </p:nvSpPr>
          <p:spPr bwMode="auto">
            <a:xfrm>
              <a:off x="642" y="767"/>
              <a:ext cx="816" cy="354"/>
            </a:xfrm>
            <a:prstGeom prst="rect">
              <a:avLst/>
            </a:prstGeom>
            <a:noFill/>
            <a:ln w="38100">
              <a:solidFill>
                <a:srgbClr val="FFC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algn="ctr" rtl="0">
                <a:spcBef>
                  <a:spcPct val="50000"/>
                </a:spcBef>
              </a:pPr>
              <a:r>
                <a:rPr lang="en-AU" altLang="he-IL" sz="2800" b="1">
                  <a:latin typeface="Times New Roman" pitchFamily="18" charset="0"/>
                </a:rPr>
                <a:t>Start</a:t>
              </a:r>
            </a:p>
          </p:txBody>
        </p:sp>
        <p:sp>
          <p:nvSpPr>
            <p:cNvPr id="14348" name="Line 9"/>
            <p:cNvSpPr>
              <a:spLocks noChangeShapeType="1"/>
            </p:cNvSpPr>
            <p:nvPr/>
          </p:nvSpPr>
          <p:spPr bwMode="auto">
            <a:xfrm>
              <a:off x="1056" y="1152"/>
              <a:ext cx="0" cy="288"/>
            </a:xfrm>
            <a:prstGeom prst="line">
              <a:avLst/>
            </a:prstGeom>
            <a:noFill/>
            <a:ln w="38100">
              <a:solidFill>
                <a:srgbClr val="FFC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4349" name="Group 10"/>
            <p:cNvGrpSpPr>
              <a:grpSpLocks/>
            </p:cNvGrpSpPr>
            <p:nvPr/>
          </p:nvGrpSpPr>
          <p:grpSpPr bwMode="auto">
            <a:xfrm>
              <a:off x="1056" y="1008"/>
              <a:ext cx="1728" cy="1872"/>
              <a:chOff x="1056" y="1008"/>
              <a:chExt cx="1728" cy="1872"/>
            </a:xfrm>
          </p:grpSpPr>
          <p:sp>
            <p:nvSpPr>
              <p:cNvPr id="14358" name="Line 11"/>
              <p:cNvSpPr>
                <a:spLocks noChangeShapeType="1"/>
              </p:cNvSpPr>
              <p:nvPr/>
            </p:nvSpPr>
            <p:spPr bwMode="auto">
              <a:xfrm>
                <a:off x="1056" y="2352"/>
                <a:ext cx="0" cy="528"/>
              </a:xfrm>
              <a:prstGeom prst="line">
                <a:avLst/>
              </a:prstGeom>
              <a:noFill/>
              <a:ln w="38100">
                <a:solidFill>
                  <a:srgbClr val="FFC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59" name="Line 12"/>
              <p:cNvSpPr>
                <a:spLocks noChangeShapeType="1"/>
              </p:cNvSpPr>
              <p:nvPr/>
            </p:nvSpPr>
            <p:spPr bwMode="auto">
              <a:xfrm>
                <a:off x="1056" y="2880"/>
                <a:ext cx="960" cy="0"/>
              </a:xfrm>
              <a:prstGeom prst="line">
                <a:avLst/>
              </a:prstGeom>
              <a:noFill/>
              <a:ln w="38100">
                <a:solidFill>
                  <a:srgbClr val="FFC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60" name="Line 13"/>
              <p:cNvSpPr>
                <a:spLocks noChangeShapeType="1"/>
              </p:cNvSpPr>
              <p:nvPr/>
            </p:nvSpPr>
            <p:spPr bwMode="auto">
              <a:xfrm>
                <a:off x="2016" y="1008"/>
                <a:ext cx="0" cy="1872"/>
              </a:xfrm>
              <a:prstGeom prst="line">
                <a:avLst/>
              </a:prstGeom>
              <a:noFill/>
              <a:ln w="38100">
                <a:solidFill>
                  <a:srgbClr val="FFC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61" name="Line 14"/>
              <p:cNvSpPr>
                <a:spLocks noChangeShapeType="1"/>
              </p:cNvSpPr>
              <p:nvPr/>
            </p:nvSpPr>
            <p:spPr bwMode="auto">
              <a:xfrm>
                <a:off x="2016" y="1008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FFC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62" name="Line 15"/>
              <p:cNvSpPr>
                <a:spLocks noChangeShapeType="1"/>
              </p:cNvSpPr>
              <p:nvPr/>
            </p:nvSpPr>
            <p:spPr bwMode="auto">
              <a:xfrm flipH="1">
                <a:off x="2784" y="1008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FFC000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4350" name="Group 16"/>
            <p:cNvGrpSpPr>
              <a:grpSpLocks/>
            </p:cNvGrpSpPr>
            <p:nvPr/>
          </p:nvGrpSpPr>
          <p:grpSpPr bwMode="auto">
            <a:xfrm>
              <a:off x="2784" y="1008"/>
              <a:ext cx="1728" cy="1872"/>
              <a:chOff x="1056" y="1008"/>
              <a:chExt cx="1728" cy="1872"/>
            </a:xfrm>
          </p:grpSpPr>
          <p:sp>
            <p:nvSpPr>
              <p:cNvPr id="14353" name="Line 17"/>
              <p:cNvSpPr>
                <a:spLocks noChangeShapeType="1"/>
              </p:cNvSpPr>
              <p:nvPr/>
            </p:nvSpPr>
            <p:spPr bwMode="auto">
              <a:xfrm>
                <a:off x="1056" y="2352"/>
                <a:ext cx="0" cy="528"/>
              </a:xfrm>
              <a:prstGeom prst="line">
                <a:avLst/>
              </a:prstGeom>
              <a:noFill/>
              <a:ln w="38100">
                <a:solidFill>
                  <a:srgbClr val="FFC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54" name="Line 18"/>
              <p:cNvSpPr>
                <a:spLocks noChangeShapeType="1"/>
              </p:cNvSpPr>
              <p:nvPr/>
            </p:nvSpPr>
            <p:spPr bwMode="auto">
              <a:xfrm>
                <a:off x="1056" y="2880"/>
                <a:ext cx="960" cy="0"/>
              </a:xfrm>
              <a:prstGeom prst="line">
                <a:avLst/>
              </a:prstGeom>
              <a:noFill/>
              <a:ln w="38100">
                <a:solidFill>
                  <a:srgbClr val="FFC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55" name="Line 19"/>
              <p:cNvSpPr>
                <a:spLocks noChangeShapeType="1"/>
              </p:cNvSpPr>
              <p:nvPr/>
            </p:nvSpPr>
            <p:spPr bwMode="auto">
              <a:xfrm>
                <a:off x="2016" y="1008"/>
                <a:ext cx="0" cy="1872"/>
              </a:xfrm>
              <a:prstGeom prst="line">
                <a:avLst/>
              </a:prstGeom>
              <a:noFill/>
              <a:ln w="38100">
                <a:solidFill>
                  <a:srgbClr val="FFC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56" name="Line 20"/>
              <p:cNvSpPr>
                <a:spLocks noChangeShapeType="1"/>
              </p:cNvSpPr>
              <p:nvPr/>
            </p:nvSpPr>
            <p:spPr bwMode="auto">
              <a:xfrm>
                <a:off x="2016" y="1008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FFC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57" name="Line 21"/>
              <p:cNvSpPr>
                <a:spLocks noChangeShapeType="1"/>
              </p:cNvSpPr>
              <p:nvPr/>
            </p:nvSpPr>
            <p:spPr bwMode="auto">
              <a:xfrm flipH="1">
                <a:off x="2784" y="1008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FFC000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4351" name="Text Box 22"/>
            <p:cNvSpPr txBox="1">
              <a:spLocks noChangeArrowheads="1"/>
            </p:cNvSpPr>
            <p:nvPr/>
          </p:nvSpPr>
          <p:spPr bwMode="auto">
            <a:xfrm>
              <a:off x="4036" y="2794"/>
              <a:ext cx="960" cy="354"/>
            </a:xfrm>
            <a:prstGeom prst="rect">
              <a:avLst/>
            </a:prstGeom>
            <a:noFill/>
            <a:ln w="38100">
              <a:solidFill>
                <a:srgbClr val="FFC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algn="ctr" rtl="0"/>
              <a:r>
                <a:rPr lang="en-AU" altLang="he-IL" sz="2800" b="1">
                  <a:latin typeface="Times New Roman" pitchFamily="18" charset="0"/>
                </a:rPr>
                <a:t>Terminate</a:t>
              </a:r>
              <a:endParaRPr lang="en-AU" altLang="he-IL" sz="2800" b="1" i="1">
                <a:latin typeface="Times New Roman" pitchFamily="18" charset="0"/>
              </a:endParaRPr>
            </a:p>
          </p:txBody>
        </p:sp>
        <p:sp>
          <p:nvSpPr>
            <p:cNvPr id="14352" name="Line 23"/>
            <p:cNvSpPr>
              <a:spLocks noChangeShapeType="1"/>
            </p:cNvSpPr>
            <p:nvPr/>
          </p:nvSpPr>
          <p:spPr bwMode="auto">
            <a:xfrm>
              <a:off x="4512" y="2352"/>
              <a:ext cx="0" cy="432"/>
            </a:xfrm>
            <a:prstGeom prst="line">
              <a:avLst/>
            </a:prstGeom>
            <a:noFill/>
            <a:ln w="38100">
              <a:solidFill>
                <a:srgbClr val="FFC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85794"/>
            <a:ext cx="8229600" cy="610742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i="1" dirty="0" smtClean="0">
                <a:solidFill>
                  <a:srgbClr val="FFFF00"/>
                </a:solidFill>
              </a:rPr>
              <a:t>ביצוע בו זמני </a:t>
            </a:r>
            <a:endParaRPr lang="en-US" altLang="he-IL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357188" y="4714875"/>
            <a:ext cx="8496300" cy="1785938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he-IL" altLang="he-IL" b="1" smtClean="0"/>
              <a:t> ה</a:t>
            </a:r>
            <a:r>
              <a:rPr lang="he-IL" altLang="en-US" b="1" smtClean="0"/>
              <a:t>תוכניות מבוצעות בו זמנית (הן שותפות בזמן העיבוד של יחידת העיבוד המרכזית)</a:t>
            </a:r>
            <a:endParaRPr lang="en-US" altLang="en-US" b="1" smtClean="0"/>
          </a:p>
          <a:p>
            <a:pPr algn="just" eaLnBrk="1" hangingPunct="1">
              <a:lnSpc>
                <a:spcPct val="90000"/>
              </a:lnSpc>
            </a:pPr>
            <a:r>
              <a:rPr lang="he-IL" altLang="en-US" b="1" smtClean="0"/>
              <a:t>זמן העיבוד מתחלק בין מספר תוכניות שרצות בו זמנית.</a:t>
            </a:r>
            <a:endParaRPr lang="en-US" altLang="en-AU" b="1" smtClean="0"/>
          </a:p>
        </p:txBody>
      </p:sp>
      <p:sp>
        <p:nvSpPr>
          <p:cNvPr id="64518" name="Footer Placeholder 27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grpSp>
        <p:nvGrpSpPr>
          <p:cNvPr id="15367" name="Group 4"/>
          <p:cNvGrpSpPr>
            <a:grpSpLocks/>
          </p:cNvGrpSpPr>
          <p:nvPr/>
        </p:nvGrpSpPr>
        <p:grpSpPr bwMode="auto">
          <a:xfrm>
            <a:off x="428625" y="1571625"/>
            <a:ext cx="8175625" cy="3000375"/>
            <a:chOff x="593" y="810"/>
            <a:chExt cx="4404" cy="2039"/>
          </a:xfrm>
        </p:grpSpPr>
        <p:sp>
          <p:nvSpPr>
            <p:cNvPr id="15368" name="Rectangle 5"/>
            <p:cNvSpPr>
              <a:spLocks noChangeArrowheads="1"/>
            </p:cNvSpPr>
            <p:nvPr/>
          </p:nvSpPr>
          <p:spPr bwMode="auto">
            <a:xfrm>
              <a:off x="2324" y="1383"/>
              <a:ext cx="1056" cy="769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rtl="0" eaLnBrk="0" hangingPunct="0"/>
              <a:r>
                <a:rPr lang="en-AU" altLang="he-IL" sz="2400" b="1">
                  <a:solidFill>
                    <a:srgbClr val="000099"/>
                  </a:solidFill>
                  <a:latin typeface="Times New Roman" pitchFamily="18" charset="0"/>
                </a:rPr>
                <a:t>Program 2</a:t>
              </a:r>
            </a:p>
          </p:txBody>
        </p:sp>
        <p:sp>
          <p:nvSpPr>
            <p:cNvPr id="15369" name="Rectangle 6"/>
            <p:cNvSpPr>
              <a:spLocks noChangeArrowheads="1"/>
            </p:cNvSpPr>
            <p:nvPr/>
          </p:nvSpPr>
          <p:spPr bwMode="auto">
            <a:xfrm>
              <a:off x="593" y="1383"/>
              <a:ext cx="1056" cy="769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rtl="0" eaLnBrk="0" hangingPunct="0"/>
              <a:r>
                <a:rPr lang="en-AU" altLang="he-IL" sz="2400" b="1">
                  <a:solidFill>
                    <a:srgbClr val="000099"/>
                  </a:solidFill>
                  <a:latin typeface="Times New Roman" pitchFamily="18" charset="0"/>
                </a:rPr>
                <a:t>Program 1</a:t>
              </a:r>
            </a:p>
          </p:txBody>
        </p:sp>
        <p:sp>
          <p:nvSpPr>
            <p:cNvPr id="15370" name="Rectangle 7"/>
            <p:cNvSpPr>
              <a:spLocks noChangeArrowheads="1"/>
            </p:cNvSpPr>
            <p:nvPr/>
          </p:nvSpPr>
          <p:spPr bwMode="auto">
            <a:xfrm>
              <a:off x="3941" y="1383"/>
              <a:ext cx="1056" cy="769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rtl="0" eaLnBrk="0" hangingPunct="0"/>
              <a:r>
                <a:rPr lang="en-AU" altLang="he-IL" sz="2400" b="1">
                  <a:solidFill>
                    <a:srgbClr val="000099"/>
                  </a:solidFill>
                  <a:latin typeface="Times New Roman" pitchFamily="18" charset="0"/>
                </a:rPr>
                <a:t>Program 3</a:t>
              </a:r>
            </a:p>
          </p:txBody>
        </p:sp>
        <p:grpSp>
          <p:nvGrpSpPr>
            <p:cNvPr id="15371" name="Group 8"/>
            <p:cNvGrpSpPr>
              <a:grpSpLocks/>
            </p:cNvGrpSpPr>
            <p:nvPr/>
          </p:nvGrpSpPr>
          <p:grpSpPr bwMode="auto">
            <a:xfrm>
              <a:off x="2460" y="810"/>
              <a:ext cx="816" cy="573"/>
              <a:chOff x="636" y="864"/>
              <a:chExt cx="816" cy="573"/>
            </a:xfrm>
          </p:grpSpPr>
          <p:sp>
            <p:nvSpPr>
              <p:cNvPr id="15387" name="Text Box 9"/>
              <p:cNvSpPr txBox="1">
                <a:spLocks noChangeArrowheads="1"/>
              </p:cNvSpPr>
              <p:nvPr/>
            </p:nvSpPr>
            <p:spPr bwMode="auto">
              <a:xfrm>
                <a:off x="636" y="864"/>
                <a:ext cx="816" cy="285"/>
              </a:xfrm>
              <a:prstGeom prst="rect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 w="38100">
                <a:solidFill>
                  <a:srgbClr val="CCFFFF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algn="ctr" rtl="0">
                  <a:spcBef>
                    <a:spcPct val="50000"/>
                  </a:spcBef>
                </a:pPr>
                <a:r>
                  <a:rPr lang="en-AU" altLang="he-IL" sz="2400" b="1">
                    <a:solidFill>
                      <a:srgbClr val="FF0000"/>
                    </a:solidFill>
                    <a:latin typeface="Times New Roman" pitchFamily="18" charset="0"/>
                  </a:rPr>
                  <a:t>Start</a:t>
                </a:r>
              </a:p>
            </p:txBody>
          </p:sp>
          <p:sp>
            <p:nvSpPr>
              <p:cNvPr id="15388" name="Line 10"/>
              <p:cNvSpPr>
                <a:spLocks noChangeShapeType="1"/>
              </p:cNvSpPr>
              <p:nvPr/>
            </p:nvSpPr>
            <p:spPr bwMode="auto">
              <a:xfrm>
                <a:off x="1056" y="1194"/>
                <a:ext cx="0" cy="24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5372" name="Group 11"/>
            <p:cNvGrpSpPr>
              <a:grpSpLocks/>
            </p:cNvGrpSpPr>
            <p:nvPr/>
          </p:nvGrpSpPr>
          <p:grpSpPr bwMode="auto">
            <a:xfrm>
              <a:off x="3941" y="2173"/>
              <a:ext cx="1001" cy="673"/>
              <a:chOff x="3941" y="2173"/>
              <a:chExt cx="1001" cy="673"/>
            </a:xfrm>
          </p:grpSpPr>
          <p:sp>
            <p:nvSpPr>
              <p:cNvPr id="15385" name="Text Box 12"/>
              <p:cNvSpPr txBox="1">
                <a:spLocks noChangeArrowheads="1"/>
              </p:cNvSpPr>
              <p:nvPr/>
            </p:nvSpPr>
            <p:spPr bwMode="auto">
              <a:xfrm>
                <a:off x="3941" y="2561"/>
                <a:ext cx="1001" cy="285"/>
              </a:xfrm>
              <a:prstGeom prst="rect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 w="38100">
                <a:solidFill>
                  <a:srgbClr val="CCFFFF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algn="ctr" rtl="0"/>
                <a:r>
                  <a:rPr lang="en-AU" altLang="he-IL" sz="2400" b="1">
                    <a:solidFill>
                      <a:srgbClr val="FF0000"/>
                    </a:solidFill>
                    <a:latin typeface="Times New Roman" pitchFamily="18" charset="0"/>
                  </a:rPr>
                  <a:t>Terminate</a:t>
                </a:r>
                <a:endParaRPr lang="en-AU" altLang="he-IL" sz="4000" b="1" i="1">
                  <a:solidFill>
                    <a:srgbClr val="FF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5386" name="Line 13"/>
              <p:cNvSpPr>
                <a:spLocks noChangeShapeType="1"/>
              </p:cNvSpPr>
              <p:nvPr/>
            </p:nvSpPr>
            <p:spPr bwMode="auto">
              <a:xfrm>
                <a:off x="4441" y="2173"/>
                <a:ext cx="0" cy="36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5373" name="Group 14"/>
            <p:cNvGrpSpPr>
              <a:grpSpLocks/>
            </p:cNvGrpSpPr>
            <p:nvPr/>
          </p:nvGrpSpPr>
          <p:grpSpPr bwMode="auto">
            <a:xfrm>
              <a:off x="732" y="810"/>
              <a:ext cx="816" cy="573"/>
              <a:chOff x="636" y="864"/>
              <a:chExt cx="816" cy="573"/>
            </a:xfrm>
          </p:grpSpPr>
          <p:sp>
            <p:nvSpPr>
              <p:cNvPr id="15383" name="Text Box 15"/>
              <p:cNvSpPr txBox="1">
                <a:spLocks noChangeArrowheads="1"/>
              </p:cNvSpPr>
              <p:nvPr/>
            </p:nvSpPr>
            <p:spPr bwMode="auto">
              <a:xfrm>
                <a:off x="636" y="864"/>
                <a:ext cx="816" cy="285"/>
              </a:xfrm>
              <a:prstGeom prst="rect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 w="38100">
                <a:solidFill>
                  <a:srgbClr val="CCFFFF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algn="ctr" rtl="0">
                  <a:spcBef>
                    <a:spcPct val="50000"/>
                  </a:spcBef>
                </a:pPr>
                <a:r>
                  <a:rPr lang="en-AU" altLang="he-IL" sz="2400" b="1">
                    <a:solidFill>
                      <a:srgbClr val="FF0000"/>
                    </a:solidFill>
                    <a:latin typeface="Times New Roman" pitchFamily="18" charset="0"/>
                  </a:rPr>
                  <a:t>Start</a:t>
                </a:r>
              </a:p>
            </p:txBody>
          </p:sp>
          <p:sp>
            <p:nvSpPr>
              <p:cNvPr id="15384" name="Line 16"/>
              <p:cNvSpPr>
                <a:spLocks noChangeShapeType="1"/>
              </p:cNvSpPr>
              <p:nvPr/>
            </p:nvSpPr>
            <p:spPr bwMode="auto">
              <a:xfrm>
                <a:off x="1056" y="1194"/>
                <a:ext cx="0" cy="24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5374" name="Group 17"/>
            <p:cNvGrpSpPr>
              <a:grpSpLocks/>
            </p:cNvGrpSpPr>
            <p:nvPr/>
          </p:nvGrpSpPr>
          <p:grpSpPr bwMode="auto">
            <a:xfrm>
              <a:off x="4044" y="810"/>
              <a:ext cx="815" cy="573"/>
              <a:chOff x="636" y="864"/>
              <a:chExt cx="815" cy="573"/>
            </a:xfrm>
          </p:grpSpPr>
          <p:sp>
            <p:nvSpPr>
              <p:cNvPr id="15381" name="Text Box 18"/>
              <p:cNvSpPr txBox="1">
                <a:spLocks noChangeArrowheads="1"/>
              </p:cNvSpPr>
              <p:nvPr/>
            </p:nvSpPr>
            <p:spPr bwMode="auto">
              <a:xfrm>
                <a:off x="636" y="864"/>
                <a:ext cx="815" cy="285"/>
              </a:xfrm>
              <a:prstGeom prst="rect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 w="38100">
                <a:solidFill>
                  <a:srgbClr val="CCFFFF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algn="ctr" rtl="0">
                  <a:spcBef>
                    <a:spcPct val="50000"/>
                  </a:spcBef>
                </a:pPr>
                <a:r>
                  <a:rPr lang="en-AU" altLang="he-IL" sz="2400" b="1">
                    <a:solidFill>
                      <a:srgbClr val="FF0000"/>
                    </a:solidFill>
                    <a:latin typeface="Times New Roman" pitchFamily="18" charset="0"/>
                  </a:rPr>
                  <a:t>Start</a:t>
                </a:r>
              </a:p>
            </p:txBody>
          </p:sp>
          <p:sp>
            <p:nvSpPr>
              <p:cNvPr id="15382" name="Line 19"/>
              <p:cNvSpPr>
                <a:spLocks noChangeShapeType="1"/>
              </p:cNvSpPr>
              <p:nvPr/>
            </p:nvSpPr>
            <p:spPr bwMode="auto">
              <a:xfrm>
                <a:off x="1056" y="1194"/>
                <a:ext cx="0" cy="24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5375" name="Group 20"/>
            <p:cNvGrpSpPr>
              <a:grpSpLocks/>
            </p:cNvGrpSpPr>
            <p:nvPr/>
          </p:nvGrpSpPr>
          <p:grpSpPr bwMode="auto">
            <a:xfrm>
              <a:off x="2373" y="2160"/>
              <a:ext cx="1001" cy="689"/>
              <a:chOff x="4005" y="2119"/>
              <a:chExt cx="1001" cy="689"/>
            </a:xfrm>
          </p:grpSpPr>
          <p:sp>
            <p:nvSpPr>
              <p:cNvPr id="15379" name="Text Box 21"/>
              <p:cNvSpPr txBox="1">
                <a:spLocks noChangeArrowheads="1"/>
              </p:cNvSpPr>
              <p:nvPr/>
            </p:nvSpPr>
            <p:spPr bwMode="auto">
              <a:xfrm>
                <a:off x="4005" y="2523"/>
                <a:ext cx="1001" cy="285"/>
              </a:xfrm>
              <a:prstGeom prst="rect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 w="38100">
                <a:solidFill>
                  <a:srgbClr val="CCFFFF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algn="ctr" rtl="0"/>
                <a:r>
                  <a:rPr lang="en-AU" altLang="he-IL" sz="2400" b="1">
                    <a:solidFill>
                      <a:srgbClr val="FF0000"/>
                    </a:solidFill>
                    <a:latin typeface="Times New Roman" pitchFamily="18" charset="0"/>
                  </a:rPr>
                  <a:t>Terminate</a:t>
                </a:r>
                <a:endParaRPr lang="en-AU" altLang="he-IL" sz="4000" b="1" i="1">
                  <a:solidFill>
                    <a:srgbClr val="FF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5380" name="Line 22"/>
              <p:cNvSpPr>
                <a:spLocks noChangeShapeType="1"/>
              </p:cNvSpPr>
              <p:nvPr/>
            </p:nvSpPr>
            <p:spPr bwMode="auto">
              <a:xfrm>
                <a:off x="4512" y="2119"/>
                <a:ext cx="0" cy="36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5376" name="Group 23"/>
            <p:cNvGrpSpPr>
              <a:grpSpLocks/>
            </p:cNvGrpSpPr>
            <p:nvPr/>
          </p:nvGrpSpPr>
          <p:grpSpPr bwMode="auto">
            <a:xfrm>
              <a:off x="597" y="2176"/>
              <a:ext cx="1001" cy="673"/>
              <a:chOff x="4005" y="2135"/>
              <a:chExt cx="1001" cy="673"/>
            </a:xfrm>
          </p:grpSpPr>
          <p:sp>
            <p:nvSpPr>
              <p:cNvPr id="15377" name="Text Box 24"/>
              <p:cNvSpPr txBox="1">
                <a:spLocks noChangeArrowheads="1"/>
              </p:cNvSpPr>
              <p:nvPr/>
            </p:nvSpPr>
            <p:spPr bwMode="auto">
              <a:xfrm>
                <a:off x="4005" y="2523"/>
                <a:ext cx="1001" cy="285"/>
              </a:xfrm>
              <a:prstGeom prst="rect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 w="38100">
                <a:solidFill>
                  <a:srgbClr val="CCFFFF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algn="ctr" rtl="0"/>
                <a:r>
                  <a:rPr lang="en-AU" altLang="he-IL" sz="2400" b="1">
                    <a:solidFill>
                      <a:srgbClr val="FF0000"/>
                    </a:solidFill>
                    <a:latin typeface="Times New Roman" pitchFamily="18" charset="0"/>
                  </a:rPr>
                  <a:t>Terminate</a:t>
                </a:r>
                <a:endParaRPr lang="en-AU" altLang="he-IL" sz="4000" b="1" i="1">
                  <a:solidFill>
                    <a:srgbClr val="FF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5378" name="Line 25"/>
              <p:cNvSpPr>
                <a:spLocks noChangeShapeType="1"/>
              </p:cNvSpPr>
              <p:nvPr/>
            </p:nvSpPr>
            <p:spPr bwMode="auto">
              <a:xfrm>
                <a:off x="4512" y="2135"/>
                <a:ext cx="0" cy="36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85794"/>
            <a:ext cx="8229600" cy="610742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i="1" dirty="0" smtClean="0">
                <a:solidFill>
                  <a:srgbClr val="FFFF00"/>
                </a:solidFill>
              </a:rPr>
              <a:t>הערות</a:t>
            </a:r>
            <a:endParaRPr lang="en-US" altLang="he-IL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700808"/>
            <a:ext cx="8496300" cy="1785938"/>
          </a:xfrm>
        </p:spPr>
        <p:txBody>
          <a:bodyPr/>
          <a:lstStyle/>
          <a:p>
            <a:r>
              <a:rPr lang="he-IL" dirty="0"/>
              <a:t>לכל </a:t>
            </a:r>
            <a:r>
              <a:rPr lang="he-IL" dirty="0" err="1"/>
              <a:t>תוכנית</a:t>
            </a:r>
            <a:r>
              <a:rPr lang="he-IL" dirty="0"/>
              <a:t> </a:t>
            </a:r>
            <a:r>
              <a:rPr lang="he-IL" dirty="0" smtClean="0"/>
              <a:t>מוקצה </a:t>
            </a:r>
            <a:r>
              <a:rPr lang="en-US" dirty="0"/>
              <a:t>Program Counter (PC</a:t>
            </a:r>
            <a:r>
              <a:rPr lang="en-US" dirty="0" smtClean="0"/>
              <a:t>) </a:t>
            </a:r>
            <a:r>
              <a:rPr lang="he-IL" dirty="0" smtClean="0"/>
              <a:t>שתפקידו </a:t>
            </a:r>
            <a:r>
              <a:rPr lang="he-IL" dirty="0"/>
              <a:t>לעבור על כל הפקודות של התוכנית באופן סדרתי (מצביע על שורת הקוד הבאה).</a:t>
            </a:r>
            <a:br>
              <a:rPr lang="he-IL" dirty="0"/>
            </a:br>
            <a:endParaRPr lang="he-IL" dirty="0"/>
          </a:p>
          <a:p>
            <a:r>
              <a:rPr lang="he-IL" dirty="0"/>
              <a:t>ברגע שעשינו </a:t>
            </a:r>
            <a:r>
              <a:rPr lang="en-US" dirty="0"/>
              <a:t>Caching  </a:t>
            </a:r>
            <a:r>
              <a:rPr lang="he-IL" dirty="0"/>
              <a:t>לתוכנית (מהזיכרון המשני לזיכרון הראשי) היא הופכת לתהליך</a:t>
            </a:r>
            <a:endParaRPr lang="en-US" altLang="en-AU" b="1" dirty="0" smtClean="0"/>
          </a:p>
        </p:txBody>
      </p:sp>
      <p:sp>
        <p:nvSpPr>
          <p:cNvPr id="64518" name="Footer Placeholder 27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84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85794"/>
            <a:ext cx="8229600" cy="610742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US" sz="4000" b="1" i="1" dirty="0" smtClean="0">
                <a:solidFill>
                  <a:srgbClr val="FFFF00"/>
                </a:solidFill>
              </a:rPr>
              <a:t>כיצד ניישם בו זמניות?</a:t>
            </a:r>
            <a:endParaRPr lang="en-US" altLang="he-IL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4214813"/>
            <a:ext cx="8218487" cy="1871662"/>
          </a:xfrm>
        </p:spPr>
        <p:txBody>
          <a:bodyPr/>
          <a:lstStyle/>
          <a:p>
            <a:pPr algn="just" eaLnBrk="1" hangingPunct="1"/>
            <a:r>
              <a:rPr lang="he-IL" altLang="he-IL" b="1" smtClean="0"/>
              <a:t> </a:t>
            </a:r>
            <a:r>
              <a:rPr lang="he-IL" altLang="en-US" b="1" smtClean="0"/>
              <a:t>הפרדת התוכנית לשפת קוד, לנתונים (טבלת תהליכים) ולמקטעי סביבות עבודה</a:t>
            </a:r>
            <a:endParaRPr lang="en-US" altLang="en-US" b="1" smtClean="0"/>
          </a:p>
          <a:p>
            <a:pPr algn="just" eaLnBrk="1" hangingPunct="1"/>
            <a:r>
              <a:rPr lang="he-IL" altLang="en-US" b="1" smtClean="0"/>
              <a:t> טבלת תהליכים המכילה את כל הנתונים הדרושים להפסקת או לחילופין להמשך ריצת התהליך בכל זמן</a:t>
            </a:r>
            <a:endParaRPr lang="en-US" altLang="he-IL" b="1" smtClean="0"/>
          </a:p>
        </p:txBody>
      </p:sp>
      <p:sp>
        <p:nvSpPr>
          <p:cNvPr id="65542" name="Footer Placeholder 36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grpSp>
        <p:nvGrpSpPr>
          <p:cNvPr id="16391" name="Group 4"/>
          <p:cNvGrpSpPr>
            <a:grpSpLocks/>
          </p:cNvGrpSpPr>
          <p:nvPr/>
        </p:nvGrpSpPr>
        <p:grpSpPr bwMode="auto">
          <a:xfrm>
            <a:off x="500063" y="1571625"/>
            <a:ext cx="8145462" cy="2654300"/>
            <a:chOff x="628" y="616"/>
            <a:chExt cx="4373" cy="2529"/>
          </a:xfrm>
        </p:grpSpPr>
        <p:grpSp>
          <p:nvGrpSpPr>
            <p:cNvPr id="16392" name="Group 5"/>
            <p:cNvGrpSpPr>
              <a:grpSpLocks/>
            </p:cNvGrpSpPr>
            <p:nvPr/>
          </p:nvGrpSpPr>
          <p:grpSpPr bwMode="auto">
            <a:xfrm>
              <a:off x="2469" y="616"/>
              <a:ext cx="816" cy="672"/>
              <a:chOff x="645" y="667"/>
              <a:chExt cx="816" cy="683"/>
            </a:xfrm>
          </p:grpSpPr>
          <p:sp>
            <p:nvSpPr>
              <p:cNvPr id="16420" name="Text Box 6"/>
              <p:cNvSpPr txBox="1">
                <a:spLocks noChangeArrowheads="1"/>
              </p:cNvSpPr>
              <p:nvPr/>
            </p:nvSpPr>
            <p:spPr bwMode="auto">
              <a:xfrm>
                <a:off x="645" y="667"/>
                <a:ext cx="816" cy="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algn="ctr" rtl="0">
                  <a:spcBef>
                    <a:spcPct val="50000"/>
                  </a:spcBef>
                </a:pPr>
                <a:r>
                  <a:rPr lang="en-AU" altLang="he-IL" sz="2400" b="1">
                    <a:solidFill>
                      <a:srgbClr val="FFFF00"/>
                    </a:solidFill>
                    <a:latin typeface="Times New Roman" pitchFamily="18" charset="0"/>
                  </a:rPr>
                  <a:t>Start</a:t>
                </a:r>
              </a:p>
            </p:txBody>
          </p:sp>
          <p:sp>
            <p:nvSpPr>
              <p:cNvPr id="16421" name="Line 7"/>
              <p:cNvSpPr>
                <a:spLocks noChangeShapeType="1"/>
              </p:cNvSpPr>
              <p:nvPr/>
            </p:nvSpPr>
            <p:spPr bwMode="auto">
              <a:xfrm>
                <a:off x="1056" y="1107"/>
                <a:ext cx="0" cy="24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393" name="Group 8"/>
            <p:cNvGrpSpPr>
              <a:grpSpLocks/>
            </p:cNvGrpSpPr>
            <p:nvPr/>
          </p:nvGrpSpPr>
          <p:grpSpPr bwMode="auto">
            <a:xfrm>
              <a:off x="4041" y="2292"/>
              <a:ext cx="827" cy="835"/>
              <a:chOff x="3993" y="2189"/>
              <a:chExt cx="827" cy="702"/>
            </a:xfrm>
          </p:grpSpPr>
          <p:sp>
            <p:nvSpPr>
              <p:cNvPr id="16418" name="Text Box 9"/>
              <p:cNvSpPr txBox="1">
                <a:spLocks noChangeArrowheads="1"/>
              </p:cNvSpPr>
              <p:nvPr/>
            </p:nvSpPr>
            <p:spPr bwMode="auto">
              <a:xfrm>
                <a:off x="3993" y="2521"/>
                <a:ext cx="827" cy="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algn="l" rtl="0"/>
                <a:r>
                  <a:rPr lang="en-AU" altLang="he-IL" sz="2400" b="1">
                    <a:solidFill>
                      <a:srgbClr val="FFFF00"/>
                    </a:solidFill>
                    <a:latin typeface="Times New Roman" pitchFamily="18" charset="0"/>
                  </a:rPr>
                  <a:t>Terminate</a:t>
                </a:r>
                <a:endParaRPr lang="en-AU" altLang="he-IL" sz="4000" b="1" i="1">
                  <a:solidFill>
                    <a:srgbClr val="FFFF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6419" name="Line 10"/>
              <p:cNvSpPr>
                <a:spLocks noChangeShapeType="1"/>
              </p:cNvSpPr>
              <p:nvPr/>
            </p:nvSpPr>
            <p:spPr bwMode="auto">
              <a:xfrm>
                <a:off x="4415" y="2189"/>
                <a:ext cx="0" cy="36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394" name="Group 11"/>
            <p:cNvGrpSpPr>
              <a:grpSpLocks/>
            </p:cNvGrpSpPr>
            <p:nvPr/>
          </p:nvGrpSpPr>
          <p:grpSpPr bwMode="auto">
            <a:xfrm>
              <a:off x="743" y="616"/>
              <a:ext cx="816" cy="672"/>
              <a:chOff x="647" y="667"/>
              <a:chExt cx="816" cy="683"/>
            </a:xfrm>
          </p:grpSpPr>
          <p:sp>
            <p:nvSpPr>
              <p:cNvPr id="16416" name="Text Box 12"/>
              <p:cNvSpPr txBox="1">
                <a:spLocks noChangeArrowheads="1"/>
              </p:cNvSpPr>
              <p:nvPr/>
            </p:nvSpPr>
            <p:spPr bwMode="auto">
              <a:xfrm>
                <a:off x="647" y="667"/>
                <a:ext cx="816" cy="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algn="ctr" rtl="0">
                  <a:spcBef>
                    <a:spcPct val="50000"/>
                  </a:spcBef>
                </a:pPr>
                <a:r>
                  <a:rPr lang="en-AU" altLang="he-IL" sz="2400" b="1">
                    <a:solidFill>
                      <a:srgbClr val="FFFF00"/>
                    </a:solidFill>
                    <a:latin typeface="Times New Roman" pitchFamily="18" charset="0"/>
                  </a:rPr>
                  <a:t>Start</a:t>
                </a:r>
              </a:p>
            </p:txBody>
          </p:sp>
          <p:sp>
            <p:nvSpPr>
              <p:cNvPr id="16417" name="Line 13"/>
              <p:cNvSpPr>
                <a:spLocks noChangeShapeType="1"/>
              </p:cNvSpPr>
              <p:nvPr/>
            </p:nvSpPr>
            <p:spPr bwMode="auto">
              <a:xfrm>
                <a:off x="1031" y="1107"/>
                <a:ext cx="0" cy="24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395" name="Group 14"/>
            <p:cNvGrpSpPr>
              <a:grpSpLocks/>
            </p:cNvGrpSpPr>
            <p:nvPr/>
          </p:nvGrpSpPr>
          <p:grpSpPr bwMode="auto">
            <a:xfrm>
              <a:off x="4041" y="616"/>
              <a:ext cx="816" cy="672"/>
              <a:chOff x="633" y="667"/>
              <a:chExt cx="816" cy="683"/>
            </a:xfrm>
          </p:grpSpPr>
          <p:sp>
            <p:nvSpPr>
              <p:cNvPr id="16414" name="Text Box 15"/>
              <p:cNvSpPr txBox="1">
                <a:spLocks noChangeArrowheads="1"/>
              </p:cNvSpPr>
              <p:nvPr/>
            </p:nvSpPr>
            <p:spPr bwMode="auto">
              <a:xfrm>
                <a:off x="633" y="667"/>
                <a:ext cx="816" cy="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algn="ctr" rtl="0">
                  <a:spcBef>
                    <a:spcPct val="50000"/>
                  </a:spcBef>
                </a:pPr>
                <a:r>
                  <a:rPr lang="en-AU" altLang="he-IL" sz="2400" b="1">
                    <a:solidFill>
                      <a:srgbClr val="FFFF00"/>
                    </a:solidFill>
                    <a:latin typeface="Times New Roman" pitchFamily="18" charset="0"/>
                  </a:rPr>
                  <a:t>Start</a:t>
                </a:r>
              </a:p>
            </p:txBody>
          </p:sp>
          <p:sp>
            <p:nvSpPr>
              <p:cNvPr id="16415" name="Line 16"/>
              <p:cNvSpPr>
                <a:spLocks noChangeShapeType="1"/>
              </p:cNvSpPr>
              <p:nvPr/>
            </p:nvSpPr>
            <p:spPr bwMode="auto">
              <a:xfrm>
                <a:off x="1056" y="1107"/>
                <a:ext cx="0" cy="24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396" name="Group 17"/>
            <p:cNvGrpSpPr>
              <a:grpSpLocks/>
            </p:cNvGrpSpPr>
            <p:nvPr/>
          </p:nvGrpSpPr>
          <p:grpSpPr bwMode="auto">
            <a:xfrm>
              <a:off x="2486" y="2281"/>
              <a:ext cx="827" cy="860"/>
              <a:chOff x="4118" y="2225"/>
              <a:chExt cx="827" cy="615"/>
            </a:xfrm>
          </p:grpSpPr>
          <p:sp>
            <p:nvSpPr>
              <p:cNvPr id="16412" name="Text Box 18"/>
              <p:cNvSpPr txBox="1">
                <a:spLocks noChangeArrowheads="1"/>
              </p:cNvSpPr>
              <p:nvPr/>
            </p:nvSpPr>
            <p:spPr bwMode="auto">
              <a:xfrm>
                <a:off x="4118" y="2526"/>
                <a:ext cx="827" cy="3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algn="l" rtl="0"/>
                <a:r>
                  <a:rPr lang="en-AU" altLang="he-IL" sz="2400" b="1">
                    <a:solidFill>
                      <a:srgbClr val="FFFF00"/>
                    </a:solidFill>
                    <a:latin typeface="Times New Roman" pitchFamily="18" charset="0"/>
                  </a:rPr>
                  <a:t>Terminate</a:t>
                </a:r>
                <a:endParaRPr lang="en-AU" altLang="he-IL" sz="4000" b="1" i="1">
                  <a:solidFill>
                    <a:srgbClr val="FFFF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6413" name="Line 19"/>
              <p:cNvSpPr>
                <a:spLocks noChangeShapeType="1"/>
              </p:cNvSpPr>
              <p:nvPr/>
            </p:nvSpPr>
            <p:spPr bwMode="auto">
              <a:xfrm>
                <a:off x="4512" y="2225"/>
                <a:ext cx="0" cy="36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397" name="Group 20"/>
            <p:cNvGrpSpPr>
              <a:grpSpLocks/>
            </p:cNvGrpSpPr>
            <p:nvPr/>
          </p:nvGrpSpPr>
          <p:grpSpPr bwMode="auto">
            <a:xfrm>
              <a:off x="679" y="2304"/>
              <a:ext cx="827" cy="841"/>
              <a:chOff x="4087" y="2119"/>
              <a:chExt cx="827" cy="855"/>
            </a:xfrm>
          </p:grpSpPr>
          <p:sp>
            <p:nvSpPr>
              <p:cNvPr id="16410" name="Text Box 21"/>
              <p:cNvSpPr txBox="1">
                <a:spLocks noChangeArrowheads="1"/>
              </p:cNvSpPr>
              <p:nvPr/>
            </p:nvSpPr>
            <p:spPr bwMode="auto">
              <a:xfrm>
                <a:off x="4087" y="2527"/>
                <a:ext cx="827" cy="4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algn="l" rtl="0"/>
                <a:r>
                  <a:rPr lang="en-AU" altLang="he-IL" sz="2400" b="1">
                    <a:solidFill>
                      <a:srgbClr val="FFFF00"/>
                    </a:solidFill>
                    <a:latin typeface="Times New Roman" pitchFamily="18" charset="0"/>
                  </a:rPr>
                  <a:t>Terminate</a:t>
                </a:r>
                <a:endParaRPr lang="en-AU" altLang="he-IL" sz="4000" b="1" i="1">
                  <a:solidFill>
                    <a:srgbClr val="FFFF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6411" name="Line 22"/>
              <p:cNvSpPr>
                <a:spLocks noChangeShapeType="1"/>
              </p:cNvSpPr>
              <p:nvPr/>
            </p:nvSpPr>
            <p:spPr bwMode="auto">
              <a:xfrm>
                <a:off x="4535" y="2119"/>
                <a:ext cx="0" cy="36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398" name="Group 23"/>
            <p:cNvGrpSpPr>
              <a:grpSpLocks/>
            </p:cNvGrpSpPr>
            <p:nvPr/>
          </p:nvGrpSpPr>
          <p:grpSpPr bwMode="auto">
            <a:xfrm>
              <a:off x="628" y="1341"/>
              <a:ext cx="1056" cy="918"/>
              <a:chOff x="628" y="1341"/>
              <a:chExt cx="1056" cy="918"/>
            </a:xfrm>
          </p:grpSpPr>
          <p:sp>
            <p:nvSpPr>
              <p:cNvPr id="16407" name="Rectangle 24"/>
              <p:cNvSpPr>
                <a:spLocks noChangeArrowheads="1"/>
              </p:cNvSpPr>
              <p:nvPr/>
            </p:nvSpPr>
            <p:spPr bwMode="auto">
              <a:xfrm>
                <a:off x="628" y="1341"/>
                <a:ext cx="1056" cy="243"/>
              </a:xfrm>
              <a:prstGeom prst="rect">
                <a:avLst/>
              </a:prstGeom>
              <a:blipFill dpi="0" rotWithShape="1">
                <a:blip r:embed="rId2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 rtl="0" eaLnBrk="0" hangingPunct="0"/>
                <a:r>
                  <a:rPr lang="en-AU" altLang="he-IL" sz="2400" b="1">
                    <a:solidFill>
                      <a:srgbClr val="000099"/>
                    </a:solidFill>
                    <a:latin typeface="Times New Roman" pitchFamily="18" charset="0"/>
                  </a:rPr>
                  <a:t>Code 1</a:t>
                </a:r>
              </a:p>
            </p:txBody>
          </p:sp>
          <p:sp>
            <p:nvSpPr>
              <p:cNvPr id="16408" name="Rectangle 25"/>
              <p:cNvSpPr>
                <a:spLocks noChangeArrowheads="1"/>
              </p:cNvSpPr>
              <p:nvPr/>
            </p:nvSpPr>
            <p:spPr bwMode="auto">
              <a:xfrm>
                <a:off x="628" y="1680"/>
                <a:ext cx="1056" cy="243"/>
              </a:xfrm>
              <a:prstGeom prst="rect">
                <a:avLst/>
              </a:prstGeom>
              <a:blipFill dpi="0" rotWithShape="1">
                <a:blip r:embed="rId2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 rtl="0" eaLnBrk="0" hangingPunct="0"/>
                <a:r>
                  <a:rPr lang="en-AU" altLang="he-IL" sz="2400" b="1">
                    <a:solidFill>
                      <a:srgbClr val="000099"/>
                    </a:solidFill>
                    <a:latin typeface="Times New Roman" pitchFamily="18" charset="0"/>
                  </a:rPr>
                  <a:t>Data 1</a:t>
                </a:r>
              </a:p>
            </p:txBody>
          </p:sp>
          <p:sp>
            <p:nvSpPr>
              <p:cNvPr id="16409" name="Rectangle 26"/>
              <p:cNvSpPr>
                <a:spLocks noChangeArrowheads="1"/>
              </p:cNvSpPr>
              <p:nvPr/>
            </p:nvSpPr>
            <p:spPr bwMode="auto">
              <a:xfrm>
                <a:off x="628" y="2016"/>
                <a:ext cx="1056" cy="243"/>
              </a:xfrm>
              <a:prstGeom prst="rect">
                <a:avLst/>
              </a:prstGeom>
              <a:blipFill dpi="0" rotWithShape="1">
                <a:blip r:embed="rId2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 rtl="0" eaLnBrk="0" hangingPunct="0"/>
                <a:r>
                  <a:rPr lang="en-AU" altLang="he-IL" sz="2400" b="1">
                    <a:solidFill>
                      <a:srgbClr val="000099"/>
                    </a:solidFill>
                    <a:latin typeface="Times New Roman" pitchFamily="18" charset="0"/>
                  </a:rPr>
                  <a:t>PCB 1</a:t>
                </a:r>
              </a:p>
            </p:txBody>
          </p:sp>
        </p:grpSp>
        <p:grpSp>
          <p:nvGrpSpPr>
            <p:cNvPr id="16399" name="Group 27"/>
            <p:cNvGrpSpPr>
              <a:grpSpLocks/>
            </p:cNvGrpSpPr>
            <p:nvPr/>
          </p:nvGrpSpPr>
          <p:grpSpPr bwMode="auto">
            <a:xfrm>
              <a:off x="2352" y="1296"/>
              <a:ext cx="1056" cy="918"/>
              <a:chOff x="576" y="1341"/>
              <a:chExt cx="1056" cy="918"/>
            </a:xfrm>
          </p:grpSpPr>
          <p:sp>
            <p:nvSpPr>
              <p:cNvPr id="16404" name="Rectangle 28"/>
              <p:cNvSpPr>
                <a:spLocks noChangeArrowheads="1"/>
              </p:cNvSpPr>
              <p:nvPr/>
            </p:nvSpPr>
            <p:spPr bwMode="auto">
              <a:xfrm>
                <a:off x="576" y="1341"/>
                <a:ext cx="1056" cy="243"/>
              </a:xfrm>
              <a:prstGeom prst="rect">
                <a:avLst/>
              </a:prstGeom>
              <a:blipFill dpi="0" rotWithShape="1">
                <a:blip r:embed="rId2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 rtl="0" eaLnBrk="0" hangingPunct="0"/>
                <a:r>
                  <a:rPr lang="en-AU" altLang="he-IL" sz="2400" b="1">
                    <a:solidFill>
                      <a:srgbClr val="000099"/>
                    </a:solidFill>
                    <a:latin typeface="Times New Roman" pitchFamily="18" charset="0"/>
                  </a:rPr>
                  <a:t>Code 2</a:t>
                </a:r>
              </a:p>
            </p:txBody>
          </p:sp>
          <p:sp>
            <p:nvSpPr>
              <p:cNvPr id="16405" name="Rectangle 29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1056" cy="243"/>
              </a:xfrm>
              <a:prstGeom prst="rect">
                <a:avLst/>
              </a:prstGeom>
              <a:blipFill dpi="0" rotWithShape="1">
                <a:blip r:embed="rId2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 rtl="0" eaLnBrk="0" hangingPunct="0"/>
                <a:r>
                  <a:rPr lang="en-AU" altLang="he-IL" sz="2400" b="1">
                    <a:solidFill>
                      <a:srgbClr val="000099"/>
                    </a:solidFill>
                    <a:latin typeface="Times New Roman" pitchFamily="18" charset="0"/>
                  </a:rPr>
                  <a:t>Data 2</a:t>
                </a:r>
              </a:p>
            </p:txBody>
          </p:sp>
          <p:sp>
            <p:nvSpPr>
              <p:cNvPr id="16406" name="Rectangle 30"/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1056" cy="243"/>
              </a:xfrm>
              <a:prstGeom prst="rect">
                <a:avLst/>
              </a:prstGeom>
              <a:blipFill dpi="0" rotWithShape="1">
                <a:blip r:embed="rId2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 rtl="0" eaLnBrk="0" hangingPunct="0"/>
                <a:r>
                  <a:rPr lang="en-AU" altLang="he-IL" sz="2400" b="1">
                    <a:solidFill>
                      <a:srgbClr val="000099"/>
                    </a:solidFill>
                    <a:latin typeface="Times New Roman" pitchFamily="18" charset="0"/>
                  </a:rPr>
                  <a:t>PCB 2</a:t>
                </a:r>
              </a:p>
            </p:txBody>
          </p:sp>
        </p:grpSp>
        <p:grpSp>
          <p:nvGrpSpPr>
            <p:cNvPr id="16400" name="Group 31"/>
            <p:cNvGrpSpPr>
              <a:grpSpLocks/>
            </p:cNvGrpSpPr>
            <p:nvPr/>
          </p:nvGrpSpPr>
          <p:grpSpPr bwMode="auto">
            <a:xfrm>
              <a:off x="3945" y="1296"/>
              <a:ext cx="1056" cy="918"/>
              <a:chOff x="489" y="1341"/>
              <a:chExt cx="1056" cy="918"/>
            </a:xfrm>
          </p:grpSpPr>
          <p:sp>
            <p:nvSpPr>
              <p:cNvPr id="16401" name="Rectangle 32"/>
              <p:cNvSpPr>
                <a:spLocks noChangeArrowheads="1"/>
              </p:cNvSpPr>
              <p:nvPr/>
            </p:nvSpPr>
            <p:spPr bwMode="auto">
              <a:xfrm>
                <a:off x="489" y="1341"/>
                <a:ext cx="1056" cy="243"/>
              </a:xfrm>
              <a:prstGeom prst="rect">
                <a:avLst/>
              </a:prstGeom>
              <a:blipFill dpi="0" rotWithShape="1">
                <a:blip r:embed="rId2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 rtl="0" eaLnBrk="0" hangingPunct="0"/>
                <a:r>
                  <a:rPr lang="en-AU" altLang="he-IL" sz="2400" b="1">
                    <a:solidFill>
                      <a:srgbClr val="000099"/>
                    </a:solidFill>
                    <a:latin typeface="Times New Roman" pitchFamily="18" charset="0"/>
                  </a:rPr>
                  <a:t>Code 3</a:t>
                </a:r>
              </a:p>
            </p:txBody>
          </p:sp>
          <p:sp>
            <p:nvSpPr>
              <p:cNvPr id="16402" name="Rectangle 33"/>
              <p:cNvSpPr>
                <a:spLocks noChangeArrowheads="1"/>
              </p:cNvSpPr>
              <p:nvPr/>
            </p:nvSpPr>
            <p:spPr bwMode="auto">
              <a:xfrm>
                <a:off x="489" y="1680"/>
                <a:ext cx="1056" cy="243"/>
              </a:xfrm>
              <a:prstGeom prst="rect">
                <a:avLst/>
              </a:prstGeom>
              <a:blipFill dpi="0" rotWithShape="1">
                <a:blip r:embed="rId2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 rtl="0" eaLnBrk="0" hangingPunct="0"/>
                <a:r>
                  <a:rPr lang="en-AU" altLang="he-IL" sz="2400" b="1">
                    <a:solidFill>
                      <a:srgbClr val="000099"/>
                    </a:solidFill>
                    <a:latin typeface="Times New Roman" pitchFamily="18" charset="0"/>
                  </a:rPr>
                  <a:t>Data 3</a:t>
                </a:r>
              </a:p>
            </p:txBody>
          </p:sp>
          <p:sp>
            <p:nvSpPr>
              <p:cNvPr id="16403" name="Rectangle 34"/>
              <p:cNvSpPr>
                <a:spLocks noChangeArrowheads="1"/>
              </p:cNvSpPr>
              <p:nvPr/>
            </p:nvSpPr>
            <p:spPr bwMode="auto">
              <a:xfrm>
                <a:off x="489" y="2016"/>
                <a:ext cx="1056" cy="243"/>
              </a:xfrm>
              <a:prstGeom prst="rect">
                <a:avLst/>
              </a:prstGeom>
              <a:blipFill dpi="0" rotWithShape="1">
                <a:blip r:embed="rId2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 rtl="0" eaLnBrk="0" hangingPunct="0"/>
                <a:r>
                  <a:rPr lang="en-AU" altLang="he-IL" sz="2400" b="1">
                    <a:solidFill>
                      <a:srgbClr val="000099"/>
                    </a:solidFill>
                    <a:latin typeface="Times New Roman" pitchFamily="18" charset="0"/>
                  </a:rPr>
                  <a:t>PCB 3</a:t>
                </a:r>
              </a:p>
            </p:txBody>
          </p:sp>
        </p:grpSp>
      </p:grp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85794"/>
            <a:ext cx="8229600" cy="610742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i="1" dirty="0" smtClean="0">
                <a:solidFill>
                  <a:srgbClr val="FFFF00"/>
                </a:solidFill>
              </a:rPr>
              <a:t>קובץ בקרת תהליכים</a:t>
            </a:r>
            <a:endParaRPr lang="en-US" altLang="en-AU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676400"/>
            <a:ext cx="7772400" cy="448945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he-IL" altLang="en-AU" b="1" smtClean="0"/>
              <a:t> תכולת הרגיסטרים</a:t>
            </a:r>
            <a:endParaRPr lang="en-US" altLang="en-AU" b="1" smtClean="0"/>
          </a:p>
          <a:p>
            <a:pPr algn="just" eaLnBrk="1" hangingPunct="1">
              <a:lnSpc>
                <a:spcPct val="80000"/>
              </a:lnSpc>
            </a:pPr>
            <a:r>
              <a:rPr lang="he-IL" altLang="en-AU" b="1" smtClean="0"/>
              <a:t> מונה תוכניות</a:t>
            </a:r>
            <a:endParaRPr lang="en-US" altLang="en-AU" b="1" smtClean="0"/>
          </a:p>
          <a:p>
            <a:pPr algn="just" eaLnBrk="1" hangingPunct="1">
              <a:lnSpc>
                <a:spcPct val="80000"/>
              </a:lnSpc>
            </a:pPr>
            <a:r>
              <a:rPr lang="he-IL" altLang="en-AU" b="1" smtClean="0"/>
              <a:t> תאור סטטוס תוכנית</a:t>
            </a:r>
            <a:endParaRPr lang="en-US" altLang="en-AU" b="1" smtClean="0"/>
          </a:p>
          <a:p>
            <a:pPr algn="just" eaLnBrk="1" hangingPunct="1">
              <a:lnSpc>
                <a:spcPct val="80000"/>
              </a:lnSpc>
            </a:pPr>
            <a:r>
              <a:rPr lang="he-IL" altLang="en-AU" b="1" smtClean="0"/>
              <a:t> מצב התהליך</a:t>
            </a:r>
            <a:endParaRPr lang="en-US" altLang="en-AU" b="1" smtClean="0"/>
          </a:p>
          <a:p>
            <a:pPr algn="just" eaLnBrk="1" hangingPunct="1">
              <a:lnSpc>
                <a:spcPct val="80000"/>
              </a:lnSpc>
            </a:pPr>
            <a:r>
              <a:rPr lang="he-IL" altLang="en-AU" b="1" smtClean="0"/>
              <a:t> מצביעים לקוד ולנתונים</a:t>
            </a:r>
            <a:endParaRPr lang="en-US" altLang="en-AU" b="1" smtClean="0"/>
          </a:p>
          <a:p>
            <a:pPr algn="just" eaLnBrk="1" hangingPunct="1">
              <a:lnSpc>
                <a:spcPct val="80000"/>
              </a:lnSpc>
            </a:pPr>
            <a:r>
              <a:rPr lang="he-IL" altLang="en-AU" b="1" smtClean="0"/>
              <a:t> עדיפויות תהליך</a:t>
            </a:r>
            <a:endParaRPr lang="en-US" altLang="en-AU" b="1" smtClean="0"/>
          </a:p>
          <a:p>
            <a:pPr algn="just" eaLnBrk="1" hangingPunct="1">
              <a:lnSpc>
                <a:spcPct val="80000"/>
              </a:lnSpc>
            </a:pPr>
            <a:r>
              <a:rPr lang="he-IL" altLang="en-AU" b="1" smtClean="0"/>
              <a:t> תאור קבצים</a:t>
            </a:r>
            <a:endParaRPr lang="en-US" altLang="en-AU" b="1" smtClean="0"/>
          </a:p>
          <a:p>
            <a:pPr algn="just" eaLnBrk="1" hangingPunct="1">
              <a:lnSpc>
                <a:spcPct val="80000"/>
              </a:lnSpc>
            </a:pPr>
            <a:r>
              <a:rPr lang="he-IL" altLang="en-AU" b="1" smtClean="0"/>
              <a:t> מצביע אב לתהליך</a:t>
            </a:r>
            <a:endParaRPr lang="en-US" altLang="en-AU" b="1" smtClean="0"/>
          </a:p>
          <a:p>
            <a:pPr algn="just" eaLnBrk="1" hangingPunct="1">
              <a:lnSpc>
                <a:spcPct val="80000"/>
              </a:lnSpc>
            </a:pPr>
            <a:r>
              <a:rPr lang="he-IL" altLang="en-AU" b="1" smtClean="0"/>
              <a:t> מצביע על כל הבנים של התהליך</a:t>
            </a:r>
            <a:endParaRPr lang="en-US" altLang="en-AU" b="1" smtClean="0"/>
          </a:p>
          <a:p>
            <a:pPr algn="just" eaLnBrk="1" hangingPunct="1">
              <a:lnSpc>
                <a:spcPct val="80000"/>
              </a:lnSpc>
            </a:pPr>
            <a:r>
              <a:rPr lang="he-IL" altLang="en-AU" b="1" smtClean="0"/>
              <a:t> המעבד עובד ומריץ תוכניות</a:t>
            </a:r>
            <a:endParaRPr lang="en-US" altLang="he-IL" b="1" smtClean="0"/>
          </a:p>
        </p:txBody>
      </p:sp>
      <p:sp>
        <p:nvSpPr>
          <p:cNvPr id="66565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48" y="857232"/>
            <a:ext cx="8001000" cy="571500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i="1" dirty="0" smtClean="0">
                <a:solidFill>
                  <a:srgbClr val="FFFF00"/>
                </a:solidFill>
              </a:rPr>
              <a:t>מיתוג תהליכים</a:t>
            </a:r>
            <a:endParaRPr lang="en-US" altLang="en-AU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67588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001000" cy="4052664"/>
          </a:xfrm>
        </p:spPr>
        <p:txBody>
          <a:bodyPr>
            <a:norm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r>
              <a:rPr lang="he-IL" altLang="en-AU" b="1" dirty="0" smtClean="0"/>
              <a:t>שומר על “העולם האמיתי” של התהליך העכשווי בטבלת התהליכים</a:t>
            </a:r>
            <a:endParaRPr lang="en-US" altLang="en-AU" b="1" dirty="0" smtClean="0"/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r>
              <a:rPr lang="he-IL" altLang="en-AU" b="1" dirty="0" smtClean="0"/>
              <a:t>משחזר את “</a:t>
            </a:r>
            <a:r>
              <a:rPr lang="he-IL" altLang="en-AU" b="1" dirty="0" smtClean="0">
                <a:solidFill>
                  <a:srgbClr val="FFFF00"/>
                </a:solidFill>
              </a:rPr>
              <a:t>העולם האמיתי</a:t>
            </a:r>
            <a:r>
              <a:rPr lang="he-IL" altLang="en-AU" b="1" dirty="0" smtClean="0"/>
              <a:t>” מטבלת התהליכים של התהליך הנבחר, הוא התהליך שנבחר לריצה הבאה</a:t>
            </a:r>
            <a:endParaRPr lang="en-US" altLang="en-AU" b="1" dirty="0" smtClean="0"/>
          </a:p>
        </p:txBody>
      </p:sp>
      <p:sp>
        <p:nvSpPr>
          <p:cNvPr id="67589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14356"/>
            <a:ext cx="8229600" cy="682180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dirty="0" smtClean="0">
                <a:solidFill>
                  <a:srgbClr val="FFFF00"/>
                </a:solidFill>
              </a:rPr>
              <a:t>טבלת תהליכי מערכת</a:t>
            </a:r>
            <a:endParaRPr lang="en-US" altLang="en-AU" sz="4000" b="1" dirty="0" smtClean="0">
              <a:solidFill>
                <a:srgbClr val="FFFF00"/>
              </a:solidFill>
            </a:endParaRPr>
          </a:p>
        </p:txBody>
      </p:sp>
      <p:sp>
        <p:nvSpPr>
          <p:cNvPr id="68627" name="Footer Placeholder 19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19462" name="Rectangle 3"/>
          <p:cNvSpPr>
            <a:spLocks noChangeArrowheads="1"/>
          </p:cNvSpPr>
          <p:nvPr/>
        </p:nvSpPr>
        <p:spPr bwMode="auto">
          <a:xfrm>
            <a:off x="1143000" y="2438400"/>
            <a:ext cx="2971800" cy="284797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38100">
            <a:solidFill>
              <a:srgbClr val="000099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rtl="0" eaLnBrk="0" hangingPunct="0"/>
            <a:endParaRPr lang="en-GB" altLang="en-US" sz="4000" b="1" i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19463" name="Text Box 4"/>
          <p:cNvSpPr txBox="1">
            <a:spLocks noChangeArrowheads="1"/>
          </p:cNvSpPr>
          <p:nvPr/>
        </p:nvSpPr>
        <p:spPr bwMode="auto">
          <a:xfrm>
            <a:off x="714375" y="1752600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 rtl="0"/>
            <a:r>
              <a:rPr lang="en-AU" altLang="he-IL" sz="2800" b="1" i="1">
                <a:latin typeface="Times New Roman" pitchFamily="18" charset="0"/>
              </a:rPr>
              <a:t>Process tables</a:t>
            </a:r>
          </a:p>
        </p:txBody>
      </p:sp>
      <p:sp>
        <p:nvSpPr>
          <p:cNvPr id="19464" name="Line 5"/>
          <p:cNvSpPr>
            <a:spLocks noChangeShapeType="1"/>
          </p:cNvSpPr>
          <p:nvPr/>
        </p:nvSpPr>
        <p:spPr bwMode="auto">
          <a:xfrm>
            <a:off x="1143000" y="2786063"/>
            <a:ext cx="29718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Line 6"/>
          <p:cNvSpPr>
            <a:spLocks noChangeShapeType="1"/>
          </p:cNvSpPr>
          <p:nvPr/>
        </p:nvSpPr>
        <p:spPr bwMode="auto">
          <a:xfrm>
            <a:off x="1143000" y="3143250"/>
            <a:ext cx="29718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Line 7"/>
          <p:cNvSpPr>
            <a:spLocks noChangeShapeType="1"/>
          </p:cNvSpPr>
          <p:nvPr/>
        </p:nvSpPr>
        <p:spPr bwMode="auto">
          <a:xfrm flipV="1">
            <a:off x="1143000" y="3571875"/>
            <a:ext cx="29718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7" name="Line 8"/>
          <p:cNvSpPr>
            <a:spLocks noChangeShapeType="1"/>
          </p:cNvSpPr>
          <p:nvPr/>
        </p:nvSpPr>
        <p:spPr bwMode="auto">
          <a:xfrm flipV="1">
            <a:off x="1143000" y="4000500"/>
            <a:ext cx="29718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Line 9"/>
          <p:cNvSpPr>
            <a:spLocks noChangeShapeType="1"/>
          </p:cNvSpPr>
          <p:nvPr/>
        </p:nvSpPr>
        <p:spPr bwMode="auto">
          <a:xfrm flipV="1">
            <a:off x="1143000" y="4429125"/>
            <a:ext cx="29718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9" name="Line 10"/>
          <p:cNvSpPr>
            <a:spLocks noChangeShapeType="1"/>
          </p:cNvSpPr>
          <p:nvPr/>
        </p:nvSpPr>
        <p:spPr bwMode="auto">
          <a:xfrm flipV="1">
            <a:off x="1071563" y="4857750"/>
            <a:ext cx="3043237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0" name="Rectangle 11"/>
          <p:cNvSpPr>
            <a:spLocks noChangeArrowheads="1"/>
          </p:cNvSpPr>
          <p:nvPr/>
        </p:nvSpPr>
        <p:spPr bwMode="auto">
          <a:xfrm>
            <a:off x="6643688" y="1868488"/>
            <a:ext cx="1758950" cy="1203325"/>
          </a:xfrm>
          <a:prstGeom prst="rect">
            <a:avLst/>
          </a:prstGeom>
          <a:solidFill>
            <a:srgbClr val="66FF66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rtl="0" eaLnBrk="0" hangingPunct="0"/>
            <a:r>
              <a:rPr lang="en-AU" altLang="he-IL" sz="2400" b="1">
                <a:solidFill>
                  <a:srgbClr val="000099"/>
                </a:solidFill>
                <a:latin typeface="Times New Roman" pitchFamily="18" charset="0"/>
              </a:rPr>
              <a:t>Code</a:t>
            </a:r>
            <a:endParaRPr lang="en-AU" altLang="he-IL" sz="4000" b="1" i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19471" name="Rectangle 12"/>
          <p:cNvSpPr>
            <a:spLocks noChangeArrowheads="1"/>
          </p:cNvSpPr>
          <p:nvPr/>
        </p:nvSpPr>
        <p:spPr bwMode="auto">
          <a:xfrm>
            <a:off x="6629400" y="3276600"/>
            <a:ext cx="1728788" cy="1203325"/>
          </a:xfrm>
          <a:prstGeom prst="rect">
            <a:avLst/>
          </a:prstGeom>
          <a:solidFill>
            <a:srgbClr val="FF33CC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rtl="0" eaLnBrk="0" hangingPunct="0"/>
            <a:r>
              <a:rPr lang="en-AU" altLang="he-IL" sz="2400" b="1">
                <a:solidFill>
                  <a:srgbClr val="000099"/>
                </a:solidFill>
                <a:latin typeface="Times New Roman" pitchFamily="18" charset="0"/>
              </a:rPr>
              <a:t>Data</a:t>
            </a:r>
            <a:endParaRPr lang="en-AU" altLang="he-IL" sz="4000" b="1" i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19472" name="Rectangle 13"/>
          <p:cNvSpPr>
            <a:spLocks noChangeArrowheads="1"/>
          </p:cNvSpPr>
          <p:nvPr/>
        </p:nvSpPr>
        <p:spPr bwMode="auto">
          <a:xfrm>
            <a:off x="6629400" y="4711700"/>
            <a:ext cx="1728788" cy="1003300"/>
          </a:xfrm>
          <a:prstGeom prst="rect">
            <a:avLst/>
          </a:prstGeom>
          <a:solidFill>
            <a:srgbClr val="00CCFF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rtl="0" eaLnBrk="0" hangingPunct="0"/>
            <a:r>
              <a:rPr lang="en-AU" altLang="he-IL" sz="2400" b="1">
                <a:solidFill>
                  <a:srgbClr val="000099"/>
                </a:solidFill>
                <a:latin typeface="Times New Roman" pitchFamily="18" charset="0"/>
              </a:rPr>
              <a:t>Stack</a:t>
            </a:r>
            <a:endParaRPr lang="en-AU" altLang="he-IL" sz="4000" b="1" i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19473" name="Line 14"/>
          <p:cNvSpPr>
            <a:spLocks noChangeShapeType="1"/>
          </p:cNvSpPr>
          <p:nvPr/>
        </p:nvSpPr>
        <p:spPr bwMode="auto">
          <a:xfrm flipV="1">
            <a:off x="4114800" y="2428875"/>
            <a:ext cx="2457450" cy="390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4" name="Line 15"/>
          <p:cNvSpPr>
            <a:spLocks noChangeShapeType="1"/>
          </p:cNvSpPr>
          <p:nvPr/>
        </p:nvSpPr>
        <p:spPr bwMode="auto">
          <a:xfrm>
            <a:off x="4114800" y="2895600"/>
            <a:ext cx="2528888" cy="10334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5" name="Line 16"/>
          <p:cNvSpPr>
            <a:spLocks noChangeShapeType="1"/>
          </p:cNvSpPr>
          <p:nvPr/>
        </p:nvSpPr>
        <p:spPr bwMode="auto">
          <a:xfrm>
            <a:off x="4114800" y="2971800"/>
            <a:ext cx="2528888" cy="2243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6" name="Text Box 17"/>
          <p:cNvSpPr txBox="1">
            <a:spLocks noChangeArrowheads="1"/>
          </p:cNvSpPr>
          <p:nvPr/>
        </p:nvSpPr>
        <p:spPr bwMode="auto">
          <a:xfrm>
            <a:off x="1928813" y="2690813"/>
            <a:ext cx="1501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l" rtl="0"/>
            <a:r>
              <a:rPr lang="en-AU" altLang="he-IL" sz="2800" b="1">
                <a:solidFill>
                  <a:srgbClr val="000099"/>
                </a:solidFill>
                <a:latin typeface="Times New Roman" pitchFamily="18" charset="0"/>
              </a:rPr>
              <a:t>Process</a:t>
            </a:r>
            <a:endParaRPr lang="en-AU" altLang="he-IL" sz="4400" b="1" i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571472" y="642918"/>
            <a:ext cx="8001000" cy="730250"/>
          </a:xfrm>
        </p:spPr>
        <p:txBody>
          <a:bodyPr/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i="1" dirty="0" smtClean="0">
                <a:solidFill>
                  <a:srgbClr val="FFFF00"/>
                </a:solidFill>
              </a:rPr>
              <a:t>ניהול קוד משותף</a:t>
            </a:r>
            <a:endParaRPr lang="en-US" altLang="en-AU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4876800"/>
            <a:ext cx="8151812" cy="1504950"/>
          </a:xfrm>
        </p:spPr>
        <p:txBody>
          <a:bodyPr/>
          <a:lstStyle/>
          <a:p>
            <a:pPr eaLnBrk="1" hangingPunct="1"/>
            <a:r>
              <a:rPr lang="he-IL" altLang="he-IL" b="1" smtClean="0"/>
              <a:t> </a:t>
            </a:r>
            <a:r>
              <a:rPr lang="he-IL" altLang="en-AU" b="1" smtClean="0"/>
              <a:t>הקוד המשותף חייב להיות בעל יכולת הצטרפות מחדש לתהליך ללא צורך להתאים ושנות עצמו</a:t>
            </a:r>
            <a:endParaRPr lang="en-US" altLang="en-AU" b="1" smtClean="0"/>
          </a:p>
          <a:p>
            <a:pPr eaLnBrk="1" hangingPunct="1"/>
            <a:r>
              <a:rPr lang="en-US" smtClean="0"/>
              <a:t>Process Control Block (PCB)</a:t>
            </a:r>
            <a:endParaRPr lang="en-US" altLang="he-IL" b="1" smtClean="0"/>
          </a:p>
        </p:txBody>
      </p:sp>
      <p:sp>
        <p:nvSpPr>
          <p:cNvPr id="69638" name="Footer Placeholder 1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grpSp>
        <p:nvGrpSpPr>
          <p:cNvPr id="20487" name="Group 4"/>
          <p:cNvGrpSpPr>
            <a:grpSpLocks/>
          </p:cNvGrpSpPr>
          <p:nvPr/>
        </p:nvGrpSpPr>
        <p:grpSpPr bwMode="auto">
          <a:xfrm>
            <a:off x="990600" y="1828800"/>
            <a:ext cx="7467600" cy="2971800"/>
            <a:chOff x="768" y="768"/>
            <a:chExt cx="4272" cy="1874"/>
          </a:xfrm>
        </p:grpSpPr>
        <p:sp>
          <p:nvSpPr>
            <p:cNvPr id="20488" name="Rectangle 5"/>
            <p:cNvSpPr>
              <a:spLocks noChangeArrowheads="1"/>
            </p:cNvSpPr>
            <p:nvPr/>
          </p:nvSpPr>
          <p:spPr bwMode="auto">
            <a:xfrm>
              <a:off x="2352" y="1488"/>
              <a:ext cx="1056" cy="336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FF00"/>
              </a:extrusionClr>
            </a:sp3d>
          </p:spPr>
          <p:txBody>
            <a:bodyPr wrap="none" anchor="ctr">
              <a:flatTx/>
            </a:bodyPr>
            <a:lstStyle/>
            <a:p>
              <a:pPr algn="ctr" rtl="0" eaLnBrk="0" hangingPunct="0"/>
              <a:r>
                <a:rPr lang="en-AU" altLang="he-IL" sz="2400" b="1">
                  <a:solidFill>
                    <a:srgbClr val="000099"/>
                  </a:solidFill>
                  <a:latin typeface="Times New Roman" pitchFamily="18" charset="0"/>
                </a:rPr>
                <a:t>Shared Code</a:t>
              </a:r>
            </a:p>
          </p:txBody>
        </p:sp>
        <p:sp>
          <p:nvSpPr>
            <p:cNvPr id="20489" name="Rectangle 6"/>
            <p:cNvSpPr>
              <a:spLocks noChangeArrowheads="1"/>
            </p:cNvSpPr>
            <p:nvPr/>
          </p:nvSpPr>
          <p:spPr bwMode="auto">
            <a:xfrm>
              <a:off x="768" y="2400"/>
              <a:ext cx="1056" cy="242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FF00"/>
              </a:extrusionClr>
            </a:sp3d>
          </p:spPr>
          <p:txBody>
            <a:bodyPr wrap="none" anchor="ctr">
              <a:flatTx/>
            </a:bodyPr>
            <a:lstStyle/>
            <a:p>
              <a:pPr algn="ctr" rtl="0" eaLnBrk="0" hangingPunct="0"/>
              <a:r>
                <a:rPr lang="en-AU" altLang="he-IL" sz="2400" b="1">
                  <a:solidFill>
                    <a:srgbClr val="000099"/>
                  </a:solidFill>
                  <a:latin typeface="Times New Roman" pitchFamily="18" charset="0"/>
                </a:rPr>
                <a:t>Data 1</a:t>
              </a:r>
            </a:p>
          </p:txBody>
        </p:sp>
        <p:sp>
          <p:nvSpPr>
            <p:cNvPr id="20490" name="Rectangle 7"/>
            <p:cNvSpPr>
              <a:spLocks noChangeArrowheads="1"/>
            </p:cNvSpPr>
            <p:nvPr/>
          </p:nvSpPr>
          <p:spPr bwMode="auto">
            <a:xfrm>
              <a:off x="768" y="816"/>
              <a:ext cx="1056" cy="242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FF00"/>
              </a:extrusionClr>
            </a:sp3d>
          </p:spPr>
          <p:txBody>
            <a:bodyPr wrap="none" anchor="ctr">
              <a:flatTx/>
            </a:bodyPr>
            <a:lstStyle/>
            <a:p>
              <a:pPr algn="ctr" rtl="0" eaLnBrk="0" hangingPunct="0"/>
              <a:r>
                <a:rPr lang="en-AU" altLang="he-IL" sz="2400" b="1">
                  <a:solidFill>
                    <a:srgbClr val="000099"/>
                  </a:solidFill>
                  <a:latin typeface="Times New Roman" pitchFamily="18" charset="0"/>
                </a:rPr>
                <a:t>PCB 1</a:t>
              </a:r>
            </a:p>
          </p:txBody>
        </p:sp>
        <p:sp>
          <p:nvSpPr>
            <p:cNvPr id="20491" name="Rectangle 8"/>
            <p:cNvSpPr>
              <a:spLocks noChangeArrowheads="1"/>
            </p:cNvSpPr>
            <p:nvPr/>
          </p:nvSpPr>
          <p:spPr bwMode="auto">
            <a:xfrm>
              <a:off x="3840" y="2400"/>
              <a:ext cx="1056" cy="242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FF00"/>
              </a:extrusionClr>
            </a:sp3d>
          </p:spPr>
          <p:txBody>
            <a:bodyPr wrap="none" anchor="ctr">
              <a:flatTx/>
            </a:bodyPr>
            <a:lstStyle/>
            <a:p>
              <a:pPr algn="ctr" rtl="0" eaLnBrk="0" hangingPunct="0"/>
              <a:r>
                <a:rPr lang="en-AU" altLang="he-IL" sz="2400" b="1">
                  <a:solidFill>
                    <a:srgbClr val="000099"/>
                  </a:solidFill>
                  <a:latin typeface="Times New Roman" pitchFamily="18" charset="0"/>
                </a:rPr>
                <a:t>Data 2</a:t>
              </a:r>
            </a:p>
          </p:txBody>
        </p:sp>
        <p:sp>
          <p:nvSpPr>
            <p:cNvPr id="20492" name="Rectangle 9"/>
            <p:cNvSpPr>
              <a:spLocks noChangeArrowheads="1"/>
            </p:cNvSpPr>
            <p:nvPr/>
          </p:nvSpPr>
          <p:spPr bwMode="auto">
            <a:xfrm>
              <a:off x="3984" y="768"/>
              <a:ext cx="1056" cy="242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FF00"/>
              </a:extrusionClr>
            </a:sp3d>
          </p:spPr>
          <p:txBody>
            <a:bodyPr wrap="none" anchor="ctr">
              <a:flatTx/>
            </a:bodyPr>
            <a:lstStyle/>
            <a:p>
              <a:pPr algn="ctr" rtl="0" eaLnBrk="0" hangingPunct="0"/>
              <a:r>
                <a:rPr lang="en-AU" altLang="he-IL" sz="2400" b="1">
                  <a:solidFill>
                    <a:srgbClr val="000099"/>
                  </a:solidFill>
                  <a:latin typeface="Times New Roman" pitchFamily="18" charset="0"/>
                </a:rPr>
                <a:t>PCB 2</a:t>
              </a:r>
            </a:p>
          </p:txBody>
        </p:sp>
        <p:sp>
          <p:nvSpPr>
            <p:cNvPr id="20493" name="Line 10"/>
            <p:cNvSpPr>
              <a:spLocks noChangeShapeType="1"/>
            </p:cNvSpPr>
            <p:nvPr/>
          </p:nvSpPr>
          <p:spPr bwMode="auto">
            <a:xfrm flipH="1">
              <a:off x="1344" y="1824"/>
              <a:ext cx="120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4" name="Line 11"/>
            <p:cNvSpPr>
              <a:spLocks noChangeShapeType="1"/>
            </p:cNvSpPr>
            <p:nvPr/>
          </p:nvSpPr>
          <p:spPr bwMode="auto">
            <a:xfrm>
              <a:off x="3312" y="1872"/>
              <a:ext cx="1104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5" name="Line 12"/>
            <p:cNvSpPr>
              <a:spLocks noChangeShapeType="1"/>
            </p:cNvSpPr>
            <p:nvPr/>
          </p:nvSpPr>
          <p:spPr bwMode="auto">
            <a:xfrm>
              <a:off x="1392" y="1056"/>
              <a:ext cx="1536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6" name="Line 13"/>
            <p:cNvSpPr>
              <a:spLocks noChangeShapeType="1"/>
            </p:cNvSpPr>
            <p:nvPr/>
          </p:nvSpPr>
          <p:spPr bwMode="auto">
            <a:xfrm flipH="1">
              <a:off x="3072" y="1008"/>
              <a:ext cx="1344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91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16632"/>
            <a:ext cx="8229600" cy="1296144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he-IL" sz="4000" b="1" i="1" dirty="0" smtClean="0">
                <a:solidFill>
                  <a:srgbClr val="FFFF00"/>
                </a:solidFill>
              </a:rPr>
              <a:t>מצב המעבד וה-</a:t>
            </a:r>
            <a:r>
              <a:rPr lang="en-US" sz="4000" b="1" i="1" dirty="0">
                <a:solidFill>
                  <a:srgbClr val="FFFF00"/>
                </a:solidFill>
              </a:rPr>
              <a:t> PCB</a:t>
            </a:r>
            <a:br>
              <a:rPr lang="en-US" sz="4000" b="1" i="1" dirty="0">
                <a:solidFill>
                  <a:srgbClr val="FFFF00"/>
                </a:solidFill>
              </a:rPr>
            </a:br>
            <a:r>
              <a:rPr lang="en-US" sz="4000" b="1" i="1" dirty="0">
                <a:solidFill>
                  <a:srgbClr val="FFFF00"/>
                </a:solidFill>
              </a:rPr>
              <a:t>Process Control </a:t>
            </a:r>
            <a:r>
              <a:rPr lang="en-US" sz="4000" b="1" i="1" dirty="0" smtClean="0">
                <a:solidFill>
                  <a:srgbClr val="FFFF00"/>
                </a:solidFill>
              </a:rPr>
              <a:t>Block</a:t>
            </a:r>
            <a:endParaRPr lang="en-US" sz="4000" b="1" i="1" dirty="0">
              <a:solidFill>
                <a:srgbClr val="FFFF00"/>
              </a:solidFill>
            </a:endParaRP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 smtClean="0"/>
              <a:t>כאשר תהליך רץ, המצב שלו נמצא במעבד:</a:t>
            </a:r>
          </a:p>
          <a:p>
            <a:pPr lvl="1"/>
            <a:r>
              <a:rPr lang="en-US" b="1" dirty="0" smtClean="0"/>
              <a:t>PC</a:t>
            </a:r>
            <a:r>
              <a:rPr lang="he-IL" b="1" dirty="0" smtClean="0"/>
              <a:t>, </a:t>
            </a:r>
            <a:r>
              <a:rPr lang="en-US" b="1" dirty="0" smtClean="0"/>
              <a:t>SP</a:t>
            </a:r>
            <a:r>
              <a:rPr lang="he-IL" b="1" dirty="0" smtClean="0"/>
              <a:t>, רגיסטרים</a:t>
            </a:r>
          </a:p>
          <a:p>
            <a:pPr lvl="1"/>
            <a:r>
              <a:rPr lang="he-IL" b="1" dirty="0" smtClean="0"/>
              <a:t>רגיסטרים לקביעת גבולות זיכרון</a:t>
            </a:r>
          </a:p>
          <a:p>
            <a:r>
              <a:rPr lang="he-IL" b="1" dirty="0" smtClean="0"/>
              <a:t>כאשר המעבד מפסיק להריץ תהליך (מעבירו למצב המתנה), ערכי הרגיסטרים נשמרים ב-</a:t>
            </a:r>
            <a:r>
              <a:rPr lang="en-US" b="1" dirty="0" smtClean="0"/>
              <a:t>PCB</a:t>
            </a:r>
            <a:r>
              <a:rPr lang="he-IL" b="1" dirty="0" smtClean="0"/>
              <a:t>.</a:t>
            </a:r>
          </a:p>
          <a:p>
            <a:r>
              <a:rPr lang="he-IL" b="1" dirty="0" smtClean="0"/>
              <a:t>כאשר המעבד מחזיר תהליך למצב ריצה, ערכי הרגיסטרים נטענים מחדש מה-</a:t>
            </a:r>
            <a:r>
              <a:rPr lang="en-US" b="1" dirty="0" smtClean="0"/>
              <a:t>PCB</a:t>
            </a:r>
            <a:r>
              <a:rPr lang="he-IL" b="1" dirty="0" smtClean="0"/>
              <a:t>.</a:t>
            </a:r>
          </a:p>
          <a:p>
            <a:pPr>
              <a:buFont typeface="Wingdings" pitchFamily="2" charset="2"/>
              <a:buNone/>
            </a:pPr>
            <a:r>
              <a:rPr lang="en-US" b="1" dirty="0" smtClean="0">
                <a:solidFill>
                  <a:srgbClr val="FFFF00"/>
                </a:solidFill>
              </a:rPr>
              <a:t>Context Switch</a:t>
            </a:r>
            <a:r>
              <a:rPr lang="he-IL" b="1" dirty="0" smtClean="0"/>
              <a:t>: </a:t>
            </a:r>
          </a:p>
          <a:p>
            <a:pPr>
              <a:buFont typeface="Wingdings" pitchFamily="2" charset="2"/>
              <a:buNone/>
            </a:pPr>
            <a:r>
              <a:rPr lang="he-IL" b="1" dirty="0" smtClean="0"/>
              <a:t>מאפשר העברת המעבד מתהליך אחד לשני.</a:t>
            </a:r>
            <a:endParaRPr lang="en-GB" b="1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91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16632"/>
            <a:ext cx="8229600" cy="1296144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he-IL" sz="4000" b="1" i="1" dirty="0" smtClean="0">
                <a:solidFill>
                  <a:srgbClr val="FFFF00"/>
                </a:solidFill>
              </a:rPr>
              <a:t>מצב המעבד וה-</a:t>
            </a:r>
            <a:r>
              <a:rPr lang="en-US" sz="4000" b="1" i="1" dirty="0">
                <a:solidFill>
                  <a:srgbClr val="FFFF00"/>
                </a:solidFill>
              </a:rPr>
              <a:t> PCB</a:t>
            </a:r>
            <a:br>
              <a:rPr lang="en-US" sz="4000" b="1" i="1" dirty="0">
                <a:solidFill>
                  <a:srgbClr val="FFFF00"/>
                </a:solidFill>
              </a:rPr>
            </a:br>
            <a:r>
              <a:rPr lang="en-US" sz="4000" b="1" i="1" dirty="0">
                <a:solidFill>
                  <a:srgbClr val="FFFF00"/>
                </a:solidFill>
              </a:rPr>
              <a:t>Process Control </a:t>
            </a:r>
            <a:r>
              <a:rPr lang="en-US" sz="4000" b="1" i="1" dirty="0" smtClean="0">
                <a:solidFill>
                  <a:srgbClr val="FFFF00"/>
                </a:solidFill>
              </a:rPr>
              <a:t>Block</a:t>
            </a:r>
            <a:endParaRPr lang="en-US" sz="4000" b="1" i="1" dirty="0">
              <a:solidFill>
                <a:srgbClr val="FFFF00"/>
              </a:solidFill>
            </a:endParaRP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 smtClean="0"/>
              <a:t>כאשר תהליך רץ, המצב שלו נמצא במעבד:</a:t>
            </a:r>
          </a:p>
          <a:p>
            <a:pPr lvl="1"/>
            <a:r>
              <a:rPr lang="en-US" b="1" dirty="0" smtClean="0"/>
              <a:t>PC</a:t>
            </a:r>
            <a:r>
              <a:rPr lang="he-IL" b="1" dirty="0" smtClean="0"/>
              <a:t>, </a:t>
            </a:r>
            <a:r>
              <a:rPr lang="en-US" b="1" dirty="0" smtClean="0"/>
              <a:t>SP</a:t>
            </a:r>
            <a:r>
              <a:rPr lang="he-IL" b="1" dirty="0" smtClean="0"/>
              <a:t>, רגיסטרים</a:t>
            </a:r>
          </a:p>
          <a:p>
            <a:pPr lvl="1"/>
            <a:r>
              <a:rPr lang="he-IL" b="1" dirty="0" smtClean="0"/>
              <a:t>רגיסטרים לקביעת גבולות זיכרון</a:t>
            </a:r>
          </a:p>
          <a:p>
            <a:r>
              <a:rPr lang="he-IL" b="1" dirty="0" smtClean="0"/>
              <a:t>כאשר המעבד מפסיק להריץ תהליך (מעבירו למצב המתנה), ערכי הרגיסטרים נשמרים ב-</a:t>
            </a:r>
            <a:r>
              <a:rPr lang="en-US" b="1" dirty="0" smtClean="0"/>
              <a:t>PCB</a:t>
            </a:r>
            <a:r>
              <a:rPr lang="he-IL" b="1" dirty="0" smtClean="0"/>
              <a:t>.</a:t>
            </a:r>
          </a:p>
          <a:p>
            <a:r>
              <a:rPr lang="he-IL" b="1" dirty="0" smtClean="0"/>
              <a:t>כאשר המעבד מחזיר תהליך למצב ריצה, ערכי הרגיסטרים נטענים מחדש מה-</a:t>
            </a:r>
            <a:r>
              <a:rPr lang="en-US" b="1" dirty="0" smtClean="0"/>
              <a:t>PCB</a:t>
            </a:r>
            <a:r>
              <a:rPr lang="he-IL" b="1" dirty="0" smtClean="0"/>
              <a:t>.</a:t>
            </a:r>
          </a:p>
          <a:p>
            <a:pPr>
              <a:buFont typeface="Wingdings" pitchFamily="2" charset="2"/>
              <a:buNone/>
            </a:pPr>
            <a:r>
              <a:rPr lang="en-US" b="1" dirty="0" smtClean="0">
                <a:solidFill>
                  <a:srgbClr val="FFFF00"/>
                </a:solidFill>
              </a:rPr>
              <a:t>Context Switch</a:t>
            </a:r>
            <a:r>
              <a:rPr lang="he-IL" b="1" dirty="0" smtClean="0"/>
              <a:t>: </a:t>
            </a:r>
          </a:p>
          <a:p>
            <a:pPr>
              <a:buFont typeface="Wingdings" pitchFamily="2" charset="2"/>
              <a:buNone/>
            </a:pPr>
            <a:r>
              <a:rPr lang="he-IL" b="1" dirty="0" smtClean="0"/>
              <a:t>מאפשר העברת המעבד מתהליך אחד לשני.</a:t>
            </a:r>
            <a:endParaRPr lang="en-GB" b="1" dirty="0" smtClean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35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85794"/>
            <a:ext cx="8229600" cy="610742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i="1" dirty="0" smtClean="0">
                <a:solidFill>
                  <a:srgbClr val="FFFF00"/>
                </a:solidFill>
              </a:rPr>
              <a:t>מצבי תהליכים</a:t>
            </a:r>
            <a:endParaRPr lang="en-US" altLang="he-IL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70676" name="Footer Placeholder 24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grpSp>
        <p:nvGrpSpPr>
          <p:cNvPr id="3" name="קבוצה 2"/>
          <p:cNvGrpSpPr/>
          <p:nvPr/>
        </p:nvGrpSpPr>
        <p:grpSpPr>
          <a:xfrm>
            <a:off x="714375" y="1549400"/>
            <a:ext cx="7715250" cy="4611688"/>
            <a:chOff x="714375" y="1549400"/>
            <a:chExt cx="7715250" cy="4611688"/>
          </a:xfrm>
        </p:grpSpPr>
        <p:sp>
          <p:nvSpPr>
            <p:cNvPr id="22534" name="Oval 3"/>
            <p:cNvSpPr>
              <a:spLocks noChangeArrowheads="1"/>
            </p:cNvSpPr>
            <p:nvPr/>
          </p:nvSpPr>
          <p:spPr bwMode="auto">
            <a:xfrm>
              <a:off x="2590800" y="2209800"/>
              <a:ext cx="2057400" cy="990600"/>
            </a:xfrm>
            <a:prstGeom prst="ellipse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38100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rtl="0" eaLnBrk="0" hangingPunct="0"/>
              <a:r>
                <a:rPr lang="en-AU" altLang="he-IL" sz="2800" b="1">
                  <a:solidFill>
                    <a:schemeClr val="bg1"/>
                  </a:solidFill>
                  <a:latin typeface="Times New Roman" pitchFamily="18" charset="0"/>
                </a:rPr>
                <a:t>Ready</a:t>
              </a:r>
            </a:p>
          </p:txBody>
        </p:sp>
        <p:sp>
          <p:nvSpPr>
            <p:cNvPr id="22535" name="Oval 4"/>
            <p:cNvSpPr>
              <a:spLocks noChangeArrowheads="1"/>
            </p:cNvSpPr>
            <p:nvPr/>
          </p:nvSpPr>
          <p:spPr bwMode="auto">
            <a:xfrm>
              <a:off x="2438400" y="4495800"/>
              <a:ext cx="2057400" cy="10668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38100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rtl="0" eaLnBrk="0" hangingPunct="0"/>
              <a:r>
                <a:rPr lang="en-AU" altLang="he-IL" sz="2800" b="1">
                  <a:solidFill>
                    <a:schemeClr val="bg1"/>
                  </a:solidFill>
                  <a:latin typeface="Times New Roman" pitchFamily="18" charset="0"/>
                </a:rPr>
                <a:t>Blocked</a:t>
              </a:r>
            </a:p>
          </p:txBody>
        </p:sp>
        <p:grpSp>
          <p:nvGrpSpPr>
            <p:cNvPr id="22536" name="Group 5"/>
            <p:cNvGrpSpPr>
              <a:grpSpLocks/>
            </p:cNvGrpSpPr>
            <p:nvPr/>
          </p:nvGrpSpPr>
          <p:grpSpPr bwMode="auto">
            <a:xfrm>
              <a:off x="6143625" y="2990850"/>
              <a:ext cx="2286000" cy="1295400"/>
              <a:chOff x="3744" y="2064"/>
              <a:chExt cx="1440" cy="1008"/>
            </a:xfrm>
            <a:blipFill>
              <a:blip r:embed="rId4"/>
              <a:tile tx="0" ty="0" sx="100000" sy="100000" flip="none" algn="tl"/>
            </a:blipFill>
          </p:grpSpPr>
          <p:sp>
            <p:nvSpPr>
              <p:cNvPr id="22550" name="Oval 6"/>
              <p:cNvSpPr>
                <a:spLocks noChangeArrowheads="1"/>
              </p:cNvSpPr>
              <p:nvPr/>
            </p:nvSpPr>
            <p:spPr bwMode="auto">
              <a:xfrm>
                <a:off x="3744" y="2064"/>
                <a:ext cx="1152" cy="720"/>
              </a:xfrm>
              <a:prstGeom prst="ellipse">
                <a:avLst/>
              </a:prstGeom>
              <a:grpFill/>
              <a:ln w="38100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rtl="0" eaLnBrk="0" hangingPunct="0">
                  <a:defRPr/>
                </a:pPr>
                <a:r>
                  <a:rPr lang="en-AU" altLang="he-IL" sz="2400" b="1">
                    <a:latin typeface="Times New Roman" pitchFamily="18" charset="0"/>
                  </a:rPr>
                  <a:t>Running</a:t>
                </a:r>
              </a:p>
            </p:txBody>
          </p:sp>
          <p:sp>
            <p:nvSpPr>
              <p:cNvPr id="22551" name="Oval 7"/>
              <p:cNvSpPr>
                <a:spLocks noChangeArrowheads="1"/>
              </p:cNvSpPr>
              <p:nvPr/>
            </p:nvSpPr>
            <p:spPr bwMode="auto">
              <a:xfrm>
                <a:off x="3840" y="2160"/>
                <a:ext cx="1152" cy="720"/>
              </a:xfrm>
              <a:prstGeom prst="ellipse">
                <a:avLst/>
              </a:prstGeom>
              <a:grpFill/>
              <a:ln w="38100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rtl="0" eaLnBrk="0" hangingPunct="0">
                  <a:defRPr/>
                </a:pPr>
                <a:r>
                  <a:rPr lang="en-AU" altLang="he-IL" sz="2400" b="1">
                    <a:latin typeface="Times New Roman" pitchFamily="18" charset="0"/>
                  </a:rPr>
                  <a:t>Running</a:t>
                </a:r>
              </a:p>
            </p:txBody>
          </p:sp>
          <p:sp>
            <p:nvSpPr>
              <p:cNvPr id="22552" name="Oval 8"/>
              <p:cNvSpPr>
                <a:spLocks noChangeArrowheads="1"/>
              </p:cNvSpPr>
              <p:nvPr/>
            </p:nvSpPr>
            <p:spPr bwMode="auto">
              <a:xfrm>
                <a:off x="3936" y="2256"/>
                <a:ext cx="1152" cy="720"/>
              </a:xfrm>
              <a:prstGeom prst="ellipse">
                <a:avLst/>
              </a:prstGeom>
              <a:grpFill/>
              <a:ln w="38100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rtl="0" eaLnBrk="0" hangingPunct="0">
                  <a:defRPr/>
                </a:pPr>
                <a:r>
                  <a:rPr lang="en-AU" altLang="he-IL" sz="2400" b="1">
                    <a:latin typeface="Times New Roman" pitchFamily="18" charset="0"/>
                  </a:rPr>
                  <a:t>Running</a:t>
                </a:r>
              </a:p>
            </p:txBody>
          </p:sp>
          <p:sp>
            <p:nvSpPr>
              <p:cNvPr id="22553" name="Oval 9"/>
              <p:cNvSpPr>
                <a:spLocks noChangeArrowheads="1"/>
              </p:cNvSpPr>
              <p:nvPr/>
            </p:nvSpPr>
            <p:spPr bwMode="auto">
              <a:xfrm>
                <a:off x="4032" y="2352"/>
                <a:ext cx="1152" cy="720"/>
              </a:xfrm>
              <a:prstGeom prst="ellipse">
                <a:avLst/>
              </a:prstGeom>
              <a:grpFill/>
              <a:ln w="38100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rtl="0" eaLnBrk="0" hangingPunct="0">
                  <a:defRPr/>
                </a:pPr>
                <a:r>
                  <a:rPr lang="en-AU" altLang="he-IL" sz="2800" b="1" dirty="0">
                    <a:solidFill>
                      <a:schemeClr val="bg1"/>
                    </a:solidFill>
                    <a:latin typeface="Times New Roman" pitchFamily="18" charset="0"/>
                  </a:rPr>
                  <a:t>Running</a:t>
                </a:r>
              </a:p>
            </p:txBody>
          </p:sp>
        </p:grpSp>
        <p:sp>
          <p:nvSpPr>
            <p:cNvPr id="22537" name="Line 10"/>
            <p:cNvSpPr>
              <a:spLocks noChangeShapeType="1"/>
            </p:cNvSpPr>
            <p:nvPr/>
          </p:nvSpPr>
          <p:spPr bwMode="auto">
            <a:xfrm>
              <a:off x="4648200" y="2895600"/>
              <a:ext cx="1495425" cy="4619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8" name="Line 11"/>
            <p:cNvSpPr>
              <a:spLocks noChangeShapeType="1"/>
            </p:cNvSpPr>
            <p:nvPr/>
          </p:nvSpPr>
          <p:spPr bwMode="auto">
            <a:xfrm flipH="1">
              <a:off x="4343400" y="4038600"/>
              <a:ext cx="2286000" cy="762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9" name="Line 12"/>
            <p:cNvSpPr>
              <a:spLocks noChangeShapeType="1"/>
            </p:cNvSpPr>
            <p:nvPr/>
          </p:nvSpPr>
          <p:spPr bwMode="auto">
            <a:xfrm flipV="1">
              <a:off x="3429000" y="3200400"/>
              <a:ext cx="0" cy="1295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0" name="Line 13"/>
            <p:cNvSpPr>
              <a:spLocks noChangeShapeType="1"/>
            </p:cNvSpPr>
            <p:nvPr/>
          </p:nvSpPr>
          <p:spPr bwMode="auto">
            <a:xfrm>
              <a:off x="7239000" y="4267200"/>
              <a:ext cx="0" cy="1371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1" name="Text Box 14"/>
            <p:cNvSpPr txBox="1">
              <a:spLocks noChangeArrowheads="1"/>
            </p:cNvSpPr>
            <p:nvPr/>
          </p:nvSpPr>
          <p:spPr bwMode="auto">
            <a:xfrm>
              <a:off x="6164263" y="5576888"/>
              <a:ext cx="1901825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algn="ctr" rtl="0"/>
              <a:r>
                <a:rPr lang="en-AU" altLang="he-IL" sz="3200" b="1" i="1">
                  <a:solidFill>
                    <a:srgbClr val="FFFF00"/>
                  </a:solidFill>
                  <a:latin typeface="Times New Roman" pitchFamily="18" charset="0"/>
                </a:rPr>
                <a:t>Terminate</a:t>
              </a:r>
              <a:endParaRPr lang="en-AU" altLang="he-IL" sz="3200" b="1">
                <a:solidFill>
                  <a:srgbClr val="FFFF00"/>
                </a:solidFill>
                <a:latin typeface="Times New Roman" pitchFamily="18" charset="0"/>
              </a:endParaRPr>
            </a:p>
          </p:txBody>
        </p:sp>
        <p:sp>
          <p:nvSpPr>
            <p:cNvPr id="22542" name="Text Box 15"/>
            <p:cNvSpPr txBox="1">
              <a:spLocks noChangeArrowheads="1"/>
            </p:cNvSpPr>
            <p:nvPr/>
          </p:nvSpPr>
          <p:spPr bwMode="auto">
            <a:xfrm>
              <a:off x="714375" y="1928813"/>
              <a:ext cx="1447800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algn="ctr" rtl="0">
                <a:spcBef>
                  <a:spcPct val="50000"/>
                </a:spcBef>
              </a:pPr>
              <a:r>
                <a:rPr lang="en-AU" altLang="he-IL" sz="3200" b="1" i="1">
                  <a:solidFill>
                    <a:srgbClr val="FFFF00"/>
                  </a:solidFill>
                  <a:latin typeface="Times New Roman" pitchFamily="18" charset="0"/>
                </a:rPr>
                <a:t>Create</a:t>
              </a:r>
              <a:endParaRPr lang="en-AU" altLang="he-IL" sz="2800" b="1" i="1">
                <a:solidFill>
                  <a:srgbClr val="FFFF00"/>
                </a:solidFill>
                <a:latin typeface="Times New Roman" pitchFamily="18" charset="0"/>
              </a:endParaRPr>
            </a:p>
          </p:txBody>
        </p:sp>
        <p:sp>
          <p:nvSpPr>
            <p:cNvPr id="22543" name="Line 16"/>
            <p:cNvSpPr>
              <a:spLocks noChangeShapeType="1"/>
            </p:cNvSpPr>
            <p:nvPr/>
          </p:nvSpPr>
          <p:spPr bwMode="auto">
            <a:xfrm>
              <a:off x="1447800" y="2438400"/>
              <a:ext cx="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4" name="Line 17"/>
            <p:cNvSpPr>
              <a:spLocks noChangeShapeType="1"/>
            </p:cNvSpPr>
            <p:nvPr/>
          </p:nvSpPr>
          <p:spPr bwMode="auto">
            <a:xfrm>
              <a:off x="1447800" y="2819400"/>
              <a:ext cx="1143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5" name="Text Box 18"/>
            <p:cNvSpPr txBox="1">
              <a:spLocks noChangeArrowheads="1"/>
            </p:cNvSpPr>
            <p:nvPr/>
          </p:nvSpPr>
          <p:spPr bwMode="auto">
            <a:xfrm>
              <a:off x="4857750" y="4508500"/>
              <a:ext cx="190817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algn="ctr" rtl="0"/>
              <a:r>
                <a:rPr lang="en-AU" altLang="he-IL" sz="2800" b="1" i="1">
                  <a:latin typeface="Times New Roman" pitchFamily="18" charset="0"/>
                </a:rPr>
                <a:t>SUSPEND</a:t>
              </a:r>
              <a:endParaRPr lang="en-AU" altLang="he-IL" sz="2400">
                <a:latin typeface="Times New Roman" pitchFamily="18" charset="0"/>
              </a:endParaRPr>
            </a:p>
          </p:txBody>
        </p:sp>
        <p:sp>
          <p:nvSpPr>
            <p:cNvPr id="22546" name="Text Box 19"/>
            <p:cNvSpPr txBox="1">
              <a:spLocks noChangeArrowheads="1"/>
            </p:cNvSpPr>
            <p:nvPr/>
          </p:nvSpPr>
          <p:spPr bwMode="auto">
            <a:xfrm>
              <a:off x="1263650" y="3654425"/>
              <a:ext cx="215582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algn="ctr" rtl="0"/>
              <a:r>
                <a:rPr lang="en-AU" altLang="he-IL" sz="2800" b="1" i="1">
                  <a:latin typeface="Times New Roman" pitchFamily="18" charset="0"/>
                </a:rPr>
                <a:t>CONTINUE</a:t>
              </a:r>
              <a:endParaRPr lang="en-AU" altLang="he-IL" sz="2400" b="1" i="1">
                <a:latin typeface="Times New Roman" pitchFamily="18" charset="0"/>
              </a:endParaRPr>
            </a:p>
          </p:txBody>
        </p:sp>
        <p:sp>
          <p:nvSpPr>
            <p:cNvPr id="22547" name="Text Box 20"/>
            <p:cNvSpPr txBox="1">
              <a:spLocks noChangeArrowheads="1"/>
            </p:cNvSpPr>
            <p:nvPr/>
          </p:nvSpPr>
          <p:spPr bwMode="auto">
            <a:xfrm>
              <a:off x="3713163" y="3505200"/>
              <a:ext cx="228917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algn="ctr" rtl="0">
                <a:spcBef>
                  <a:spcPct val="50000"/>
                </a:spcBef>
              </a:pPr>
              <a:r>
                <a:rPr lang="en-AU" altLang="he-IL" sz="2800" b="1" i="1">
                  <a:latin typeface="Times New Roman" pitchFamily="18" charset="0"/>
                </a:rPr>
                <a:t>SCHEDULE</a:t>
              </a:r>
            </a:p>
          </p:txBody>
        </p:sp>
        <p:sp>
          <p:nvSpPr>
            <p:cNvPr id="22548" name="Text Box 21"/>
            <p:cNvSpPr txBox="1">
              <a:spLocks noChangeArrowheads="1"/>
            </p:cNvSpPr>
            <p:nvPr/>
          </p:nvSpPr>
          <p:spPr bwMode="auto">
            <a:xfrm>
              <a:off x="5257800" y="1549400"/>
              <a:ext cx="18796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algn="l" rtl="0"/>
              <a:r>
                <a:rPr lang="en-AU" altLang="he-IL" sz="2800" b="1" i="1">
                  <a:solidFill>
                    <a:srgbClr val="FFFF00"/>
                  </a:solidFill>
                  <a:latin typeface="Times New Roman" pitchFamily="18" charset="0"/>
                </a:rPr>
                <a:t>PREEMPT</a:t>
              </a:r>
            </a:p>
          </p:txBody>
        </p:sp>
        <p:sp>
          <p:nvSpPr>
            <p:cNvPr id="22549" name="Freeform 22"/>
            <p:cNvSpPr>
              <a:spLocks/>
            </p:cNvSpPr>
            <p:nvPr/>
          </p:nvSpPr>
          <p:spPr bwMode="auto">
            <a:xfrm>
              <a:off x="4629150" y="2079625"/>
              <a:ext cx="2085975" cy="920750"/>
            </a:xfrm>
            <a:custGeom>
              <a:avLst/>
              <a:gdLst>
                <a:gd name="T0" fmla="*/ 0 w 1320"/>
                <a:gd name="T1" fmla="*/ 2147483647 h 550"/>
                <a:gd name="T2" fmla="*/ 2147483647 w 1320"/>
                <a:gd name="T3" fmla="*/ 2147483647 h 550"/>
                <a:gd name="T4" fmla="*/ 2147483647 w 1320"/>
                <a:gd name="T5" fmla="*/ 2147483647 h 550"/>
                <a:gd name="T6" fmla="*/ 0 60000 65536"/>
                <a:gd name="T7" fmla="*/ 0 60000 65536"/>
                <a:gd name="T8" fmla="*/ 0 60000 65536"/>
                <a:gd name="T9" fmla="*/ 0 w 1320"/>
                <a:gd name="T10" fmla="*/ 0 h 550"/>
                <a:gd name="T11" fmla="*/ 1320 w 1320"/>
                <a:gd name="T12" fmla="*/ 550 h 5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20" h="550">
                  <a:moveTo>
                    <a:pt x="0" y="346"/>
                  </a:moveTo>
                  <a:cubicBezTo>
                    <a:pt x="120" y="294"/>
                    <a:pt x="488" y="0"/>
                    <a:pt x="708" y="34"/>
                  </a:cubicBezTo>
                  <a:cubicBezTo>
                    <a:pt x="928" y="68"/>
                    <a:pt x="1192" y="442"/>
                    <a:pt x="1320" y="55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14356"/>
            <a:ext cx="8229600" cy="682180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i="1" dirty="0" smtClean="0">
                <a:solidFill>
                  <a:srgbClr val="FFFF00"/>
                </a:solidFill>
              </a:rPr>
              <a:t>מצבי תהליכים</a:t>
            </a:r>
            <a:endParaRPr lang="en-US" altLang="he-IL" sz="4000" dirty="0" smtClean="0">
              <a:solidFill>
                <a:srgbClr val="FFFF00"/>
              </a:solidFill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011238" y="1898650"/>
            <a:ext cx="7556500" cy="3687763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he-IL" altLang="en-AU" sz="2800" b="1" dirty="0" smtClean="0"/>
              <a:t> </a:t>
            </a:r>
            <a:r>
              <a:rPr lang="he-IL" altLang="en-AU" sz="2800" b="1" dirty="0" smtClean="0">
                <a:solidFill>
                  <a:srgbClr val="FFFF00"/>
                </a:solidFill>
              </a:rPr>
              <a:t>יצירה </a:t>
            </a:r>
            <a:r>
              <a:rPr lang="en-AU" altLang="en-US" sz="2800" b="1" dirty="0" smtClean="0">
                <a:solidFill>
                  <a:srgbClr val="FFFF00"/>
                </a:solidFill>
              </a:rPr>
              <a:t>Create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he-IL" altLang="he-IL" sz="2800" b="1" dirty="0" smtClean="0"/>
              <a:t>    </a:t>
            </a:r>
            <a:r>
              <a:rPr lang="he-IL" altLang="en-AU" sz="2800" b="1" dirty="0" smtClean="0"/>
              <a:t>תהליך חדש נוצר ע”י תהליך קיים, (</a:t>
            </a:r>
            <a:r>
              <a:rPr lang="he-IL" altLang="en-AU" sz="2800" b="1" dirty="0" err="1" smtClean="0"/>
              <a:t>אב,בן</a:t>
            </a:r>
            <a:r>
              <a:rPr lang="he-IL" altLang="en-AU" sz="2800" b="1" dirty="0" smtClean="0"/>
              <a:t>), תהליך נוצר ע”י קריאת שירות של המערכת, או כעבודת אצווה או כעבודה אינטראקטיבית</a:t>
            </a:r>
            <a:endParaRPr lang="en-US" altLang="en-AU" sz="2800" b="1" dirty="0" smtClean="0"/>
          </a:p>
          <a:p>
            <a:pPr algn="just" eaLnBrk="1" hangingPunct="1">
              <a:lnSpc>
                <a:spcPct val="90000"/>
              </a:lnSpc>
            </a:pPr>
            <a:r>
              <a:rPr lang="he-IL" altLang="en-AU" sz="2800" b="1" dirty="0" smtClean="0"/>
              <a:t> </a:t>
            </a:r>
            <a:r>
              <a:rPr lang="he-IL" altLang="en-AU" sz="2800" b="1" dirty="0" smtClean="0">
                <a:solidFill>
                  <a:srgbClr val="FFFF00"/>
                </a:solidFill>
              </a:rPr>
              <a:t>הפסקת תהליך </a:t>
            </a:r>
            <a:r>
              <a:rPr lang="en-AU" altLang="he-IL" sz="2800" b="1" dirty="0" smtClean="0">
                <a:solidFill>
                  <a:srgbClr val="FFFF00"/>
                </a:solidFill>
              </a:rPr>
              <a:t>Terminate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he-IL" altLang="en-AU" sz="2800" b="1" dirty="0" smtClean="0"/>
              <a:t>  השלמה והפסקה נורמלית, השלמה והפסקה חיצונית, הפסקת פעילות מוכתבת מבחוץ, השלמה והפסקה פנימית כתוצאה משגיאה, גלישה מזמן עיבוד וכדומה </a:t>
            </a:r>
            <a:endParaRPr lang="en-US" altLang="he-IL" sz="2800" b="1" dirty="0" smtClean="0"/>
          </a:p>
        </p:txBody>
      </p:sp>
      <p:sp>
        <p:nvSpPr>
          <p:cNvPr id="71685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85794"/>
            <a:ext cx="8229600" cy="610742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i="1" dirty="0" smtClean="0">
                <a:solidFill>
                  <a:srgbClr val="FFFF00"/>
                </a:solidFill>
              </a:rPr>
              <a:t>מצבי תהליכים</a:t>
            </a:r>
            <a:endParaRPr lang="en-US" altLang="he-IL" sz="4000" dirty="0" smtClean="0">
              <a:solidFill>
                <a:srgbClr val="FFFF00"/>
              </a:solidFill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827213"/>
            <a:ext cx="7956550" cy="4102100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</a:pPr>
            <a:r>
              <a:rPr lang="he-IL" altLang="en-AU" b="1" smtClean="0"/>
              <a:t>  </a:t>
            </a:r>
            <a:r>
              <a:rPr lang="he-IL" altLang="en-AU" b="1" smtClean="0">
                <a:solidFill>
                  <a:srgbClr val="FFFF00"/>
                </a:solidFill>
              </a:rPr>
              <a:t>מתזמן </a:t>
            </a:r>
            <a:r>
              <a:rPr lang="en-AU" altLang="he-IL" b="1" smtClean="0">
                <a:solidFill>
                  <a:srgbClr val="FFFF00"/>
                </a:solidFill>
              </a:rPr>
              <a:t>Schedule</a:t>
            </a:r>
            <a:endParaRPr lang="en-AU" altLang="en-AU" b="1" smtClean="0">
              <a:solidFill>
                <a:srgbClr val="FFFF00"/>
              </a:solidFill>
            </a:endParaRPr>
          </a:p>
          <a:p>
            <a:pPr algn="just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he-IL" altLang="en-AU" b="1" smtClean="0"/>
              <a:t>    תהליך נבחר לביצוע ע”י מוכנות תור לריצה, הוא מתוזמן ומועבר למצב ריצה</a:t>
            </a:r>
            <a:r>
              <a:rPr lang="he-IL" altLang="he-IL" b="1" smtClean="0"/>
              <a:t> </a:t>
            </a:r>
            <a:endParaRPr lang="en-US" altLang="he-IL" b="1" smtClean="0"/>
          </a:p>
          <a:p>
            <a:pPr algn="just" eaLnBrk="1" hangingPunct="1">
              <a:lnSpc>
                <a:spcPct val="110000"/>
              </a:lnSpc>
            </a:pPr>
            <a:r>
              <a:rPr lang="he-IL" altLang="he-IL" b="1" smtClean="0"/>
              <a:t> </a:t>
            </a:r>
            <a:r>
              <a:rPr lang="he-IL" altLang="en-AU" b="1" smtClean="0">
                <a:solidFill>
                  <a:srgbClr val="FFFF00"/>
                </a:solidFill>
              </a:rPr>
              <a:t>תפיסת מקום </a:t>
            </a:r>
            <a:r>
              <a:rPr lang="en-AU" altLang="he-IL" b="1" smtClean="0">
                <a:solidFill>
                  <a:srgbClr val="FFFF00"/>
                </a:solidFill>
              </a:rPr>
              <a:t>Preempt</a:t>
            </a:r>
          </a:p>
          <a:p>
            <a:pPr algn="just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he-IL" altLang="en-AU" b="1" smtClean="0"/>
              <a:t>  	התהליך תופס את מקומו כיוון שלתהליכים אחרים יש עדיפות גבוהה יותר ממנו ומכיוון שהם עברו למצב מוכן</a:t>
            </a:r>
            <a:endParaRPr lang="en-US" altLang="he-IL" b="1" smtClean="0"/>
          </a:p>
        </p:txBody>
      </p:sp>
      <p:sp>
        <p:nvSpPr>
          <p:cNvPr id="72709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85794"/>
            <a:ext cx="8229600" cy="610742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he-IL" sz="4000" b="1" i="1" dirty="0" smtClean="0">
                <a:solidFill>
                  <a:srgbClr val="FFFF00"/>
                </a:solidFill>
              </a:rPr>
              <a:t>מצבי תהליכים</a:t>
            </a:r>
            <a:endParaRPr lang="en-US" altLang="en-AU" sz="4000" dirty="0" smtClean="0">
              <a:solidFill>
                <a:srgbClr val="FFFF00"/>
              </a:solidFill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285750" y="1585913"/>
            <a:ext cx="8439150" cy="4343400"/>
          </a:xfrm>
        </p:spPr>
        <p:txBody>
          <a:bodyPr/>
          <a:lstStyle/>
          <a:p>
            <a:pPr algn="justLow" eaLnBrk="1" hangingPunct="1"/>
            <a:r>
              <a:rPr lang="he-IL" altLang="en-AU" b="1" smtClean="0"/>
              <a:t> </a:t>
            </a:r>
            <a:r>
              <a:rPr lang="he-IL" altLang="en-AU" b="1" smtClean="0">
                <a:solidFill>
                  <a:srgbClr val="FFFF00"/>
                </a:solidFill>
              </a:rPr>
              <a:t>תהליך מושהה </a:t>
            </a:r>
            <a:r>
              <a:rPr lang="en-AU" altLang="he-IL" b="1" smtClean="0">
                <a:solidFill>
                  <a:srgbClr val="FFFF00"/>
                </a:solidFill>
              </a:rPr>
              <a:t>Suspend</a:t>
            </a:r>
            <a:endParaRPr lang="en-AU" altLang="en-AU" b="1" smtClean="0">
              <a:solidFill>
                <a:srgbClr val="FFFF00"/>
              </a:solidFill>
            </a:endParaRPr>
          </a:p>
          <a:p>
            <a:pPr algn="justLow" eaLnBrk="1" hangingPunct="1">
              <a:buFont typeface="Wingdings" pitchFamily="2" charset="2"/>
              <a:buNone/>
            </a:pPr>
            <a:r>
              <a:rPr lang="he-IL" altLang="en-AU" b="1" smtClean="0"/>
              <a:t>תהליך מתחיל לאחר פקודת קלט פלט של המשתמש, או</a:t>
            </a:r>
          </a:p>
          <a:p>
            <a:pPr algn="justLow" eaLnBrk="1" hangingPunct="1">
              <a:buFont typeface="Wingdings" pitchFamily="2" charset="2"/>
              <a:buNone/>
            </a:pPr>
            <a:r>
              <a:rPr lang="he-IL" altLang="en-AU" b="1" smtClean="0"/>
              <a:t>שהתהליך מנותב החוצה מהמעבד או לחילופין מבקש</a:t>
            </a:r>
          </a:p>
          <a:p>
            <a:pPr algn="justLow" eaLnBrk="1" hangingPunct="1">
              <a:buFont typeface="Wingdings" pitchFamily="2" charset="2"/>
              <a:buNone/>
            </a:pPr>
            <a:r>
              <a:rPr lang="he-IL" altLang="en-AU" b="1" smtClean="0"/>
              <a:t>להיכנס לתרדמה, או שהוא ננעל בעת פעולה סינכרונית.</a:t>
            </a:r>
          </a:p>
          <a:p>
            <a:pPr algn="justLow" eaLnBrk="1" hangingPunct="1">
              <a:buFont typeface="Wingdings" pitchFamily="2" charset="2"/>
              <a:buNone/>
            </a:pPr>
            <a:r>
              <a:rPr lang="he-IL" altLang="en-AU" b="1" smtClean="0"/>
              <a:t>כאשר התהליך מושהה, זה לאחר שמוקם בתור, אותו </a:t>
            </a:r>
          </a:p>
          <a:p>
            <a:pPr algn="justLow" eaLnBrk="1" hangingPunct="1">
              <a:buFont typeface="Wingdings" pitchFamily="2" charset="2"/>
              <a:buNone/>
            </a:pPr>
            <a:r>
              <a:rPr lang="he-IL" altLang="en-AU" b="1" smtClean="0"/>
              <a:t>תור אשר מתזמן את שאר התהליכים הממתינים לאותו </a:t>
            </a:r>
          </a:p>
          <a:p>
            <a:pPr algn="justLow" eaLnBrk="1" hangingPunct="1">
              <a:buFont typeface="Wingdings" pitchFamily="2" charset="2"/>
              <a:buNone/>
            </a:pPr>
            <a:r>
              <a:rPr lang="he-IL" altLang="en-AU" b="1" smtClean="0"/>
              <a:t>משאב מחשב.</a:t>
            </a:r>
            <a:endParaRPr lang="en-US" altLang="en-AU" b="1" smtClean="0"/>
          </a:p>
          <a:p>
            <a:pPr algn="justLow" eaLnBrk="1" hangingPunct="1">
              <a:buFont typeface="Wingdings" pitchFamily="2" charset="2"/>
              <a:buNone/>
            </a:pPr>
            <a:r>
              <a:rPr lang="he-IL" altLang="en-AU" b="1" smtClean="0"/>
              <a:t>תהליכים, תוך כדי מחזור החיים שלהם, נעים בין תור</a:t>
            </a:r>
          </a:p>
          <a:p>
            <a:pPr algn="justLow" eaLnBrk="1" hangingPunct="1">
              <a:buFont typeface="Wingdings" pitchFamily="2" charset="2"/>
              <a:buNone/>
            </a:pPr>
            <a:r>
              <a:rPr lang="he-IL" altLang="en-AU" b="1" smtClean="0"/>
              <a:t> לתור, כשבכל תור, בין התורים, הם במצב עצירה.</a:t>
            </a:r>
            <a:endParaRPr lang="en-US" altLang="en-AU" b="1" smtClean="0"/>
          </a:p>
        </p:txBody>
      </p:sp>
      <p:sp>
        <p:nvSpPr>
          <p:cNvPr id="73733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85794"/>
            <a:ext cx="8229600" cy="610742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he-IL" sz="4000" b="1" i="1" dirty="0" smtClean="0">
                <a:solidFill>
                  <a:srgbClr val="FFFF00"/>
                </a:solidFill>
              </a:rPr>
              <a:t>מצבי תהליכים</a:t>
            </a:r>
            <a:endParaRPr lang="en-US" altLang="en-AU" sz="4000" dirty="0" smtClean="0">
              <a:solidFill>
                <a:srgbClr val="FFFF00"/>
              </a:solidFill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898650"/>
            <a:ext cx="8027988" cy="3254375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</a:pPr>
            <a:r>
              <a:rPr lang="he-IL" altLang="en-AU" b="1" smtClean="0">
                <a:solidFill>
                  <a:srgbClr val="000099"/>
                </a:solidFill>
              </a:rPr>
              <a:t> </a:t>
            </a:r>
            <a:r>
              <a:rPr lang="he-IL" altLang="en-AU" b="1" smtClean="0">
                <a:solidFill>
                  <a:srgbClr val="FFFF00"/>
                </a:solidFill>
              </a:rPr>
              <a:t>המשכיות </a:t>
            </a:r>
            <a:r>
              <a:rPr lang="en-AU" altLang="he-IL" b="1" smtClean="0">
                <a:solidFill>
                  <a:srgbClr val="FFFF00"/>
                </a:solidFill>
              </a:rPr>
              <a:t>Continue</a:t>
            </a:r>
          </a:p>
          <a:p>
            <a:pPr algn="just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he-IL" altLang="en-AU" b="1" smtClean="0"/>
              <a:t>ההפך מתהליך ההשהיה ועצירה זמנית, המשאב</a:t>
            </a:r>
          </a:p>
          <a:p>
            <a:pPr algn="just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he-IL" altLang="en-AU" b="1" smtClean="0"/>
              <a:t>המבוקש חופשי (מונה זמנים פנוי לעיבוד, השימוש </a:t>
            </a:r>
          </a:p>
          <a:p>
            <a:pPr algn="just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he-IL" altLang="en-AU" b="1" smtClean="0"/>
              <a:t>ביחידות קלט/פלט הושלם, נוצר מצב של שחרור ושל </a:t>
            </a:r>
          </a:p>
          <a:p>
            <a:pPr algn="just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he-IL" altLang="en-AU" b="1" smtClean="0"/>
              <a:t>ביטול חסימות להמשך ריצת התהליך)</a:t>
            </a:r>
            <a:endParaRPr lang="en-US" altLang="en-AU" b="1" smtClean="0"/>
          </a:p>
          <a:p>
            <a:pPr algn="just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he-IL" b="1" smtClean="0"/>
              <a:t> </a:t>
            </a:r>
          </a:p>
        </p:txBody>
      </p:sp>
      <p:sp>
        <p:nvSpPr>
          <p:cNvPr id="74757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14366" y="714364"/>
            <a:ext cx="8229600" cy="714372"/>
          </a:xfrm>
        </p:spPr>
        <p:txBody>
          <a:bodyPr lIns="90488" tIns="44450" rIns="90488" bIns="44450" anchor="ctr"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US" sz="4000" b="1" i="1" dirty="0" smtClean="0">
                <a:solidFill>
                  <a:srgbClr val="FFFF00"/>
                </a:solidFill>
              </a:rPr>
              <a:t>יצירת תהליכים </a:t>
            </a:r>
            <a:r>
              <a:rPr lang="he-IL" altLang="en-US" sz="4000" b="1" i="1" dirty="0">
                <a:solidFill>
                  <a:srgbClr val="FFFF00"/>
                </a:solidFill>
              </a:rPr>
              <a:t>חדשים </a:t>
            </a:r>
            <a:endParaRPr lang="en-US" altLang="en-AU" sz="4000" b="1" i="1" dirty="0">
              <a:solidFill>
                <a:srgbClr val="FFFF00"/>
              </a:solidFill>
            </a:endParaRPr>
          </a:p>
        </p:txBody>
      </p:sp>
      <p:sp>
        <p:nvSpPr>
          <p:cNvPr id="130051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001000" cy="4030663"/>
          </a:xfrm>
        </p:spPr>
        <p:txBody>
          <a:bodyPr lIns="90488" tIns="44450" rIns="90488" bIns="44450"/>
          <a:lstStyle/>
          <a:p>
            <a:pPr algn="just" eaLnBrk="1" hangingPunct="1">
              <a:lnSpc>
                <a:spcPct val="90000"/>
              </a:lnSpc>
            </a:pPr>
            <a:r>
              <a:rPr lang="he-IL" altLang="en-AU" b="1" smtClean="0">
                <a:solidFill>
                  <a:srgbClr val="FFFF00"/>
                </a:solidFill>
              </a:rPr>
              <a:t> הסתעפות </a:t>
            </a:r>
            <a:r>
              <a:rPr lang="en-AU" altLang="he-IL" b="1" smtClean="0">
                <a:solidFill>
                  <a:srgbClr val="FFFF00"/>
                </a:solidFill>
              </a:rPr>
              <a:t>Fork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he-IL" altLang="he-IL" b="1" smtClean="0"/>
              <a:t>    יצירת תהליך חדש שהוא העתק של זה הרץ כעת</a:t>
            </a:r>
            <a:endParaRPr lang="en-US" altLang="en-AU" b="1" smtClean="0"/>
          </a:p>
          <a:p>
            <a:pPr algn="just" eaLnBrk="1" hangingPunct="1">
              <a:lnSpc>
                <a:spcPct val="90000"/>
              </a:lnSpc>
            </a:pPr>
            <a:r>
              <a:rPr lang="he-IL" altLang="en-AU" b="1" smtClean="0">
                <a:solidFill>
                  <a:srgbClr val="000099"/>
                </a:solidFill>
              </a:rPr>
              <a:t> </a:t>
            </a:r>
            <a:r>
              <a:rPr lang="he-IL" altLang="en-AU" b="1" smtClean="0">
                <a:solidFill>
                  <a:srgbClr val="FFFF00"/>
                </a:solidFill>
              </a:rPr>
              <a:t>ביצוע </a:t>
            </a:r>
            <a:r>
              <a:rPr lang="en-AU" altLang="he-IL" b="1" smtClean="0">
                <a:solidFill>
                  <a:srgbClr val="FFFF00"/>
                </a:solidFill>
              </a:rPr>
              <a:t>Exec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he-IL" altLang="en-AU" b="1" smtClean="0"/>
              <a:t>    שינוי התוכנית אשר התהליך אחראי על ביצועה</a:t>
            </a:r>
            <a:endParaRPr lang="en-US" altLang="he-IL" b="1" smtClean="0"/>
          </a:p>
          <a:p>
            <a:pPr algn="just" eaLnBrk="1" hangingPunct="1">
              <a:lnSpc>
                <a:spcPct val="90000"/>
              </a:lnSpc>
            </a:pPr>
            <a:r>
              <a:rPr lang="he-IL" altLang="en-AU" b="1" smtClean="0"/>
              <a:t>חלק נכבד ממערכות ההפעלה כיום משלבות בין שתי השיטות ויוצרות שיטה אחת של ביצוע והסתעפות  בעת ובעונה אחת.</a:t>
            </a:r>
            <a:endParaRPr lang="en-US" altLang="en-AU" b="1" smtClean="0"/>
          </a:p>
        </p:txBody>
      </p:sp>
      <p:sp>
        <p:nvSpPr>
          <p:cNvPr id="75781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1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85794"/>
            <a:ext cx="8229600" cy="610742"/>
          </a:xfrm>
        </p:spPr>
        <p:txBody>
          <a:bodyPr>
            <a:noAutofit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he-IL" altLang="en-AU" sz="4000" b="1" i="1" dirty="0" smtClean="0">
                <a:solidFill>
                  <a:srgbClr val="FFFF00"/>
                </a:solidFill>
              </a:rPr>
              <a:t>מצבי תהליכים</a:t>
            </a:r>
            <a:endParaRPr lang="en-US" altLang="he-IL" sz="4000" b="1" i="1" dirty="0" smtClean="0">
              <a:solidFill>
                <a:srgbClr val="FFFF00"/>
              </a:solidFill>
            </a:endParaRPr>
          </a:p>
        </p:txBody>
      </p:sp>
      <p:sp>
        <p:nvSpPr>
          <p:cNvPr id="70676" name="Footer Placeholder 24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grpSp>
        <p:nvGrpSpPr>
          <p:cNvPr id="3" name="קבוצה 2"/>
          <p:cNvGrpSpPr/>
          <p:nvPr/>
        </p:nvGrpSpPr>
        <p:grpSpPr>
          <a:xfrm>
            <a:off x="714375" y="1549400"/>
            <a:ext cx="7715250" cy="4611688"/>
            <a:chOff x="714375" y="1549400"/>
            <a:chExt cx="7715250" cy="4611688"/>
          </a:xfrm>
        </p:grpSpPr>
        <p:sp>
          <p:nvSpPr>
            <p:cNvPr id="22534" name="Oval 3"/>
            <p:cNvSpPr>
              <a:spLocks noChangeArrowheads="1"/>
            </p:cNvSpPr>
            <p:nvPr/>
          </p:nvSpPr>
          <p:spPr bwMode="auto">
            <a:xfrm>
              <a:off x="2590800" y="2209800"/>
              <a:ext cx="2057400" cy="990600"/>
            </a:xfrm>
            <a:prstGeom prst="ellipse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38100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rtl="0" eaLnBrk="0" hangingPunct="0"/>
              <a:r>
                <a:rPr lang="en-AU" altLang="he-IL" sz="2800" b="1">
                  <a:solidFill>
                    <a:schemeClr val="bg1"/>
                  </a:solidFill>
                  <a:latin typeface="Times New Roman" pitchFamily="18" charset="0"/>
                </a:rPr>
                <a:t>Ready</a:t>
              </a:r>
            </a:p>
          </p:txBody>
        </p:sp>
        <p:sp>
          <p:nvSpPr>
            <p:cNvPr id="22535" name="Oval 4"/>
            <p:cNvSpPr>
              <a:spLocks noChangeArrowheads="1"/>
            </p:cNvSpPr>
            <p:nvPr/>
          </p:nvSpPr>
          <p:spPr bwMode="auto">
            <a:xfrm>
              <a:off x="2438400" y="4495800"/>
              <a:ext cx="2057400" cy="10668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38100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rtl="0" eaLnBrk="0" hangingPunct="0"/>
              <a:r>
                <a:rPr lang="en-AU" altLang="he-IL" sz="2800" b="1">
                  <a:solidFill>
                    <a:schemeClr val="bg1"/>
                  </a:solidFill>
                  <a:latin typeface="Times New Roman" pitchFamily="18" charset="0"/>
                </a:rPr>
                <a:t>Blocked</a:t>
              </a:r>
            </a:p>
          </p:txBody>
        </p:sp>
        <p:grpSp>
          <p:nvGrpSpPr>
            <p:cNvPr id="22536" name="Group 5"/>
            <p:cNvGrpSpPr>
              <a:grpSpLocks/>
            </p:cNvGrpSpPr>
            <p:nvPr/>
          </p:nvGrpSpPr>
          <p:grpSpPr bwMode="auto">
            <a:xfrm>
              <a:off x="6143625" y="2990850"/>
              <a:ext cx="2286000" cy="1295400"/>
              <a:chOff x="3744" y="2064"/>
              <a:chExt cx="1440" cy="1008"/>
            </a:xfrm>
            <a:blipFill>
              <a:blip r:embed="rId4"/>
              <a:tile tx="0" ty="0" sx="100000" sy="100000" flip="none" algn="tl"/>
            </a:blipFill>
          </p:grpSpPr>
          <p:sp>
            <p:nvSpPr>
              <p:cNvPr id="22550" name="Oval 6"/>
              <p:cNvSpPr>
                <a:spLocks noChangeArrowheads="1"/>
              </p:cNvSpPr>
              <p:nvPr/>
            </p:nvSpPr>
            <p:spPr bwMode="auto">
              <a:xfrm>
                <a:off x="3744" y="2064"/>
                <a:ext cx="1152" cy="720"/>
              </a:xfrm>
              <a:prstGeom prst="ellipse">
                <a:avLst/>
              </a:prstGeom>
              <a:grpFill/>
              <a:ln w="38100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rtl="0" eaLnBrk="0" hangingPunct="0">
                  <a:defRPr/>
                </a:pPr>
                <a:r>
                  <a:rPr lang="en-AU" altLang="he-IL" sz="2400" b="1">
                    <a:latin typeface="Times New Roman" pitchFamily="18" charset="0"/>
                  </a:rPr>
                  <a:t>Running</a:t>
                </a:r>
              </a:p>
            </p:txBody>
          </p:sp>
          <p:sp>
            <p:nvSpPr>
              <p:cNvPr id="22551" name="Oval 7"/>
              <p:cNvSpPr>
                <a:spLocks noChangeArrowheads="1"/>
              </p:cNvSpPr>
              <p:nvPr/>
            </p:nvSpPr>
            <p:spPr bwMode="auto">
              <a:xfrm>
                <a:off x="3840" y="2160"/>
                <a:ext cx="1152" cy="720"/>
              </a:xfrm>
              <a:prstGeom prst="ellipse">
                <a:avLst/>
              </a:prstGeom>
              <a:grpFill/>
              <a:ln w="38100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rtl="0" eaLnBrk="0" hangingPunct="0">
                  <a:defRPr/>
                </a:pPr>
                <a:r>
                  <a:rPr lang="en-AU" altLang="he-IL" sz="2400" b="1">
                    <a:latin typeface="Times New Roman" pitchFamily="18" charset="0"/>
                  </a:rPr>
                  <a:t>Running</a:t>
                </a:r>
              </a:p>
            </p:txBody>
          </p:sp>
          <p:sp>
            <p:nvSpPr>
              <p:cNvPr id="22552" name="Oval 8"/>
              <p:cNvSpPr>
                <a:spLocks noChangeArrowheads="1"/>
              </p:cNvSpPr>
              <p:nvPr/>
            </p:nvSpPr>
            <p:spPr bwMode="auto">
              <a:xfrm>
                <a:off x="3936" y="2256"/>
                <a:ext cx="1152" cy="720"/>
              </a:xfrm>
              <a:prstGeom prst="ellipse">
                <a:avLst/>
              </a:prstGeom>
              <a:grpFill/>
              <a:ln w="38100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rtl="0" eaLnBrk="0" hangingPunct="0">
                  <a:defRPr/>
                </a:pPr>
                <a:r>
                  <a:rPr lang="en-AU" altLang="he-IL" sz="2400" b="1">
                    <a:latin typeface="Times New Roman" pitchFamily="18" charset="0"/>
                  </a:rPr>
                  <a:t>Running</a:t>
                </a:r>
              </a:p>
            </p:txBody>
          </p:sp>
          <p:sp>
            <p:nvSpPr>
              <p:cNvPr id="22553" name="Oval 9"/>
              <p:cNvSpPr>
                <a:spLocks noChangeArrowheads="1"/>
              </p:cNvSpPr>
              <p:nvPr/>
            </p:nvSpPr>
            <p:spPr bwMode="auto">
              <a:xfrm>
                <a:off x="4032" y="2352"/>
                <a:ext cx="1152" cy="720"/>
              </a:xfrm>
              <a:prstGeom prst="ellipse">
                <a:avLst/>
              </a:prstGeom>
              <a:grpFill/>
              <a:ln w="38100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rtl="0" eaLnBrk="0" hangingPunct="0">
                  <a:defRPr/>
                </a:pPr>
                <a:r>
                  <a:rPr lang="en-AU" altLang="he-IL" sz="2800" b="1" dirty="0">
                    <a:solidFill>
                      <a:schemeClr val="bg1"/>
                    </a:solidFill>
                    <a:latin typeface="Times New Roman" pitchFamily="18" charset="0"/>
                  </a:rPr>
                  <a:t>Running</a:t>
                </a:r>
              </a:p>
            </p:txBody>
          </p:sp>
        </p:grpSp>
        <p:sp>
          <p:nvSpPr>
            <p:cNvPr id="22537" name="Line 10"/>
            <p:cNvSpPr>
              <a:spLocks noChangeShapeType="1"/>
            </p:cNvSpPr>
            <p:nvPr/>
          </p:nvSpPr>
          <p:spPr bwMode="auto">
            <a:xfrm>
              <a:off x="4648200" y="2895600"/>
              <a:ext cx="1495425" cy="4619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8" name="Line 11"/>
            <p:cNvSpPr>
              <a:spLocks noChangeShapeType="1"/>
            </p:cNvSpPr>
            <p:nvPr/>
          </p:nvSpPr>
          <p:spPr bwMode="auto">
            <a:xfrm flipH="1">
              <a:off x="4343400" y="4038600"/>
              <a:ext cx="2286000" cy="762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9" name="Line 12"/>
            <p:cNvSpPr>
              <a:spLocks noChangeShapeType="1"/>
            </p:cNvSpPr>
            <p:nvPr/>
          </p:nvSpPr>
          <p:spPr bwMode="auto">
            <a:xfrm flipV="1">
              <a:off x="3429000" y="3200400"/>
              <a:ext cx="0" cy="1295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0" name="Line 13"/>
            <p:cNvSpPr>
              <a:spLocks noChangeShapeType="1"/>
            </p:cNvSpPr>
            <p:nvPr/>
          </p:nvSpPr>
          <p:spPr bwMode="auto">
            <a:xfrm>
              <a:off x="7239000" y="4267200"/>
              <a:ext cx="0" cy="1371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1" name="Text Box 14"/>
            <p:cNvSpPr txBox="1">
              <a:spLocks noChangeArrowheads="1"/>
            </p:cNvSpPr>
            <p:nvPr/>
          </p:nvSpPr>
          <p:spPr bwMode="auto">
            <a:xfrm>
              <a:off x="6164263" y="5576888"/>
              <a:ext cx="1901825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algn="ctr" rtl="0"/>
              <a:r>
                <a:rPr lang="en-AU" altLang="he-IL" sz="3200" b="1" i="1">
                  <a:solidFill>
                    <a:srgbClr val="FFFF00"/>
                  </a:solidFill>
                  <a:latin typeface="Times New Roman" pitchFamily="18" charset="0"/>
                </a:rPr>
                <a:t>Terminate</a:t>
              </a:r>
              <a:endParaRPr lang="en-AU" altLang="he-IL" sz="3200" b="1">
                <a:solidFill>
                  <a:srgbClr val="FFFF00"/>
                </a:solidFill>
                <a:latin typeface="Times New Roman" pitchFamily="18" charset="0"/>
              </a:endParaRPr>
            </a:p>
          </p:txBody>
        </p:sp>
        <p:sp>
          <p:nvSpPr>
            <p:cNvPr id="22542" name="Text Box 15"/>
            <p:cNvSpPr txBox="1">
              <a:spLocks noChangeArrowheads="1"/>
            </p:cNvSpPr>
            <p:nvPr/>
          </p:nvSpPr>
          <p:spPr bwMode="auto">
            <a:xfrm>
              <a:off x="714375" y="1928813"/>
              <a:ext cx="1447800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algn="ctr" rtl="0">
                <a:spcBef>
                  <a:spcPct val="50000"/>
                </a:spcBef>
              </a:pPr>
              <a:r>
                <a:rPr lang="en-AU" altLang="he-IL" sz="3200" b="1" i="1">
                  <a:solidFill>
                    <a:srgbClr val="FFFF00"/>
                  </a:solidFill>
                  <a:latin typeface="Times New Roman" pitchFamily="18" charset="0"/>
                </a:rPr>
                <a:t>Create</a:t>
              </a:r>
              <a:endParaRPr lang="en-AU" altLang="he-IL" sz="2800" b="1" i="1">
                <a:solidFill>
                  <a:srgbClr val="FFFF00"/>
                </a:solidFill>
                <a:latin typeface="Times New Roman" pitchFamily="18" charset="0"/>
              </a:endParaRPr>
            </a:p>
          </p:txBody>
        </p:sp>
        <p:sp>
          <p:nvSpPr>
            <p:cNvPr id="22543" name="Line 16"/>
            <p:cNvSpPr>
              <a:spLocks noChangeShapeType="1"/>
            </p:cNvSpPr>
            <p:nvPr/>
          </p:nvSpPr>
          <p:spPr bwMode="auto">
            <a:xfrm>
              <a:off x="1447800" y="2438400"/>
              <a:ext cx="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4" name="Line 17"/>
            <p:cNvSpPr>
              <a:spLocks noChangeShapeType="1"/>
            </p:cNvSpPr>
            <p:nvPr/>
          </p:nvSpPr>
          <p:spPr bwMode="auto">
            <a:xfrm>
              <a:off x="1447800" y="2819400"/>
              <a:ext cx="1143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5" name="Text Box 18"/>
            <p:cNvSpPr txBox="1">
              <a:spLocks noChangeArrowheads="1"/>
            </p:cNvSpPr>
            <p:nvPr/>
          </p:nvSpPr>
          <p:spPr bwMode="auto">
            <a:xfrm>
              <a:off x="4857750" y="4508500"/>
              <a:ext cx="190817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algn="ctr" rtl="0"/>
              <a:r>
                <a:rPr lang="en-AU" altLang="he-IL" sz="2800" b="1" i="1">
                  <a:latin typeface="Times New Roman" pitchFamily="18" charset="0"/>
                </a:rPr>
                <a:t>SUSPEND</a:t>
              </a:r>
              <a:endParaRPr lang="en-AU" altLang="he-IL" sz="2400">
                <a:latin typeface="Times New Roman" pitchFamily="18" charset="0"/>
              </a:endParaRPr>
            </a:p>
          </p:txBody>
        </p:sp>
        <p:sp>
          <p:nvSpPr>
            <p:cNvPr id="22546" name="Text Box 19"/>
            <p:cNvSpPr txBox="1">
              <a:spLocks noChangeArrowheads="1"/>
            </p:cNvSpPr>
            <p:nvPr/>
          </p:nvSpPr>
          <p:spPr bwMode="auto">
            <a:xfrm>
              <a:off x="1263650" y="3654425"/>
              <a:ext cx="215582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algn="ctr" rtl="0"/>
              <a:r>
                <a:rPr lang="en-AU" altLang="he-IL" sz="2800" b="1" i="1">
                  <a:latin typeface="Times New Roman" pitchFamily="18" charset="0"/>
                </a:rPr>
                <a:t>CONTINUE</a:t>
              </a:r>
              <a:endParaRPr lang="en-AU" altLang="he-IL" sz="2400" b="1" i="1">
                <a:latin typeface="Times New Roman" pitchFamily="18" charset="0"/>
              </a:endParaRPr>
            </a:p>
          </p:txBody>
        </p:sp>
        <p:sp>
          <p:nvSpPr>
            <p:cNvPr id="22547" name="Text Box 20"/>
            <p:cNvSpPr txBox="1">
              <a:spLocks noChangeArrowheads="1"/>
            </p:cNvSpPr>
            <p:nvPr/>
          </p:nvSpPr>
          <p:spPr bwMode="auto">
            <a:xfrm>
              <a:off x="3713163" y="3505200"/>
              <a:ext cx="228917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algn="ctr" rtl="0">
                <a:spcBef>
                  <a:spcPct val="50000"/>
                </a:spcBef>
              </a:pPr>
              <a:r>
                <a:rPr lang="en-AU" altLang="he-IL" sz="2800" b="1" i="1">
                  <a:latin typeface="Times New Roman" pitchFamily="18" charset="0"/>
                </a:rPr>
                <a:t>SCHEDULE</a:t>
              </a:r>
            </a:p>
          </p:txBody>
        </p:sp>
        <p:sp>
          <p:nvSpPr>
            <p:cNvPr id="22548" name="Text Box 21"/>
            <p:cNvSpPr txBox="1">
              <a:spLocks noChangeArrowheads="1"/>
            </p:cNvSpPr>
            <p:nvPr/>
          </p:nvSpPr>
          <p:spPr bwMode="auto">
            <a:xfrm>
              <a:off x="5257800" y="1549400"/>
              <a:ext cx="18796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algn="l" rtl="0"/>
              <a:r>
                <a:rPr lang="en-AU" altLang="he-IL" sz="2800" b="1" i="1">
                  <a:solidFill>
                    <a:srgbClr val="FFFF00"/>
                  </a:solidFill>
                  <a:latin typeface="Times New Roman" pitchFamily="18" charset="0"/>
                </a:rPr>
                <a:t>PREEMPT</a:t>
              </a:r>
            </a:p>
          </p:txBody>
        </p:sp>
        <p:sp>
          <p:nvSpPr>
            <p:cNvPr id="22549" name="Freeform 22"/>
            <p:cNvSpPr>
              <a:spLocks/>
            </p:cNvSpPr>
            <p:nvPr/>
          </p:nvSpPr>
          <p:spPr bwMode="auto">
            <a:xfrm>
              <a:off x="4629150" y="2079625"/>
              <a:ext cx="2085975" cy="920750"/>
            </a:xfrm>
            <a:custGeom>
              <a:avLst/>
              <a:gdLst>
                <a:gd name="T0" fmla="*/ 0 w 1320"/>
                <a:gd name="T1" fmla="*/ 2147483647 h 550"/>
                <a:gd name="T2" fmla="*/ 2147483647 w 1320"/>
                <a:gd name="T3" fmla="*/ 2147483647 h 550"/>
                <a:gd name="T4" fmla="*/ 2147483647 w 1320"/>
                <a:gd name="T5" fmla="*/ 2147483647 h 550"/>
                <a:gd name="T6" fmla="*/ 0 60000 65536"/>
                <a:gd name="T7" fmla="*/ 0 60000 65536"/>
                <a:gd name="T8" fmla="*/ 0 60000 65536"/>
                <a:gd name="T9" fmla="*/ 0 w 1320"/>
                <a:gd name="T10" fmla="*/ 0 h 550"/>
                <a:gd name="T11" fmla="*/ 1320 w 1320"/>
                <a:gd name="T12" fmla="*/ 550 h 5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20" h="550">
                  <a:moveTo>
                    <a:pt x="0" y="346"/>
                  </a:moveTo>
                  <a:cubicBezTo>
                    <a:pt x="120" y="294"/>
                    <a:pt x="488" y="0"/>
                    <a:pt x="708" y="34"/>
                  </a:cubicBezTo>
                  <a:cubicBezTo>
                    <a:pt x="928" y="68"/>
                    <a:pt x="1192" y="442"/>
                    <a:pt x="1320" y="55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019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OS Chapter 2 - Processes</a:t>
            </a:r>
            <a:endParaRPr lang="en-US"/>
          </a:p>
        </p:txBody>
      </p:sp>
      <p:sp>
        <p:nvSpPr>
          <p:cNvPr id="91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he-IL" b="1" dirty="0">
                <a:solidFill>
                  <a:srgbClr val="FFFF00"/>
                </a:solidFill>
              </a:rPr>
              <a:t>מצבי </a:t>
            </a:r>
            <a:r>
              <a:rPr lang="he-IL" b="1" dirty="0" smtClean="0">
                <a:solidFill>
                  <a:srgbClr val="FFFF00"/>
                </a:solidFill>
              </a:rPr>
              <a:t>התהליך – סכמה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912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84784"/>
            <a:ext cx="8435280" cy="468741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he-IL" dirty="0" smtClean="0"/>
              <a:t>כל תהליך נמצא באחד המצבים הבאים:</a:t>
            </a:r>
          </a:p>
          <a:p>
            <a:pPr lvl="1">
              <a:lnSpc>
                <a:spcPct val="90000"/>
              </a:lnSpc>
            </a:pPr>
            <a:r>
              <a:rPr lang="he-IL" dirty="0" smtClean="0"/>
              <a:t>מוכן (</a:t>
            </a:r>
            <a:r>
              <a:rPr lang="en-US" dirty="0" smtClean="0"/>
              <a:t>ready</a:t>
            </a:r>
            <a:r>
              <a:rPr lang="he-IL" dirty="0" smtClean="0"/>
              <a:t>)</a:t>
            </a:r>
          </a:p>
          <a:p>
            <a:pPr lvl="1">
              <a:lnSpc>
                <a:spcPct val="90000"/>
              </a:lnSpc>
            </a:pPr>
            <a:r>
              <a:rPr lang="he-IL" dirty="0" smtClean="0"/>
              <a:t>רץ (</a:t>
            </a:r>
            <a:r>
              <a:rPr lang="en-US" dirty="0" smtClean="0"/>
              <a:t>running</a:t>
            </a:r>
            <a:r>
              <a:rPr lang="he-IL" dirty="0" smtClean="0"/>
              <a:t>)</a:t>
            </a:r>
          </a:p>
          <a:p>
            <a:pPr lvl="1">
              <a:lnSpc>
                <a:spcPct val="90000"/>
              </a:lnSpc>
            </a:pPr>
            <a:r>
              <a:rPr lang="he-IL" dirty="0" smtClean="0"/>
              <a:t>מחכה (</a:t>
            </a:r>
            <a:r>
              <a:rPr lang="en-US" dirty="0" smtClean="0"/>
              <a:t>waiting</a:t>
            </a:r>
            <a:r>
              <a:rPr lang="he-IL" dirty="0" smtClean="0"/>
              <a:t>)</a:t>
            </a:r>
            <a:r>
              <a:rPr lang="en-US" dirty="0" smtClean="0"/>
              <a:t> 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dirty="0" smtClean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dirty="0" smtClean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dirty="0" smtClean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dirty="0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he-IL" dirty="0" smtClean="0"/>
          </a:p>
          <a:p>
            <a:pPr marL="0" indent="0">
              <a:lnSpc>
                <a:spcPct val="90000"/>
              </a:lnSpc>
              <a:buNone/>
            </a:pPr>
            <a:endParaRPr lang="he-IL" dirty="0" smtClean="0"/>
          </a:p>
          <a:p>
            <a:pPr>
              <a:lnSpc>
                <a:spcPct val="90000"/>
              </a:lnSpc>
            </a:pPr>
            <a:r>
              <a:rPr lang="he-IL" dirty="0" smtClean="0"/>
              <a:t>מתי מזמנים / מפנים תהליכים?</a:t>
            </a:r>
            <a:endParaRPr lang="en-US" dirty="0" smtClean="0"/>
          </a:p>
        </p:txBody>
      </p:sp>
      <p:sp>
        <p:nvSpPr>
          <p:cNvPr id="912388" name="Line 4"/>
          <p:cNvSpPr>
            <a:spLocks noChangeShapeType="1"/>
          </p:cNvSpPr>
          <p:nvPr/>
        </p:nvSpPr>
        <p:spPr bwMode="auto">
          <a:xfrm flipV="1">
            <a:off x="3989388" y="4292600"/>
            <a:ext cx="1878012" cy="554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2389" name="Line 5"/>
          <p:cNvSpPr>
            <a:spLocks noChangeShapeType="1"/>
          </p:cNvSpPr>
          <p:nvPr/>
        </p:nvSpPr>
        <p:spPr bwMode="auto">
          <a:xfrm flipH="1" flipV="1">
            <a:off x="4065588" y="3017838"/>
            <a:ext cx="16764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2390" name="Freeform 6"/>
          <p:cNvSpPr>
            <a:spLocks/>
          </p:cNvSpPr>
          <p:nvPr/>
        </p:nvSpPr>
        <p:spPr bwMode="auto">
          <a:xfrm>
            <a:off x="3589536" y="3357563"/>
            <a:ext cx="406400" cy="1150937"/>
          </a:xfrm>
          <a:custGeom>
            <a:avLst/>
            <a:gdLst>
              <a:gd name="T0" fmla="*/ 0 w 256"/>
              <a:gd name="T1" fmla="*/ 0 h 672"/>
              <a:gd name="T2" fmla="*/ 381000 w 256"/>
              <a:gd name="T3" fmla="*/ 657678 h 672"/>
              <a:gd name="T4" fmla="*/ 152400 w 256"/>
              <a:gd name="T5" fmla="*/ 1150937 h 67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6" h="672">
                <a:moveTo>
                  <a:pt x="0" y="0"/>
                </a:moveTo>
                <a:cubicBezTo>
                  <a:pt x="112" y="136"/>
                  <a:pt x="224" y="272"/>
                  <a:pt x="240" y="384"/>
                </a:cubicBezTo>
                <a:cubicBezTo>
                  <a:pt x="256" y="496"/>
                  <a:pt x="176" y="584"/>
                  <a:pt x="96" y="67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EB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2391" name="Freeform 7"/>
          <p:cNvSpPr>
            <a:spLocks/>
          </p:cNvSpPr>
          <p:nvPr/>
        </p:nvSpPr>
        <p:spPr bwMode="auto">
          <a:xfrm rot="10800000">
            <a:off x="2699793" y="3357563"/>
            <a:ext cx="406400" cy="1184275"/>
          </a:xfrm>
          <a:custGeom>
            <a:avLst/>
            <a:gdLst>
              <a:gd name="T0" fmla="*/ 0 w 256"/>
              <a:gd name="T1" fmla="*/ 0 h 672"/>
              <a:gd name="T2" fmla="*/ 381000 w 256"/>
              <a:gd name="T3" fmla="*/ 676729 h 672"/>
              <a:gd name="T4" fmla="*/ 152400 w 256"/>
              <a:gd name="T5" fmla="*/ 1184275 h 67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6" h="672">
                <a:moveTo>
                  <a:pt x="0" y="0"/>
                </a:moveTo>
                <a:cubicBezTo>
                  <a:pt x="112" y="136"/>
                  <a:pt x="224" y="272"/>
                  <a:pt x="240" y="384"/>
                </a:cubicBezTo>
                <a:cubicBezTo>
                  <a:pt x="256" y="496"/>
                  <a:pt x="176" y="584"/>
                  <a:pt x="96" y="67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EB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2392" name="Line 8"/>
          <p:cNvSpPr>
            <a:spLocks noChangeShapeType="1"/>
          </p:cNvSpPr>
          <p:nvPr/>
        </p:nvSpPr>
        <p:spPr bwMode="auto">
          <a:xfrm flipV="1">
            <a:off x="1246188" y="3017838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2393" name="Line 9"/>
          <p:cNvSpPr>
            <a:spLocks noChangeShapeType="1"/>
          </p:cNvSpPr>
          <p:nvPr/>
        </p:nvSpPr>
        <p:spPr bwMode="auto">
          <a:xfrm flipH="1">
            <a:off x="1852613" y="4846638"/>
            <a:ext cx="841375" cy="22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2394" name="Oval 10"/>
          <p:cNvSpPr>
            <a:spLocks noChangeArrowheads="1"/>
          </p:cNvSpPr>
          <p:nvPr/>
        </p:nvSpPr>
        <p:spPr bwMode="auto">
          <a:xfrm>
            <a:off x="623888" y="2713038"/>
            <a:ext cx="838200" cy="6096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eaLnBrk="0" hangingPunct="0">
              <a:spcBef>
                <a:spcPct val="10000"/>
              </a:spcBef>
            </a:pPr>
            <a:r>
              <a:rPr lang="en-US" b="1" dirty="0">
                <a:solidFill>
                  <a:schemeClr val="bg1"/>
                </a:solidFill>
                <a:latin typeface="Arial" charset="0"/>
              </a:rPr>
              <a:t>New</a:t>
            </a:r>
          </a:p>
        </p:txBody>
      </p:sp>
      <p:sp>
        <p:nvSpPr>
          <p:cNvPr id="912395" name="Oval 11"/>
          <p:cNvSpPr>
            <a:spLocks noChangeArrowheads="1"/>
          </p:cNvSpPr>
          <p:nvPr/>
        </p:nvSpPr>
        <p:spPr bwMode="auto">
          <a:xfrm>
            <a:off x="251520" y="4541838"/>
            <a:ext cx="1591568" cy="6096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 eaLnBrk="0" hangingPunct="0">
              <a:spcBef>
                <a:spcPct val="10000"/>
              </a:spcBef>
            </a:pPr>
            <a:r>
              <a:rPr lang="en-US" b="1" dirty="0">
                <a:solidFill>
                  <a:schemeClr val="bg1"/>
                </a:solidFill>
                <a:latin typeface="Arial" charset="0"/>
              </a:rPr>
              <a:t>Terminated</a:t>
            </a:r>
          </a:p>
        </p:txBody>
      </p:sp>
      <p:sp>
        <p:nvSpPr>
          <p:cNvPr id="912396" name="Oval 12"/>
          <p:cNvSpPr>
            <a:spLocks noChangeArrowheads="1"/>
          </p:cNvSpPr>
          <p:nvPr/>
        </p:nvSpPr>
        <p:spPr bwMode="auto">
          <a:xfrm>
            <a:off x="2693988" y="2713038"/>
            <a:ext cx="1295400" cy="6096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 eaLnBrk="0" hangingPunct="0">
              <a:spcBef>
                <a:spcPct val="10000"/>
              </a:spcBef>
            </a:pPr>
            <a:r>
              <a:rPr lang="en-US" b="1" dirty="0">
                <a:solidFill>
                  <a:schemeClr val="bg1"/>
                </a:solidFill>
                <a:latin typeface="Arial" charset="0"/>
              </a:rPr>
              <a:t>Ready</a:t>
            </a:r>
          </a:p>
        </p:txBody>
      </p:sp>
      <p:sp>
        <p:nvSpPr>
          <p:cNvPr id="912397" name="Oval 13"/>
          <p:cNvSpPr>
            <a:spLocks noChangeArrowheads="1"/>
          </p:cNvSpPr>
          <p:nvPr/>
        </p:nvSpPr>
        <p:spPr bwMode="auto">
          <a:xfrm>
            <a:off x="2693988" y="4541838"/>
            <a:ext cx="1295400" cy="6096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 eaLnBrk="0" hangingPunct="0">
              <a:spcBef>
                <a:spcPct val="10000"/>
              </a:spcBef>
            </a:pPr>
            <a:r>
              <a:rPr lang="en-US" b="1" dirty="0">
                <a:solidFill>
                  <a:schemeClr val="bg1"/>
                </a:solidFill>
                <a:latin typeface="Arial" charset="0"/>
              </a:rPr>
              <a:t>Running</a:t>
            </a:r>
          </a:p>
        </p:txBody>
      </p:sp>
      <p:sp>
        <p:nvSpPr>
          <p:cNvPr id="912398" name="Oval 14"/>
          <p:cNvSpPr>
            <a:spLocks noChangeArrowheads="1"/>
          </p:cNvSpPr>
          <p:nvPr/>
        </p:nvSpPr>
        <p:spPr bwMode="auto">
          <a:xfrm>
            <a:off x="5589588" y="3703638"/>
            <a:ext cx="1295400" cy="6096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 eaLnBrk="0" hangingPunct="0">
              <a:spcBef>
                <a:spcPct val="10000"/>
              </a:spcBef>
            </a:pPr>
            <a:r>
              <a:rPr lang="en-US" b="1">
                <a:solidFill>
                  <a:schemeClr val="bg1"/>
                </a:solidFill>
                <a:latin typeface="Arial" charset="0"/>
              </a:rPr>
              <a:t>Waiting</a:t>
            </a:r>
          </a:p>
        </p:txBody>
      </p:sp>
      <p:sp>
        <p:nvSpPr>
          <p:cNvPr id="912399" name="Rectangle 15"/>
          <p:cNvSpPr>
            <a:spLocks noChangeArrowheads="1"/>
          </p:cNvSpPr>
          <p:nvPr/>
        </p:nvSpPr>
        <p:spPr bwMode="auto">
          <a:xfrm>
            <a:off x="1475656" y="2636838"/>
            <a:ext cx="819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EB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10000"/>
              </a:spcBef>
            </a:pPr>
            <a:r>
              <a:rPr lang="en-US" dirty="0">
                <a:solidFill>
                  <a:schemeClr val="tx2"/>
                </a:solidFill>
                <a:latin typeface="Arial" charset="0"/>
              </a:rPr>
              <a:t>create</a:t>
            </a:r>
          </a:p>
        </p:txBody>
      </p:sp>
      <p:sp>
        <p:nvSpPr>
          <p:cNvPr id="912400" name="Rectangle 16"/>
          <p:cNvSpPr>
            <a:spLocks noChangeArrowheads="1"/>
          </p:cNvSpPr>
          <p:nvPr/>
        </p:nvSpPr>
        <p:spPr bwMode="auto">
          <a:xfrm>
            <a:off x="1907704" y="4479925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EB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10000"/>
              </a:spcBef>
            </a:pPr>
            <a:r>
              <a:rPr lang="en-US" dirty="0">
                <a:solidFill>
                  <a:schemeClr val="tx2"/>
                </a:solidFill>
                <a:latin typeface="Arial" charset="0"/>
              </a:rPr>
              <a:t>kill</a:t>
            </a:r>
          </a:p>
        </p:txBody>
      </p:sp>
      <p:sp>
        <p:nvSpPr>
          <p:cNvPr id="912401" name="Rectangle 17"/>
          <p:cNvSpPr>
            <a:spLocks noChangeArrowheads="1"/>
          </p:cNvSpPr>
          <p:nvPr/>
        </p:nvSpPr>
        <p:spPr bwMode="auto">
          <a:xfrm>
            <a:off x="4147547" y="4581128"/>
            <a:ext cx="1864613" cy="674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EB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spcBef>
                <a:spcPct val="10000"/>
              </a:spcBef>
            </a:pPr>
            <a:r>
              <a:rPr lang="en-US" b="1" dirty="0">
                <a:solidFill>
                  <a:schemeClr val="tx2"/>
                </a:solidFill>
                <a:latin typeface="Arial" charset="0"/>
              </a:rPr>
              <a:t>I/O,</a:t>
            </a:r>
          </a:p>
          <a:p>
            <a:pPr algn="ctr" eaLnBrk="0" hangingPunct="0">
              <a:spcBef>
                <a:spcPct val="10000"/>
              </a:spcBef>
            </a:pPr>
            <a:r>
              <a:rPr lang="en-US" b="1" dirty="0">
                <a:solidFill>
                  <a:schemeClr val="tx2"/>
                </a:solidFill>
                <a:latin typeface="Arial" charset="0"/>
              </a:rPr>
              <a:t> page fault, etc.</a:t>
            </a:r>
          </a:p>
        </p:txBody>
      </p:sp>
      <p:sp>
        <p:nvSpPr>
          <p:cNvPr id="912402" name="Rectangle 18"/>
          <p:cNvSpPr>
            <a:spLocks noChangeArrowheads="1"/>
          </p:cNvSpPr>
          <p:nvPr/>
        </p:nvSpPr>
        <p:spPr bwMode="auto">
          <a:xfrm>
            <a:off x="4456043" y="2636912"/>
            <a:ext cx="736099" cy="674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EB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10000"/>
              </a:spcBef>
            </a:pPr>
            <a:r>
              <a:rPr lang="en-US" b="1" dirty="0">
                <a:solidFill>
                  <a:schemeClr val="tx2"/>
                </a:solidFill>
                <a:latin typeface="Arial" charset="0"/>
              </a:rPr>
              <a:t>I/O</a:t>
            </a:r>
          </a:p>
          <a:p>
            <a:pPr eaLnBrk="0" hangingPunct="0">
              <a:spcBef>
                <a:spcPct val="10000"/>
              </a:spcBef>
            </a:pPr>
            <a:r>
              <a:rPr lang="en-US" b="1" dirty="0">
                <a:solidFill>
                  <a:schemeClr val="tx2"/>
                </a:solidFill>
                <a:latin typeface="Arial" charset="0"/>
              </a:rPr>
              <a:t>done</a:t>
            </a:r>
          </a:p>
        </p:txBody>
      </p:sp>
      <p:sp>
        <p:nvSpPr>
          <p:cNvPr id="912403" name="Rectangle 19"/>
          <p:cNvSpPr>
            <a:spLocks noChangeArrowheads="1"/>
          </p:cNvSpPr>
          <p:nvPr/>
        </p:nvSpPr>
        <p:spPr bwMode="auto">
          <a:xfrm>
            <a:off x="2757418" y="3856038"/>
            <a:ext cx="11849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EB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10000"/>
              </a:spcBef>
            </a:pPr>
            <a:r>
              <a:rPr lang="en-US" b="1" dirty="0">
                <a:solidFill>
                  <a:schemeClr val="tx2"/>
                </a:solidFill>
                <a:latin typeface="Arial" charset="0"/>
              </a:rPr>
              <a:t>schedule</a:t>
            </a:r>
          </a:p>
        </p:txBody>
      </p:sp>
      <p:sp>
        <p:nvSpPr>
          <p:cNvPr id="912404" name="Rectangle 20"/>
          <p:cNvSpPr>
            <a:spLocks noChangeArrowheads="1"/>
          </p:cNvSpPr>
          <p:nvPr/>
        </p:nvSpPr>
        <p:spPr bwMode="auto">
          <a:xfrm>
            <a:off x="1403648" y="3716338"/>
            <a:ext cx="1022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EB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10000"/>
              </a:spcBef>
            </a:pPr>
            <a:r>
              <a:rPr lang="en-US" dirty="0">
                <a:solidFill>
                  <a:schemeClr val="tx2"/>
                </a:solidFill>
                <a:latin typeface="Arial" charset="0"/>
              </a:rPr>
              <a:t>preempt</a:t>
            </a:r>
          </a:p>
        </p:txBody>
      </p:sp>
      <p:grpSp>
        <p:nvGrpSpPr>
          <p:cNvPr id="912405" name="Group 21"/>
          <p:cNvGrpSpPr>
            <a:grpSpLocks/>
          </p:cNvGrpSpPr>
          <p:nvPr/>
        </p:nvGrpSpPr>
        <p:grpSpPr bwMode="auto">
          <a:xfrm>
            <a:off x="2358555" y="2060575"/>
            <a:ext cx="1925414" cy="3311525"/>
            <a:chOff x="1610" y="1298"/>
            <a:chExt cx="998" cy="2086"/>
          </a:xfrm>
        </p:grpSpPr>
        <p:sp>
          <p:nvSpPr>
            <p:cNvPr id="42012" name="Rectangle 22"/>
            <p:cNvSpPr>
              <a:spLocks noChangeArrowheads="1"/>
            </p:cNvSpPr>
            <p:nvPr/>
          </p:nvSpPr>
          <p:spPr bwMode="auto">
            <a:xfrm>
              <a:off x="1610" y="1570"/>
              <a:ext cx="998" cy="1814"/>
            </a:xfrm>
            <a:prstGeom prst="rect">
              <a:avLst/>
            </a:prstGeom>
            <a:noFill/>
            <a:ln w="38100" algn="ctr">
              <a:solidFill>
                <a:srgbClr val="FFFF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10196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he-IL"/>
            </a:p>
          </p:txBody>
        </p:sp>
        <p:sp>
          <p:nvSpPr>
            <p:cNvPr id="42013" name="Text Box 23"/>
            <p:cNvSpPr txBox="1">
              <a:spLocks noChangeArrowheads="1"/>
            </p:cNvSpPr>
            <p:nvPr/>
          </p:nvSpPr>
          <p:spPr bwMode="auto">
            <a:xfrm>
              <a:off x="1762" y="1298"/>
              <a:ext cx="649" cy="233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10196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he-IL" b="1" dirty="0">
                  <a:solidFill>
                    <a:srgbClr val="FFFF00"/>
                  </a:solidFill>
                </a:rPr>
                <a:t>טווח קצר</a:t>
              </a:r>
              <a:endParaRPr lang="en-US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912408" name="Group 24"/>
          <p:cNvGrpSpPr>
            <a:grpSpLocks/>
          </p:cNvGrpSpPr>
          <p:nvPr/>
        </p:nvGrpSpPr>
        <p:grpSpPr bwMode="auto">
          <a:xfrm>
            <a:off x="5435600" y="3357563"/>
            <a:ext cx="3091908" cy="1368425"/>
            <a:chOff x="3424" y="2115"/>
            <a:chExt cx="1728" cy="862"/>
          </a:xfrm>
        </p:grpSpPr>
        <p:sp>
          <p:nvSpPr>
            <p:cNvPr id="42010" name="Rectangle 25"/>
            <p:cNvSpPr>
              <a:spLocks noChangeArrowheads="1"/>
            </p:cNvSpPr>
            <p:nvPr/>
          </p:nvSpPr>
          <p:spPr bwMode="auto">
            <a:xfrm>
              <a:off x="3424" y="2115"/>
              <a:ext cx="998" cy="862"/>
            </a:xfrm>
            <a:prstGeom prst="rect">
              <a:avLst/>
            </a:prstGeom>
            <a:noFill/>
            <a:ln w="38100" algn="ctr">
              <a:solidFill>
                <a:srgbClr val="FFFF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10196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he-IL"/>
            </a:p>
          </p:txBody>
        </p:sp>
        <p:sp>
          <p:nvSpPr>
            <p:cNvPr id="42011" name="Text Box 26"/>
            <p:cNvSpPr txBox="1">
              <a:spLocks noChangeArrowheads="1"/>
            </p:cNvSpPr>
            <p:nvPr/>
          </p:nvSpPr>
          <p:spPr bwMode="auto">
            <a:xfrm>
              <a:off x="4467" y="2251"/>
              <a:ext cx="68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10196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he-IL" b="1" dirty="0">
                  <a:solidFill>
                    <a:srgbClr val="FFFF00"/>
                  </a:solidFill>
                </a:rPr>
                <a:t>טווח בינוני/</a:t>
              </a:r>
            </a:p>
            <a:p>
              <a:pPr algn="ctr" eaLnBrk="1" hangingPunct="1"/>
              <a:r>
                <a:rPr lang="he-IL" b="1" dirty="0">
                  <a:solidFill>
                    <a:srgbClr val="FFFF00"/>
                  </a:solidFill>
                </a:rPr>
                <a:t>ארוך</a:t>
              </a:r>
              <a:endParaRPr lang="en-US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 Shayke Bilu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83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1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1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1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1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1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1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1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12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91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91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912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91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2388" grpId="0" animBg="1"/>
      <p:bldP spid="912389" grpId="0" animBg="1"/>
      <p:bldP spid="912390" grpId="0" animBg="1"/>
      <p:bldP spid="912391" grpId="0" animBg="1"/>
      <p:bldP spid="912392" grpId="0" animBg="1"/>
      <p:bldP spid="912393" grpId="0" animBg="1"/>
      <p:bldP spid="912394" grpId="0" animBg="1"/>
      <p:bldP spid="912395" grpId="0" animBg="1"/>
      <p:bldP spid="912396" grpId="0" animBg="1"/>
      <p:bldP spid="912397" grpId="0" animBg="1"/>
      <p:bldP spid="912398" grpId="0" animBg="1"/>
      <p:bldP spid="912399" grpId="0"/>
      <p:bldP spid="912400" grpId="0"/>
      <p:bldP spid="912401" grpId="0"/>
      <p:bldP spid="912402" grpId="0"/>
      <p:bldP spid="912403" grpId="0"/>
      <p:bldP spid="91240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Carnival">
      <a:dk1>
        <a:sysClr val="windowText" lastClr="000000"/>
      </a:dk1>
      <a:lt1>
        <a:sysClr val="window" lastClr="FFFFFF"/>
      </a:lt1>
      <a:dk2>
        <a:srgbClr val="2A2D6C"/>
      </a:dk2>
      <a:lt2>
        <a:srgbClr val="FCED90"/>
      </a:lt2>
      <a:accent1>
        <a:srgbClr val="E0B602"/>
      </a:accent1>
      <a:accent2>
        <a:srgbClr val="C77D00"/>
      </a:accent2>
      <a:accent3>
        <a:srgbClr val="C43D1F"/>
      </a:accent3>
      <a:accent4>
        <a:srgbClr val="B42469"/>
      </a:accent4>
      <a:accent5>
        <a:srgbClr val="7B309B"/>
      </a:accent5>
      <a:accent6>
        <a:srgbClr val="4560AD"/>
      </a:accent6>
      <a:hlink>
        <a:srgbClr val="118FBF"/>
      </a:hlink>
      <a:folHlink>
        <a:srgbClr val="0CA15F"/>
      </a:folHlink>
    </a:clrScheme>
    <a:fontScheme name="Office קלאסי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8700</TotalTime>
  <Words>1227</Words>
  <Application>Microsoft Office PowerPoint</Application>
  <PresentationFormat>‫הצגה על המסך (4:3)</PresentationFormat>
  <Paragraphs>298</Paragraphs>
  <Slides>28</Slides>
  <Notes>12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28</vt:i4>
      </vt:variant>
    </vt:vector>
  </HeadingPairs>
  <TitlesOfParts>
    <vt:vector size="35" baseType="lpstr">
      <vt:lpstr>Arial</vt:lpstr>
      <vt:lpstr>Rockwell</vt:lpstr>
      <vt:lpstr>Times New Roman</vt:lpstr>
      <vt:lpstr>Verdana</vt:lpstr>
      <vt:lpstr>Wingdings</vt:lpstr>
      <vt:lpstr>Wingdings 2</vt:lpstr>
      <vt:lpstr>Foundry</vt:lpstr>
      <vt:lpstr>תהליכים Processes</vt:lpstr>
      <vt:lpstr>תהליכים</vt:lpstr>
      <vt:lpstr>תהליכים</vt:lpstr>
      <vt:lpstr>מהו תהליך?</vt:lpstr>
      <vt:lpstr>תהליך   </vt:lpstr>
      <vt:lpstr> מה מאפיין תהליך? </vt:lpstr>
      <vt:lpstr>מצגת של PowerPoint</vt:lpstr>
      <vt:lpstr>מהו תהליכון (Thread)?</vt:lpstr>
      <vt:lpstr>מצגת של PowerPoint</vt:lpstr>
      <vt:lpstr>מרחב הכתובות של התהליך</vt:lpstr>
      <vt:lpstr>טיפול וביצוע סדרת של תוכניות במעבד </vt:lpstr>
      <vt:lpstr>ביצוע בו זמני </vt:lpstr>
      <vt:lpstr>הערות</vt:lpstr>
      <vt:lpstr>כיצד ניישם בו זמניות?</vt:lpstr>
      <vt:lpstr>קובץ בקרת תהליכים</vt:lpstr>
      <vt:lpstr>מיתוג תהליכים</vt:lpstr>
      <vt:lpstr>טבלת תהליכי מערכת</vt:lpstr>
      <vt:lpstr>ניהול קוד משותף</vt:lpstr>
      <vt:lpstr>מצב המעבד וה- PCB Process Control Block</vt:lpstr>
      <vt:lpstr>מצב המעבד וה- PCB Process Control Block</vt:lpstr>
      <vt:lpstr>מצבי תהליכים</vt:lpstr>
      <vt:lpstr>מצבי תהליכים</vt:lpstr>
      <vt:lpstr>מצבי תהליכים</vt:lpstr>
      <vt:lpstr>מצבי תהליכים</vt:lpstr>
      <vt:lpstr>מצבי תהליכים</vt:lpstr>
      <vt:lpstr>יצירת תהליכים חדשים </vt:lpstr>
      <vt:lpstr>מצבי תהליכים</vt:lpstr>
      <vt:lpstr>מצבי התהליך – סכמה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OS2</dc:title>
  <dc:creator>Shayke Bilu</dc:creator>
  <cp:lastModifiedBy>Windows User</cp:lastModifiedBy>
  <cp:revision>220</cp:revision>
  <cp:lastPrinted>2018-11-01T16:22:58Z</cp:lastPrinted>
  <dcterms:created xsi:type="dcterms:W3CDTF">1998-02-10T14:37:26Z</dcterms:created>
  <dcterms:modified xsi:type="dcterms:W3CDTF">2018-11-04T18:37:41Z</dcterms:modified>
</cp:coreProperties>
</file>